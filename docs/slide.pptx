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Pattanakarn SemiExpanded Light" charset="1" panose="00000000000000000000"/>
      <p:regular r:id="rId39"/>
    </p:embeddedFont>
    <p:embeddedFont>
      <p:font typeface="Pattanakarn SemiExpanded Medium" charset="1" panose="00000000000000000000"/>
      <p:regular r:id="rId40"/>
    </p:embeddedFont>
    <p:embeddedFont>
      <p:font typeface="Proxima Nova" charset="1" panose="02000506030000020004"/>
      <p:regular r:id="rId41"/>
    </p:embeddedFont>
    <p:embeddedFont>
      <p:font typeface="Proxima Nova Light" charset="1" panose="02000506030000020004"/>
      <p:regular r:id="rId42"/>
    </p:embeddedFont>
    <p:embeddedFont>
      <p:font typeface="Proxima Nova Bold Italics" charset="1" panose="02000506030000020004"/>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7.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8.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2.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5.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27.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8.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3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6.png" Type="http://schemas.openxmlformats.org/officeDocument/2006/relationships/image"/><Relationship Id="rId4" Target="../media/image7.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1.png" Type="http://schemas.openxmlformats.org/officeDocument/2006/relationships/image"/><Relationship Id="rId4" Target="../media/image7.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2.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43.png" Type="http://schemas.openxmlformats.org/officeDocument/2006/relationships/image"/><Relationship Id="rId6" Target="../media/image7.pn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4488703">
            <a:off x="2125248" y="-4367057"/>
            <a:ext cx="9579059" cy="8229600"/>
          </a:xfrm>
          <a:custGeom>
            <a:avLst/>
            <a:gdLst/>
            <a:ahLst/>
            <a:cxnLst/>
            <a:rect r="r" b="b" t="t" l="l"/>
            <a:pathLst>
              <a:path h="8229600" w="9579059">
                <a:moveTo>
                  <a:pt x="0" y="0"/>
                </a:moveTo>
                <a:lnTo>
                  <a:pt x="9579059" y="0"/>
                </a:lnTo>
                <a:lnTo>
                  <a:pt x="9579059" y="8229600"/>
                </a:lnTo>
                <a:lnTo>
                  <a:pt x="0" y="8229600"/>
                </a:lnTo>
                <a:lnTo>
                  <a:pt x="0" y="0"/>
                </a:lnTo>
                <a:close/>
              </a:path>
            </a:pathLst>
          </a:custGeom>
          <a:blipFill>
            <a:blip r:embed="rId3"/>
            <a:stretch>
              <a:fillRect l="0" t="0" r="0" b="0"/>
            </a:stretch>
          </a:blipFill>
        </p:spPr>
      </p:sp>
      <p:grpSp>
        <p:nvGrpSpPr>
          <p:cNvPr name="Group 4" id="4"/>
          <p:cNvGrpSpPr/>
          <p:nvPr/>
        </p:nvGrpSpPr>
        <p:grpSpPr>
          <a:xfrm rot="0">
            <a:off x="14173200" y="0"/>
            <a:ext cx="4114800" cy="10287000"/>
            <a:chOff x="0" y="0"/>
            <a:chExt cx="1083733" cy="2709333"/>
          </a:xfrm>
        </p:grpSpPr>
        <p:sp>
          <p:nvSpPr>
            <p:cNvPr name="Freeform 5" id="5"/>
            <p:cNvSpPr/>
            <p:nvPr/>
          </p:nvSpPr>
          <p:spPr>
            <a:xfrm flipH="false" flipV="false" rot="0">
              <a:off x="0" y="0"/>
              <a:ext cx="1083733" cy="2709333"/>
            </a:xfrm>
            <a:custGeom>
              <a:avLst/>
              <a:gdLst/>
              <a:ahLst/>
              <a:cxnLst/>
              <a:rect r="r" b="b" t="t" l="l"/>
              <a:pathLst>
                <a:path h="2709333" w="1083733">
                  <a:moveTo>
                    <a:pt x="0" y="0"/>
                  </a:moveTo>
                  <a:lnTo>
                    <a:pt x="1083733" y="0"/>
                  </a:lnTo>
                  <a:lnTo>
                    <a:pt x="1083733" y="2709333"/>
                  </a:lnTo>
                  <a:lnTo>
                    <a:pt x="0" y="2709333"/>
                  </a:lnTo>
                  <a:close/>
                </a:path>
              </a:pathLst>
            </a:custGeom>
            <a:solidFill>
              <a:srgbClr val="141414"/>
            </a:solidFill>
          </p:spPr>
        </p:sp>
        <p:sp>
          <p:nvSpPr>
            <p:cNvPr name="TextBox 6" id="6"/>
            <p:cNvSpPr txBox="true"/>
            <p:nvPr/>
          </p:nvSpPr>
          <p:spPr>
            <a:xfrm>
              <a:off x="0" y="-38100"/>
              <a:ext cx="1083733" cy="2747433"/>
            </a:xfrm>
            <a:prstGeom prst="rect">
              <a:avLst/>
            </a:prstGeom>
          </p:spPr>
          <p:txBody>
            <a:bodyPr anchor="ctr" rtlCol="false" tIns="50800" lIns="50800" bIns="50800" rIns="50800"/>
            <a:lstStyle/>
            <a:p>
              <a:pPr algn="ctr" marL="0" indent="0" lvl="0">
                <a:lnSpc>
                  <a:spcPts val="3359"/>
                </a:lnSpc>
              </a:pPr>
            </a:p>
          </p:txBody>
        </p:sp>
      </p:grpSp>
      <p:sp>
        <p:nvSpPr>
          <p:cNvPr name="Freeform 7" id="7"/>
          <p:cNvSpPr/>
          <p:nvPr/>
        </p:nvSpPr>
        <p:spPr>
          <a:xfrm flipH="false" flipV="true" rot="0">
            <a:off x="11227603" y="3360703"/>
            <a:ext cx="10548518" cy="8229600"/>
          </a:xfrm>
          <a:custGeom>
            <a:avLst/>
            <a:gdLst/>
            <a:ahLst/>
            <a:cxnLst/>
            <a:rect r="r" b="b" t="t" l="l"/>
            <a:pathLst>
              <a:path h="8229600" w="10548518">
                <a:moveTo>
                  <a:pt x="0" y="8229600"/>
                </a:moveTo>
                <a:lnTo>
                  <a:pt x="10548518" y="8229600"/>
                </a:lnTo>
                <a:lnTo>
                  <a:pt x="10548518" y="0"/>
                </a:lnTo>
                <a:lnTo>
                  <a:pt x="0" y="0"/>
                </a:lnTo>
                <a:lnTo>
                  <a:pt x="0" y="8229600"/>
                </a:lnTo>
                <a:close/>
              </a:path>
            </a:pathLst>
          </a:custGeom>
          <a:blipFill>
            <a:blip r:embed="rId4"/>
            <a:stretch>
              <a:fillRect l="0" t="0" r="0" b="0"/>
            </a:stretch>
          </a:blipFill>
        </p:spPr>
      </p:sp>
      <p:grpSp>
        <p:nvGrpSpPr>
          <p:cNvPr name="Group 8" id="8"/>
          <p:cNvGrpSpPr/>
          <p:nvPr/>
        </p:nvGrpSpPr>
        <p:grpSpPr>
          <a:xfrm rot="0">
            <a:off x="1028700" y="7349217"/>
            <a:ext cx="169995" cy="1259681"/>
            <a:chOff x="0" y="0"/>
            <a:chExt cx="44772" cy="331768"/>
          </a:xfrm>
        </p:grpSpPr>
        <p:sp>
          <p:nvSpPr>
            <p:cNvPr name="Freeform 9" id="9"/>
            <p:cNvSpPr/>
            <p:nvPr/>
          </p:nvSpPr>
          <p:spPr>
            <a:xfrm flipH="false" flipV="false" rot="0">
              <a:off x="0" y="0"/>
              <a:ext cx="44772" cy="331768"/>
            </a:xfrm>
            <a:custGeom>
              <a:avLst/>
              <a:gdLst/>
              <a:ahLst/>
              <a:cxnLst/>
              <a:rect r="r" b="b" t="t" l="l"/>
              <a:pathLst>
                <a:path h="331768" w="44772">
                  <a:moveTo>
                    <a:pt x="0" y="0"/>
                  </a:moveTo>
                  <a:lnTo>
                    <a:pt x="44772" y="0"/>
                  </a:lnTo>
                  <a:lnTo>
                    <a:pt x="44772" y="331768"/>
                  </a:lnTo>
                  <a:lnTo>
                    <a:pt x="0" y="331768"/>
                  </a:lnTo>
                  <a:close/>
                </a:path>
              </a:pathLst>
            </a:custGeom>
            <a:solidFill>
              <a:srgbClr val="141414"/>
            </a:solidFill>
          </p:spPr>
        </p:sp>
        <p:sp>
          <p:nvSpPr>
            <p:cNvPr name="TextBox 10" id="10"/>
            <p:cNvSpPr txBox="true"/>
            <p:nvPr/>
          </p:nvSpPr>
          <p:spPr>
            <a:xfrm>
              <a:off x="0" y="-38100"/>
              <a:ext cx="44772" cy="369868"/>
            </a:xfrm>
            <a:prstGeom prst="rect">
              <a:avLst/>
            </a:prstGeom>
          </p:spPr>
          <p:txBody>
            <a:bodyPr anchor="ctr" rtlCol="false" tIns="50800" lIns="50800" bIns="50800" rIns="50800"/>
            <a:lstStyle/>
            <a:p>
              <a:pPr algn="ctr" marL="0" indent="0" lvl="0">
                <a:lnSpc>
                  <a:spcPts val="3359"/>
                </a:lnSpc>
              </a:pPr>
            </a:p>
          </p:txBody>
        </p:sp>
      </p:grpSp>
      <p:grpSp>
        <p:nvGrpSpPr>
          <p:cNvPr name="Group 11" id="11"/>
          <p:cNvGrpSpPr/>
          <p:nvPr/>
        </p:nvGrpSpPr>
        <p:grpSpPr>
          <a:xfrm rot="0">
            <a:off x="1198695" y="7349217"/>
            <a:ext cx="10466483" cy="1259681"/>
            <a:chOff x="0" y="0"/>
            <a:chExt cx="2756605" cy="331768"/>
          </a:xfrm>
        </p:grpSpPr>
        <p:sp>
          <p:nvSpPr>
            <p:cNvPr name="Freeform 12" id="12"/>
            <p:cNvSpPr/>
            <p:nvPr/>
          </p:nvSpPr>
          <p:spPr>
            <a:xfrm flipH="false" flipV="false" rot="0">
              <a:off x="0" y="0"/>
              <a:ext cx="2756605" cy="331768"/>
            </a:xfrm>
            <a:custGeom>
              <a:avLst/>
              <a:gdLst/>
              <a:ahLst/>
              <a:cxnLst/>
              <a:rect r="r" b="b" t="t" l="l"/>
              <a:pathLst>
                <a:path h="331768" w="2756605">
                  <a:moveTo>
                    <a:pt x="0" y="0"/>
                  </a:moveTo>
                  <a:lnTo>
                    <a:pt x="2756605" y="0"/>
                  </a:lnTo>
                  <a:lnTo>
                    <a:pt x="2756605" y="331768"/>
                  </a:lnTo>
                  <a:lnTo>
                    <a:pt x="0" y="331768"/>
                  </a:lnTo>
                  <a:close/>
                </a:path>
              </a:pathLst>
            </a:custGeom>
            <a:gradFill rotWithShape="true">
              <a:gsLst>
                <a:gs pos="0">
                  <a:srgbClr val="C4C4C4">
                    <a:alpha val="100000"/>
                  </a:srgbClr>
                </a:gs>
                <a:gs pos="100000">
                  <a:srgbClr val="FFFFFF">
                    <a:alpha val="0"/>
                  </a:srgbClr>
                </a:gs>
              </a:gsLst>
              <a:lin ang="0"/>
            </a:gradFill>
          </p:spPr>
        </p:sp>
        <p:sp>
          <p:nvSpPr>
            <p:cNvPr name="TextBox 13" id="13"/>
            <p:cNvSpPr txBox="true"/>
            <p:nvPr/>
          </p:nvSpPr>
          <p:spPr>
            <a:xfrm>
              <a:off x="0" y="-38100"/>
              <a:ext cx="2756605" cy="369868"/>
            </a:xfrm>
            <a:prstGeom prst="rect">
              <a:avLst/>
            </a:prstGeom>
          </p:spPr>
          <p:txBody>
            <a:bodyPr anchor="ctr" rtlCol="false" tIns="50800" lIns="50800" bIns="50800" rIns="50800"/>
            <a:lstStyle/>
            <a:p>
              <a:pPr algn="ctr" marL="0" indent="0" lvl="0">
                <a:lnSpc>
                  <a:spcPts val="3359"/>
                </a:lnSpc>
              </a:pPr>
            </a:p>
          </p:txBody>
        </p:sp>
      </p:grpSp>
      <p:grpSp>
        <p:nvGrpSpPr>
          <p:cNvPr name="Group 14" id="14"/>
          <p:cNvGrpSpPr/>
          <p:nvPr/>
        </p:nvGrpSpPr>
        <p:grpSpPr>
          <a:xfrm rot="0">
            <a:off x="1028651" y="4449560"/>
            <a:ext cx="7347839" cy="186928"/>
            <a:chOff x="0" y="0"/>
            <a:chExt cx="9797119" cy="249237"/>
          </a:xfrm>
        </p:grpSpPr>
        <p:grpSp>
          <p:nvGrpSpPr>
            <p:cNvPr name="Group 15" id="15"/>
            <p:cNvGrpSpPr/>
            <p:nvPr/>
          </p:nvGrpSpPr>
          <p:grpSpPr>
            <a:xfrm rot="0">
              <a:off x="66" y="0"/>
              <a:ext cx="1674460" cy="223837"/>
              <a:chOff x="0" y="0"/>
              <a:chExt cx="330758" cy="44215"/>
            </a:xfrm>
          </p:grpSpPr>
          <p:sp>
            <p:nvSpPr>
              <p:cNvPr name="Freeform 16" id="16"/>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17" id="17"/>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18" id="18"/>
            <p:cNvSpPr/>
            <p:nvPr/>
          </p:nvSpPr>
          <p:spPr>
            <a:xfrm>
              <a:off x="66" y="198437"/>
              <a:ext cx="9796987" cy="25400"/>
            </a:xfrm>
            <a:prstGeom prst="line">
              <a:avLst/>
            </a:prstGeom>
            <a:ln cap="flat" w="50800">
              <a:solidFill>
                <a:srgbClr val="141414"/>
              </a:solidFill>
              <a:prstDash val="solid"/>
              <a:headEnd type="none" len="sm" w="sm"/>
              <a:tailEnd type="none" len="sm" w="sm"/>
            </a:ln>
          </p:spPr>
        </p:sp>
      </p:grpSp>
      <p:grpSp>
        <p:nvGrpSpPr>
          <p:cNvPr name="Group 19" id="19"/>
          <p:cNvGrpSpPr/>
          <p:nvPr/>
        </p:nvGrpSpPr>
        <p:grpSpPr>
          <a:xfrm rot="-10800000">
            <a:off x="3879764" y="9258300"/>
            <a:ext cx="7347839" cy="186928"/>
            <a:chOff x="0" y="0"/>
            <a:chExt cx="9797119" cy="249237"/>
          </a:xfrm>
        </p:grpSpPr>
        <p:grpSp>
          <p:nvGrpSpPr>
            <p:cNvPr name="Group 20" id="20"/>
            <p:cNvGrpSpPr/>
            <p:nvPr/>
          </p:nvGrpSpPr>
          <p:grpSpPr>
            <a:xfrm rot="0">
              <a:off x="66" y="0"/>
              <a:ext cx="1674460" cy="223837"/>
              <a:chOff x="0" y="0"/>
              <a:chExt cx="330758" cy="44215"/>
            </a:xfrm>
          </p:grpSpPr>
          <p:sp>
            <p:nvSpPr>
              <p:cNvPr name="Freeform 21" id="21"/>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22" id="22"/>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23" id="23"/>
            <p:cNvSpPr/>
            <p:nvPr/>
          </p:nvSpPr>
          <p:spPr>
            <a:xfrm>
              <a:off x="66" y="198437"/>
              <a:ext cx="9796987" cy="25400"/>
            </a:xfrm>
            <a:prstGeom prst="line">
              <a:avLst/>
            </a:prstGeom>
            <a:ln cap="flat" w="50800">
              <a:solidFill>
                <a:srgbClr val="141414"/>
              </a:solidFill>
              <a:prstDash val="solid"/>
              <a:headEnd type="none" len="sm" w="sm"/>
              <a:tailEnd type="none" len="sm" w="sm"/>
            </a:ln>
          </p:spPr>
        </p:sp>
      </p:grpSp>
      <p:sp>
        <p:nvSpPr>
          <p:cNvPr name="Freeform 24" id="24"/>
          <p:cNvSpPr/>
          <p:nvPr/>
        </p:nvSpPr>
        <p:spPr>
          <a:xfrm flipH="false" flipV="false" rot="-3829531">
            <a:off x="-922581" y="165085"/>
            <a:ext cx="2409040" cy="3277605"/>
          </a:xfrm>
          <a:custGeom>
            <a:avLst/>
            <a:gdLst/>
            <a:ahLst/>
            <a:cxnLst/>
            <a:rect r="r" b="b" t="t" l="l"/>
            <a:pathLst>
              <a:path h="3277605" w="2409040">
                <a:moveTo>
                  <a:pt x="0" y="0"/>
                </a:moveTo>
                <a:lnTo>
                  <a:pt x="2409040" y="0"/>
                </a:lnTo>
                <a:lnTo>
                  <a:pt x="2409040" y="3277606"/>
                </a:lnTo>
                <a:lnTo>
                  <a:pt x="0" y="3277606"/>
                </a:lnTo>
                <a:lnTo>
                  <a:pt x="0" y="0"/>
                </a:lnTo>
                <a:close/>
              </a:path>
            </a:pathLst>
          </a:custGeom>
          <a:blipFill>
            <a:blip r:embed="rId5"/>
            <a:stretch>
              <a:fillRect l="0" t="0" r="0" b="0"/>
            </a:stretch>
          </a:blipFill>
        </p:spPr>
      </p:sp>
      <p:sp>
        <p:nvSpPr>
          <p:cNvPr name="Freeform 25" id="25"/>
          <p:cNvSpPr/>
          <p:nvPr/>
        </p:nvSpPr>
        <p:spPr>
          <a:xfrm flipH="false" flipV="false" rot="0">
            <a:off x="281939" y="9351764"/>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6">
              <a:extLst>
                <a:ext uri="{96DAC541-7B7A-43D3-8B79-37D633B846F1}">
                  <asvg:svgBlip xmlns:asvg="http://schemas.microsoft.com/office/drawing/2016/SVG/main" r:embed="rId7"/>
                </a:ext>
              </a:extLst>
            </a:blip>
            <a:stretch>
              <a:fillRect l="0" t="0" r="-116058" b="-123249"/>
            </a:stretch>
          </a:blipFill>
        </p:spPr>
      </p:sp>
      <p:sp>
        <p:nvSpPr>
          <p:cNvPr name="TextBox 26" id="26"/>
          <p:cNvSpPr txBox="true"/>
          <p:nvPr/>
        </p:nvSpPr>
        <p:spPr>
          <a:xfrm rot="0">
            <a:off x="1028700" y="4855563"/>
            <a:ext cx="11772154" cy="838867"/>
          </a:xfrm>
          <a:prstGeom prst="rect">
            <a:avLst/>
          </a:prstGeom>
        </p:spPr>
        <p:txBody>
          <a:bodyPr anchor="t" rtlCol="false" tIns="0" lIns="0" bIns="0" rIns="0">
            <a:spAutoFit/>
          </a:bodyPr>
          <a:lstStyle/>
          <a:p>
            <a:pPr algn="l" marL="0" indent="0" lvl="0">
              <a:lnSpc>
                <a:spcPts val="6756"/>
              </a:lnSpc>
            </a:pPr>
            <a:r>
              <a:rPr lang="en-US" sz="5197">
                <a:solidFill>
                  <a:srgbClr val="141414"/>
                </a:solidFill>
                <a:latin typeface="Pattanakarn SemiExpanded Light"/>
                <a:ea typeface="Pattanakarn SemiExpanded Light"/>
                <a:cs typeface="Pattanakarn SemiExpanded Light"/>
                <a:sym typeface="Pattanakarn SemiExpanded Light"/>
              </a:rPr>
              <a:t>DỰ ĐOÁN ĐIỂM THI CỦA HỌC SINH</a:t>
            </a:r>
          </a:p>
        </p:txBody>
      </p:sp>
      <p:sp>
        <p:nvSpPr>
          <p:cNvPr name="TextBox 27" id="27"/>
          <p:cNvSpPr txBox="true"/>
          <p:nvPr/>
        </p:nvSpPr>
        <p:spPr>
          <a:xfrm rot="0">
            <a:off x="1028700" y="5949033"/>
            <a:ext cx="10585059" cy="838867"/>
          </a:xfrm>
          <a:prstGeom prst="rect">
            <a:avLst/>
          </a:prstGeom>
        </p:spPr>
        <p:txBody>
          <a:bodyPr anchor="t" rtlCol="false" tIns="0" lIns="0" bIns="0" rIns="0">
            <a:spAutoFit/>
          </a:bodyPr>
          <a:lstStyle/>
          <a:p>
            <a:pPr algn="l" marL="0" indent="0" lvl="0">
              <a:lnSpc>
                <a:spcPts val="6756"/>
              </a:lnSpc>
            </a:pPr>
            <a:r>
              <a:rPr lang="en-US" b="true" sz="5197">
                <a:solidFill>
                  <a:srgbClr val="141414"/>
                </a:solidFill>
                <a:latin typeface="Pattanakarn SemiExpanded Medium"/>
                <a:ea typeface="Pattanakarn SemiExpanded Medium"/>
                <a:cs typeface="Pattanakarn SemiExpanded Medium"/>
                <a:sym typeface="Pattanakarn SemiExpanded Medium"/>
              </a:rPr>
              <a:t>BẰNG MACHINE LEARNING</a:t>
            </a:r>
          </a:p>
        </p:txBody>
      </p:sp>
      <p:sp>
        <p:nvSpPr>
          <p:cNvPr name="TextBox 28" id="28"/>
          <p:cNvSpPr txBox="true"/>
          <p:nvPr/>
        </p:nvSpPr>
        <p:spPr>
          <a:xfrm rot="0">
            <a:off x="1501425" y="7446928"/>
            <a:ext cx="9861022" cy="1035714"/>
          </a:xfrm>
          <a:prstGeom prst="rect">
            <a:avLst/>
          </a:prstGeom>
        </p:spPr>
        <p:txBody>
          <a:bodyPr anchor="t" rtlCol="false" tIns="0" lIns="0" bIns="0" rIns="0">
            <a:spAutoFit/>
          </a:bodyPr>
          <a:lstStyle/>
          <a:p>
            <a:pPr algn="l" marL="0" indent="0" lvl="0">
              <a:lnSpc>
                <a:spcPts val="4157"/>
              </a:lnSpc>
            </a:pPr>
            <a:r>
              <a:rPr lang="en-US" sz="3197">
                <a:solidFill>
                  <a:srgbClr val="141414"/>
                </a:solidFill>
                <a:latin typeface="Proxima Nova"/>
                <a:ea typeface="Proxima Nova"/>
                <a:cs typeface="Proxima Nova"/>
                <a:sym typeface="Proxima Nova"/>
              </a:rPr>
              <a:t>Nguyễn Quốc Tưởng – Lê Tiến Tiệp</a:t>
            </a:r>
          </a:p>
          <a:p>
            <a:pPr algn="l" marL="0" indent="0" lvl="0">
              <a:lnSpc>
                <a:spcPts val="4157"/>
              </a:lnSpc>
            </a:pPr>
            <a:r>
              <a:rPr lang="en-US" sz="3197">
                <a:solidFill>
                  <a:srgbClr val="141414"/>
                </a:solidFill>
                <a:latin typeface="Proxima Nova"/>
                <a:ea typeface="Proxima Nova"/>
                <a:cs typeface="Proxima Nova"/>
                <a:sym typeface="Proxima Nova"/>
              </a:rPr>
              <a:t>Môn: Machine Learning</a:t>
            </a:r>
          </a:p>
        </p:txBody>
      </p:sp>
      <p:sp>
        <p:nvSpPr>
          <p:cNvPr name="TextBox 29" id="29"/>
          <p:cNvSpPr txBox="true"/>
          <p:nvPr/>
        </p:nvSpPr>
        <p:spPr>
          <a:xfrm rot="0">
            <a:off x="1028700" y="811530"/>
            <a:ext cx="3579030" cy="396283"/>
          </a:xfrm>
          <a:prstGeom prst="rect">
            <a:avLst/>
          </a:prstGeom>
        </p:spPr>
        <p:txBody>
          <a:bodyPr anchor="t" rtlCol="false" tIns="0" lIns="0" bIns="0" rIns="0">
            <a:spAutoFit/>
          </a:bodyPr>
          <a:lstStyle/>
          <a:p>
            <a:pPr algn="l" marL="0" indent="0" lvl="0">
              <a:lnSpc>
                <a:spcPts val="3357"/>
              </a:lnSpc>
            </a:pPr>
            <a:r>
              <a:rPr lang="en-US" sz="2398">
                <a:solidFill>
                  <a:srgbClr val="141414"/>
                </a:solidFill>
                <a:latin typeface="Proxima Nova"/>
                <a:ea typeface="Proxima Nova"/>
                <a:cs typeface="Proxima Nova"/>
                <a:sym typeface="Proxima Nova"/>
              </a:rPr>
              <a:t>Machine Learning cơ bản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651" y="4819511"/>
            <a:ext cx="7347839" cy="186928"/>
            <a:chOff x="0" y="0"/>
            <a:chExt cx="9797119" cy="249237"/>
          </a:xfrm>
        </p:grpSpPr>
        <p:grpSp>
          <p:nvGrpSpPr>
            <p:cNvPr name="Group 4" id="4"/>
            <p:cNvGrpSpPr/>
            <p:nvPr/>
          </p:nvGrpSpPr>
          <p:grpSpPr>
            <a:xfrm rot="0">
              <a:off x="66" y="0"/>
              <a:ext cx="1674460" cy="223837"/>
              <a:chOff x="0" y="0"/>
              <a:chExt cx="330758" cy="44215"/>
            </a:xfrm>
          </p:grpSpPr>
          <p:sp>
            <p:nvSpPr>
              <p:cNvPr name="Freeform 5" id="5"/>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6" id="6"/>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7" id="7"/>
            <p:cNvSpPr/>
            <p:nvPr/>
          </p:nvSpPr>
          <p:spPr>
            <a:xfrm>
              <a:off x="66" y="198437"/>
              <a:ext cx="9796987" cy="25400"/>
            </a:xfrm>
            <a:prstGeom prst="line">
              <a:avLst/>
            </a:prstGeom>
            <a:ln cap="flat" w="50800">
              <a:solidFill>
                <a:srgbClr val="141414"/>
              </a:solidFill>
              <a:prstDash val="solid"/>
              <a:headEnd type="none" len="sm" w="sm"/>
              <a:tailEnd type="none" len="sm" w="sm"/>
            </a:ln>
          </p:spPr>
        </p:sp>
      </p:grpSp>
      <p:grpSp>
        <p:nvGrpSpPr>
          <p:cNvPr name="Group 8" id="8"/>
          <p:cNvGrpSpPr/>
          <p:nvPr/>
        </p:nvGrpSpPr>
        <p:grpSpPr>
          <a:xfrm rot="0">
            <a:off x="15930695" y="5248212"/>
            <a:ext cx="1048015" cy="1046698"/>
            <a:chOff x="0" y="0"/>
            <a:chExt cx="762627" cy="761669"/>
          </a:xfrm>
        </p:grpSpPr>
        <p:sp>
          <p:nvSpPr>
            <p:cNvPr name="Freeform 9" id="9"/>
            <p:cNvSpPr/>
            <p:nvPr/>
          </p:nvSpPr>
          <p:spPr>
            <a:xfrm flipH="false" flipV="false" rot="0">
              <a:off x="0" y="0"/>
              <a:ext cx="762627" cy="761669"/>
            </a:xfrm>
            <a:custGeom>
              <a:avLst/>
              <a:gdLst/>
              <a:ahLst/>
              <a:cxnLst/>
              <a:rect r="r" b="b" t="t" l="l"/>
              <a:pathLst>
                <a:path h="761669" w="762627">
                  <a:moveTo>
                    <a:pt x="0" y="0"/>
                  </a:moveTo>
                  <a:lnTo>
                    <a:pt x="762627" y="0"/>
                  </a:lnTo>
                  <a:lnTo>
                    <a:pt x="762627" y="761669"/>
                  </a:lnTo>
                  <a:lnTo>
                    <a:pt x="0" y="761669"/>
                  </a:lnTo>
                  <a:close/>
                </a:path>
              </a:pathLst>
            </a:custGeom>
            <a:solidFill>
              <a:srgbClr val="F8F7F6"/>
            </a:solidFill>
          </p:spPr>
        </p:sp>
        <p:sp>
          <p:nvSpPr>
            <p:cNvPr name="TextBox 10" id="10"/>
            <p:cNvSpPr txBox="true"/>
            <p:nvPr/>
          </p:nvSpPr>
          <p:spPr>
            <a:xfrm>
              <a:off x="0" y="-38100"/>
              <a:ext cx="762627" cy="799769"/>
            </a:xfrm>
            <a:prstGeom prst="rect">
              <a:avLst/>
            </a:prstGeom>
          </p:spPr>
          <p:txBody>
            <a:bodyPr anchor="ctr" rtlCol="false" tIns="50800" lIns="50800" bIns="50800" rIns="50800"/>
            <a:lstStyle/>
            <a:p>
              <a:pPr algn="ctr" marL="0" indent="0" lvl="0">
                <a:lnSpc>
                  <a:spcPts val="3359"/>
                </a:lnSpc>
              </a:pPr>
            </a:p>
          </p:txBody>
        </p:sp>
      </p:grpSp>
      <p:sp>
        <p:nvSpPr>
          <p:cNvPr name="Freeform 11" id="11"/>
          <p:cNvSpPr/>
          <p:nvPr/>
        </p:nvSpPr>
        <p:spPr>
          <a:xfrm flipH="false" flipV="false" rot="-2700000">
            <a:off x="15650565" y="920577"/>
            <a:ext cx="8510634" cy="7797868"/>
          </a:xfrm>
          <a:custGeom>
            <a:avLst/>
            <a:gdLst/>
            <a:ahLst/>
            <a:cxnLst/>
            <a:rect r="r" b="b" t="t" l="l"/>
            <a:pathLst>
              <a:path h="7797868" w="8510634">
                <a:moveTo>
                  <a:pt x="0" y="0"/>
                </a:moveTo>
                <a:lnTo>
                  <a:pt x="8510634" y="0"/>
                </a:lnTo>
                <a:lnTo>
                  <a:pt x="8510634" y="7797868"/>
                </a:lnTo>
                <a:lnTo>
                  <a:pt x="0" y="7797868"/>
                </a:lnTo>
                <a:lnTo>
                  <a:pt x="0" y="0"/>
                </a:lnTo>
                <a:close/>
              </a:path>
            </a:pathLst>
          </a:custGeom>
          <a:blipFill>
            <a:blip r:embed="rId3"/>
            <a:stretch>
              <a:fillRect l="0" t="0" r="0" b="0"/>
            </a:stretch>
          </a:blipFill>
        </p:spPr>
      </p:sp>
      <p:sp>
        <p:nvSpPr>
          <p:cNvPr name="Freeform 12" id="12"/>
          <p:cNvSpPr/>
          <p:nvPr/>
        </p:nvSpPr>
        <p:spPr>
          <a:xfrm flipH="false" flipV="false" rot="-2069870">
            <a:off x="-2757183" y="-3227427"/>
            <a:ext cx="8510634" cy="7797868"/>
          </a:xfrm>
          <a:custGeom>
            <a:avLst/>
            <a:gdLst/>
            <a:ahLst/>
            <a:cxnLst/>
            <a:rect r="r" b="b" t="t" l="l"/>
            <a:pathLst>
              <a:path h="7797868" w="8510634">
                <a:moveTo>
                  <a:pt x="0" y="0"/>
                </a:moveTo>
                <a:lnTo>
                  <a:pt x="8510634" y="0"/>
                </a:lnTo>
                <a:lnTo>
                  <a:pt x="8510634" y="7797868"/>
                </a:lnTo>
                <a:lnTo>
                  <a:pt x="0" y="7797868"/>
                </a:lnTo>
                <a:lnTo>
                  <a:pt x="0" y="0"/>
                </a:lnTo>
                <a:close/>
              </a:path>
            </a:pathLst>
          </a:custGeom>
          <a:blipFill>
            <a:blip r:embed="rId3">
              <a:alphaModFix amt="15000"/>
            </a:blip>
            <a:stretch>
              <a:fillRect l="0" t="0" r="0" b="0"/>
            </a:stretch>
          </a:blipFill>
        </p:spPr>
      </p:sp>
      <p:sp>
        <p:nvSpPr>
          <p:cNvPr name="TextBox 13" id="13"/>
          <p:cNvSpPr txBox="true"/>
          <p:nvPr/>
        </p:nvSpPr>
        <p:spPr>
          <a:xfrm rot="0">
            <a:off x="1028700" y="5304760"/>
            <a:ext cx="7347740" cy="1323446"/>
          </a:xfrm>
          <a:prstGeom prst="rect">
            <a:avLst/>
          </a:prstGeom>
        </p:spPr>
        <p:txBody>
          <a:bodyPr anchor="t" rtlCol="false" tIns="0" lIns="0" bIns="0" rIns="0">
            <a:spAutoFit/>
          </a:bodyPr>
          <a:lstStyle/>
          <a:p>
            <a:pPr algn="l" marL="0" indent="0" lvl="0">
              <a:lnSpc>
                <a:spcPts val="2654"/>
              </a:lnSpc>
            </a:pPr>
            <a:r>
              <a:rPr lang="en-US" sz="1895">
                <a:solidFill>
                  <a:srgbClr val="141414"/>
                </a:solidFill>
                <a:latin typeface="Proxima Nova Light"/>
                <a:ea typeface="Proxima Nova Light"/>
                <a:cs typeface="Proxima Nova Light"/>
                <a:sym typeface="Proxima Nova Light"/>
              </a:rPr>
              <a:t>Dataset: Student Performance Multiple Linear Regression (Kaggle)</a:t>
            </a:r>
          </a:p>
          <a:p>
            <a:pPr algn="l" marL="0" indent="0" lvl="0">
              <a:lnSpc>
                <a:spcPts val="2654"/>
              </a:lnSpc>
            </a:pPr>
            <a:r>
              <a:rPr lang="en-US" sz="1895">
                <a:solidFill>
                  <a:srgbClr val="141414"/>
                </a:solidFill>
                <a:latin typeface="Proxima Nova Light"/>
                <a:ea typeface="Proxima Nova Light"/>
                <a:cs typeface="Proxima Nova Light"/>
                <a:sym typeface="Proxima Nova Light"/>
              </a:rPr>
              <a:t>File: Student_Performance.csv</a:t>
            </a:r>
          </a:p>
          <a:p>
            <a:pPr algn="l" marL="0" indent="0" lvl="0">
              <a:lnSpc>
                <a:spcPts val="2654"/>
              </a:lnSpc>
            </a:pPr>
            <a:r>
              <a:rPr lang="en-US" sz="1895">
                <a:solidFill>
                  <a:srgbClr val="141414"/>
                </a:solidFill>
                <a:latin typeface="Proxima Nova Light"/>
                <a:ea typeface="Proxima Nova Light"/>
                <a:cs typeface="Proxima Nova Light"/>
                <a:sym typeface="Proxima Nova Light"/>
              </a:rPr>
              <a:t>Ban đầu: 10.000 dòng, 6 cột, không thiếu dữ liệu, 127 dòng trùng lặp</a:t>
            </a:r>
          </a:p>
          <a:p>
            <a:pPr algn="l" marL="0" indent="0" lvl="0">
              <a:lnSpc>
                <a:spcPts val="2654"/>
              </a:lnSpc>
            </a:pPr>
            <a:r>
              <a:rPr lang="en-US" sz="1895">
                <a:solidFill>
                  <a:srgbClr val="141414"/>
                </a:solidFill>
                <a:latin typeface="Proxima Nova Light"/>
                <a:ea typeface="Proxima Nova Light"/>
                <a:cs typeface="Proxima Nova Light"/>
                <a:sym typeface="Proxima Nova Light"/>
              </a:rPr>
              <a:t>Sau làm sạch: 9.873 dòng, 6 cột, không còn trùng lặp</a:t>
            </a:r>
          </a:p>
        </p:txBody>
      </p:sp>
      <p:sp>
        <p:nvSpPr>
          <p:cNvPr name="TextBox 14" id="14"/>
          <p:cNvSpPr txBox="true"/>
          <p:nvPr/>
        </p:nvSpPr>
        <p:spPr>
          <a:xfrm rot="0">
            <a:off x="1028700" y="7787640"/>
            <a:ext cx="5071492" cy="1424716"/>
          </a:xfrm>
          <a:prstGeom prst="rect">
            <a:avLst/>
          </a:prstGeom>
        </p:spPr>
        <p:txBody>
          <a:bodyPr anchor="t" rtlCol="false" tIns="0" lIns="0" bIns="0" rIns="0">
            <a:spAutoFit/>
          </a:bodyPr>
          <a:lstStyle/>
          <a:p>
            <a:pPr algn="l" marL="0" indent="0" lvl="0">
              <a:lnSpc>
                <a:spcPts val="2322"/>
              </a:lnSpc>
            </a:pPr>
            <a:r>
              <a:rPr lang="en-US" sz="1658">
                <a:solidFill>
                  <a:srgbClr val="141414"/>
                </a:solidFill>
                <a:latin typeface="Proxima Nova Light"/>
                <a:ea typeface="Proxima Nova Light"/>
                <a:cs typeface="Proxima Nova Light"/>
                <a:sym typeface="Proxima Nova Light"/>
              </a:rPr>
              <a:t>• Hours Studied</a:t>
            </a:r>
          </a:p>
          <a:p>
            <a:pPr algn="l" marL="0" indent="0" lvl="0">
              <a:lnSpc>
                <a:spcPts val="2322"/>
              </a:lnSpc>
            </a:pPr>
            <a:r>
              <a:rPr lang="en-US" sz="1658">
                <a:solidFill>
                  <a:srgbClr val="141414"/>
                </a:solidFill>
                <a:latin typeface="Proxima Nova Light"/>
                <a:ea typeface="Proxima Nova Light"/>
                <a:cs typeface="Proxima Nova Light"/>
                <a:sym typeface="Proxima Nova Light"/>
              </a:rPr>
              <a:t>• Previous Scores</a:t>
            </a:r>
          </a:p>
          <a:p>
            <a:pPr algn="l" marL="0" indent="0" lvl="0">
              <a:lnSpc>
                <a:spcPts val="2322"/>
              </a:lnSpc>
            </a:pPr>
            <a:r>
              <a:rPr lang="en-US" sz="1658">
                <a:solidFill>
                  <a:srgbClr val="141414"/>
                </a:solidFill>
                <a:latin typeface="Proxima Nova Light"/>
                <a:ea typeface="Proxima Nova Light"/>
                <a:cs typeface="Proxima Nova Light"/>
                <a:sym typeface="Proxima Nova Light"/>
              </a:rPr>
              <a:t>• Extracurricular Activities</a:t>
            </a:r>
          </a:p>
          <a:p>
            <a:pPr algn="l" marL="0" indent="0" lvl="0">
              <a:lnSpc>
                <a:spcPts val="2322"/>
              </a:lnSpc>
            </a:pPr>
            <a:r>
              <a:rPr lang="en-US" sz="1658">
                <a:solidFill>
                  <a:srgbClr val="141414"/>
                </a:solidFill>
                <a:latin typeface="Proxima Nova Light"/>
                <a:ea typeface="Proxima Nova Light"/>
                <a:cs typeface="Proxima Nova Light"/>
                <a:sym typeface="Proxima Nova Light"/>
              </a:rPr>
              <a:t>• Sleep Hours</a:t>
            </a:r>
          </a:p>
          <a:p>
            <a:pPr algn="l" marL="0" indent="0" lvl="0">
              <a:lnSpc>
                <a:spcPts val="2322"/>
              </a:lnSpc>
            </a:pPr>
            <a:r>
              <a:rPr lang="en-US" sz="1658">
                <a:solidFill>
                  <a:srgbClr val="141414"/>
                </a:solidFill>
                <a:latin typeface="Proxima Nova Light"/>
                <a:ea typeface="Proxima Nova Light"/>
                <a:cs typeface="Proxima Nova Light"/>
                <a:sym typeface="Proxima Nova Light"/>
              </a:rPr>
              <a:t>• Sample Question Papers Practiced</a:t>
            </a:r>
          </a:p>
        </p:txBody>
      </p:sp>
      <p:sp>
        <p:nvSpPr>
          <p:cNvPr name="TextBox 15" id="15"/>
          <p:cNvSpPr txBox="true"/>
          <p:nvPr/>
        </p:nvSpPr>
        <p:spPr>
          <a:xfrm rot="0">
            <a:off x="6610196" y="7787640"/>
            <a:ext cx="5071492" cy="1138966"/>
          </a:xfrm>
          <a:prstGeom prst="rect">
            <a:avLst/>
          </a:prstGeom>
        </p:spPr>
        <p:txBody>
          <a:bodyPr anchor="t" rtlCol="false" tIns="0" lIns="0" bIns="0" rIns="0">
            <a:spAutoFit/>
          </a:bodyPr>
          <a:lstStyle/>
          <a:p>
            <a:pPr algn="l" marL="0" indent="0" lvl="0">
              <a:lnSpc>
                <a:spcPts val="2322"/>
              </a:lnSpc>
            </a:pPr>
            <a:r>
              <a:rPr lang="en-US" sz="1658">
                <a:solidFill>
                  <a:srgbClr val="141414"/>
                </a:solidFill>
                <a:latin typeface="Proxima Nova Light"/>
                <a:ea typeface="Proxima Nova Light"/>
                <a:cs typeface="Proxima Nova Light"/>
                <a:sym typeface="Proxima Nova Light"/>
              </a:rPr>
              <a:t>• Performance Index</a:t>
            </a:r>
          </a:p>
          <a:p>
            <a:pPr algn="l" marL="0" indent="0" lvl="0">
              <a:lnSpc>
                <a:spcPts val="2322"/>
              </a:lnSpc>
            </a:pPr>
            <a:r>
              <a:rPr lang="en-US" sz="1658">
                <a:solidFill>
                  <a:srgbClr val="141414"/>
                </a:solidFill>
                <a:latin typeface="Proxima Nova Light"/>
                <a:ea typeface="Proxima Nova Light"/>
                <a:cs typeface="Proxima Nova Light"/>
                <a:sym typeface="Proxima Nova Light"/>
              </a:rPr>
              <a:t>• Biến liên tục (số thực)</a:t>
            </a:r>
          </a:p>
          <a:p>
            <a:pPr algn="l" marL="0" indent="0" lvl="0">
              <a:lnSpc>
                <a:spcPts val="2322"/>
              </a:lnSpc>
            </a:pPr>
            <a:r>
              <a:rPr lang="en-US" sz="1658">
                <a:solidFill>
                  <a:srgbClr val="141414"/>
                </a:solidFill>
                <a:latin typeface="Proxima Nova Light"/>
                <a:ea typeface="Proxima Nova Light"/>
                <a:cs typeface="Proxima Nova Light"/>
                <a:sym typeface="Proxima Nova Light"/>
              </a:rPr>
              <a:t>• Phù hợp bài toán Regression</a:t>
            </a:r>
          </a:p>
          <a:p>
            <a:pPr algn="l" marL="0" indent="0" lvl="0">
              <a:lnSpc>
                <a:spcPts val="2322"/>
              </a:lnSpc>
            </a:pPr>
            <a:r>
              <a:rPr lang="en-US" sz="1658">
                <a:solidFill>
                  <a:srgbClr val="141414"/>
                </a:solidFill>
                <a:latin typeface="Proxima Nova Light"/>
                <a:ea typeface="Proxima Nova Light"/>
                <a:cs typeface="Proxima Nova Light"/>
                <a:sym typeface="Proxima Nova Light"/>
              </a:rPr>
              <a:t>• Phạm vi: quan sát qua EDA</a:t>
            </a:r>
          </a:p>
        </p:txBody>
      </p:sp>
      <p:sp>
        <p:nvSpPr>
          <p:cNvPr name="TextBox 16" id="16"/>
          <p:cNvSpPr txBox="true"/>
          <p:nvPr/>
        </p:nvSpPr>
        <p:spPr>
          <a:xfrm rot="0">
            <a:off x="12187808" y="7787640"/>
            <a:ext cx="5071492" cy="1138966"/>
          </a:xfrm>
          <a:prstGeom prst="rect">
            <a:avLst/>
          </a:prstGeom>
        </p:spPr>
        <p:txBody>
          <a:bodyPr anchor="t" rtlCol="false" tIns="0" lIns="0" bIns="0" rIns="0">
            <a:spAutoFit/>
          </a:bodyPr>
          <a:lstStyle/>
          <a:p>
            <a:pPr algn="l" marL="0" indent="0" lvl="0">
              <a:lnSpc>
                <a:spcPts val="2322"/>
              </a:lnSpc>
            </a:pPr>
            <a:r>
              <a:rPr lang="en-US" sz="1658">
                <a:solidFill>
                  <a:srgbClr val="141414"/>
                </a:solidFill>
                <a:latin typeface="Proxima Nova Light"/>
                <a:ea typeface="Proxima Nova Light"/>
                <a:cs typeface="Proxima Nova Light"/>
                <a:sym typeface="Proxima Nova Light"/>
              </a:rPr>
              <a:t>• Không có giá trị khuyết thiếu</a:t>
            </a:r>
          </a:p>
          <a:p>
            <a:pPr algn="l" marL="0" indent="0" lvl="0">
              <a:lnSpc>
                <a:spcPts val="2322"/>
              </a:lnSpc>
            </a:pPr>
            <a:r>
              <a:rPr lang="en-US" sz="1658">
                <a:solidFill>
                  <a:srgbClr val="141414"/>
                </a:solidFill>
                <a:latin typeface="Proxima Nova Light"/>
                <a:ea typeface="Proxima Nova Light"/>
                <a:cs typeface="Proxima Nova Light"/>
                <a:sym typeface="Proxima Nova Light"/>
              </a:rPr>
              <a:t>• 127 bản ghi trùng đã loại bỏ</a:t>
            </a:r>
          </a:p>
          <a:p>
            <a:pPr algn="l" marL="0" indent="0" lvl="0">
              <a:lnSpc>
                <a:spcPts val="2322"/>
              </a:lnSpc>
            </a:pPr>
            <a:r>
              <a:rPr lang="en-US" sz="1658">
                <a:solidFill>
                  <a:srgbClr val="141414"/>
                </a:solidFill>
                <a:latin typeface="Proxima Nova Light"/>
                <a:ea typeface="Proxima Nova Light"/>
                <a:cs typeface="Proxima Nova Light"/>
                <a:sym typeface="Proxima Nova Light"/>
              </a:rPr>
              <a:t>• Còn lại 9.873 bản ghi sạch</a:t>
            </a:r>
          </a:p>
          <a:p>
            <a:pPr algn="l" marL="0" indent="0" lvl="0">
              <a:lnSpc>
                <a:spcPts val="2322"/>
              </a:lnSpc>
            </a:pPr>
            <a:r>
              <a:rPr lang="en-US" sz="1658">
                <a:solidFill>
                  <a:srgbClr val="141414"/>
                </a:solidFill>
                <a:latin typeface="Proxima Nova Light"/>
                <a:ea typeface="Proxima Nova Light"/>
                <a:cs typeface="Proxima Nova Light"/>
                <a:sym typeface="Proxima Nova Light"/>
              </a:rPr>
              <a:t>• Sẵn sàng cho tiền xử lý</a:t>
            </a:r>
          </a:p>
        </p:txBody>
      </p:sp>
      <p:sp>
        <p:nvSpPr>
          <p:cNvPr name="TextBox 17" id="17"/>
          <p:cNvSpPr txBox="true"/>
          <p:nvPr/>
        </p:nvSpPr>
        <p:spPr>
          <a:xfrm rot="0">
            <a:off x="1028700" y="7396450"/>
            <a:ext cx="3904296"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Đặc Trưng Đầu Vào</a:t>
            </a:r>
          </a:p>
        </p:txBody>
      </p:sp>
      <p:sp>
        <p:nvSpPr>
          <p:cNvPr name="TextBox 18" id="18"/>
          <p:cNvSpPr txBox="true"/>
          <p:nvPr/>
        </p:nvSpPr>
        <p:spPr>
          <a:xfrm rot="0">
            <a:off x="6610196" y="7396450"/>
            <a:ext cx="3904296"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Biến Mục Tiêu</a:t>
            </a:r>
          </a:p>
        </p:txBody>
      </p:sp>
      <p:sp>
        <p:nvSpPr>
          <p:cNvPr name="TextBox 19" id="19"/>
          <p:cNvSpPr txBox="true"/>
          <p:nvPr/>
        </p:nvSpPr>
        <p:spPr>
          <a:xfrm rot="0">
            <a:off x="12187808" y="7396450"/>
            <a:ext cx="3904296"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Chất Lượng Dữ Liệu</a:t>
            </a:r>
          </a:p>
        </p:txBody>
      </p:sp>
      <p:sp>
        <p:nvSpPr>
          <p:cNvPr name="TextBox 20" id="20"/>
          <p:cNvSpPr txBox="true"/>
          <p:nvPr/>
        </p:nvSpPr>
        <p:spPr>
          <a:xfrm rot="0">
            <a:off x="1028700" y="2100146"/>
            <a:ext cx="7889125" cy="804070"/>
          </a:xfrm>
          <a:prstGeom prst="rect">
            <a:avLst/>
          </a:prstGeom>
        </p:spPr>
        <p:txBody>
          <a:bodyPr anchor="t" rtlCol="false" tIns="0" lIns="0" bIns="0" rIns="0">
            <a:spAutoFit/>
          </a:bodyPr>
          <a:lstStyle/>
          <a:p>
            <a:pPr algn="l" marL="0" indent="0" lvl="0">
              <a:lnSpc>
                <a:spcPts val="6492"/>
              </a:lnSpc>
            </a:pPr>
            <a:r>
              <a:rPr lang="en-US" sz="4994">
                <a:solidFill>
                  <a:srgbClr val="141414"/>
                </a:solidFill>
                <a:latin typeface="Pattanakarn SemiExpanded Light"/>
                <a:ea typeface="Pattanakarn SemiExpanded Light"/>
                <a:cs typeface="Pattanakarn SemiExpanded Light"/>
                <a:sym typeface="Pattanakarn SemiExpanded Light"/>
              </a:rPr>
              <a:t>DATASET</a:t>
            </a:r>
          </a:p>
        </p:txBody>
      </p:sp>
      <p:sp>
        <p:nvSpPr>
          <p:cNvPr name="TextBox 21" id="21"/>
          <p:cNvSpPr txBox="true"/>
          <p:nvPr/>
        </p:nvSpPr>
        <p:spPr>
          <a:xfrm rot="0">
            <a:off x="1028700" y="2859191"/>
            <a:ext cx="7347740" cy="804070"/>
          </a:xfrm>
          <a:prstGeom prst="rect">
            <a:avLst/>
          </a:prstGeom>
        </p:spPr>
        <p:txBody>
          <a:bodyPr anchor="t" rtlCol="false" tIns="0" lIns="0" bIns="0" rIns="0">
            <a:spAutoFit/>
          </a:bodyPr>
          <a:lstStyle/>
          <a:p>
            <a:pPr algn="l" marL="0" indent="0" lvl="0">
              <a:lnSpc>
                <a:spcPts val="6492"/>
              </a:lnSpc>
            </a:pPr>
            <a:r>
              <a:rPr lang="en-US" b="true" sz="4994">
                <a:solidFill>
                  <a:srgbClr val="141414"/>
                </a:solidFill>
                <a:latin typeface="Pattanakarn SemiExpanded Medium"/>
                <a:ea typeface="Pattanakarn SemiExpanded Medium"/>
                <a:cs typeface="Pattanakarn SemiExpanded Medium"/>
                <a:sym typeface="Pattanakarn SemiExpanded Medium"/>
              </a:rPr>
              <a:t>TỔNG QUAN</a:t>
            </a:r>
          </a:p>
        </p:txBody>
      </p:sp>
      <p:sp>
        <p:nvSpPr>
          <p:cNvPr name="Freeform 22" id="22"/>
          <p:cNvSpPr/>
          <p:nvPr/>
        </p:nvSpPr>
        <p:spPr>
          <a:xfrm flipH="false" flipV="false" rot="0">
            <a:off x="120294" y="9524186"/>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
        <p:nvSpPr>
          <p:cNvPr name="Freeform 23" id="23"/>
          <p:cNvSpPr/>
          <p:nvPr/>
        </p:nvSpPr>
        <p:spPr>
          <a:xfrm flipH="false" flipV="false" rot="0">
            <a:off x="12880042" y="635525"/>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9440480" y="2245306"/>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440480" y="4202672"/>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440480" y="6159772"/>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9440480" y="8116872"/>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4699178">
            <a:off x="-4327278" y="7828267"/>
            <a:ext cx="8510634" cy="7797868"/>
          </a:xfrm>
          <a:custGeom>
            <a:avLst/>
            <a:gdLst/>
            <a:ahLst/>
            <a:cxnLst/>
            <a:rect r="r" b="b" t="t" l="l"/>
            <a:pathLst>
              <a:path h="7797868" w="8510634">
                <a:moveTo>
                  <a:pt x="0" y="0"/>
                </a:moveTo>
                <a:lnTo>
                  <a:pt x="8510633" y="0"/>
                </a:lnTo>
                <a:lnTo>
                  <a:pt x="8510633" y="7797869"/>
                </a:lnTo>
                <a:lnTo>
                  <a:pt x="0" y="7797869"/>
                </a:lnTo>
                <a:lnTo>
                  <a:pt x="0" y="0"/>
                </a:lnTo>
                <a:close/>
              </a:path>
            </a:pathLst>
          </a:custGeom>
          <a:blipFill>
            <a:blip r:embed="rId5"/>
            <a:stretch>
              <a:fillRect l="0" t="0" r="0" b="0"/>
            </a:stretch>
          </a:blipFill>
        </p:spPr>
      </p:sp>
      <p:sp>
        <p:nvSpPr>
          <p:cNvPr name="Freeform 8" id="8"/>
          <p:cNvSpPr/>
          <p:nvPr/>
        </p:nvSpPr>
        <p:spPr>
          <a:xfrm flipH="false" flipV="false" rot="0">
            <a:off x="16932531" y="9479917"/>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6">
              <a:extLst>
                <a:ext uri="{96DAC541-7B7A-43D3-8B79-37D633B846F1}">
                  <asvg:svgBlip xmlns:asvg="http://schemas.microsoft.com/office/drawing/2016/SVG/main" r:embed="rId7"/>
                </a:ext>
              </a:extLst>
            </a:blip>
            <a:stretch>
              <a:fillRect l="0" t="0" r="-116058" b="-123249"/>
            </a:stretch>
          </a:blipFill>
        </p:spPr>
      </p:sp>
      <p:sp>
        <p:nvSpPr>
          <p:cNvPr name="Freeform 9" id="9"/>
          <p:cNvSpPr/>
          <p:nvPr/>
        </p:nvSpPr>
        <p:spPr>
          <a:xfrm flipH="false" flipV="false" rot="0">
            <a:off x="6928219"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6">
              <a:extLst>
                <a:ext uri="{96DAC541-7B7A-43D3-8B79-37D633B846F1}">
                  <asvg:svgBlip xmlns:asvg="http://schemas.microsoft.com/office/drawing/2016/SVG/main" r:embed="rId7"/>
                </a:ext>
              </a:extLst>
            </a:blip>
            <a:stretch>
              <a:fillRect l="0" t="0" r="-116058" b="-123249"/>
            </a:stretch>
          </a:blipFill>
        </p:spPr>
      </p:sp>
      <p:sp>
        <p:nvSpPr>
          <p:cNvPr name="Freeform 10" id="10"/>
          <p:cNvSpPr/>
          <p:nvPr/>
        </p:nvSpPr>
        <p:spPr>
          <a:xfrm flipH="false" flipV="false" rot="0">
            <a:off x="0" y="4833243"/>
            <a:ext cx="8858748" cy="5453757"/>
          </a:xfrm>
          <a:custGeom>
            <a:avLst/>
            <a:gdLst/>
            <a:ahLst/>
            <a:cxnLst/>
            <a:rect r="r" b="b" t="t" l="l"/>
            <a:pathLst>
              <a:path h="5453757" w="8858748">
                <a:moveTo>
                  <a:pt x="0" y="0"/>
                </a:moveTo>
                <a:lnTo>
                  <a:pt x="8858748" y="0"/>
                </a:lnTo>
                <a:lnTo>
                  <a:pt x="8858748" y="5453757"/>
                </a:lnTo>
                <a:lnTo>
                  <a:pt x="0" y="5453757"/>
                </a:lnTo>
                <a:lnTo>
                  <a:pt x="0" y="0"/>
                </a:lnTo>
                <a:close/>
              </a:path>
            </a:pathLst>
          </a:custGeom>
          <a:blipFill>
            <a:blip r:embed="rId8"/>
            <a:stretch>
              <a:fillRect l="0" t="0" r="0" b="0"/>
            </a:stretch>
          </a:blipFill>
        </p:spPr>
      </p:sp>
      <p:sp>
        <p:nvSpPr>
          <p:cNvPr name="TextBox 11" id="11"/>
          <p:cNvSpPr txBox="true"/>
          <p:nvPr/>
        </p:nvSpPr>
        <p:spPr>
          <a:xfrm rot="0">
            <a:off x="1028700" y="2109671"/>
            <a:ext cx="5564307" cy="691113"/>
          </a:xfrm>
          <a:prstGeom prst="rect">
            <a:avLst/>
          </a:prstGeom>
        </p:spPr>
        <p:txBody>
          <a:bodyPr anchor="t" rtlCol="false" tIns="0" lIns="0" bIns="0" rIns="0">
            <a:spAutoFit/>
          </a:bodyPr>
          <a:lstStyle/>
          <a:p>
            <a:pPr algn="l" marL="0" indent="0" lvl="0">
              <a:lnSpc>
                <a:spcPts val="5574"/>
              </a:lnSpc>
            </a:pPr>
            <a:r>
              <a:rPr lang="en-US" sz="4288">
                <a:solidFill>
                  <a:srgbClr val="141414"/>
                </a:solidFill>
                <a:latin typeface="Pattanakarn SemiExpanded Light"/>
                <a:ea typeface="Pattanakarn SemiExpanded Light"/>
                <a:cs typeface="Pattanakarn SemiExpanded Light"/>
                <a:sym typeface="Pattanakarn SemiExpanded Light"/>
              </a:rPr>
              <a:t>EDA 1</a:t>
            </a:r>
          </a:p>
        </p:txBody>
      </p:sp>
      <p:sp>
        <p:nvSpPr>
          <p:cNvPr name="TextBox 12" id="12"/>
          <p:cNvSpPr txBox="true"/>
          <p:nvPr/>
        </p:nvSpPr>
        <p:spPr>
          <a:xfrm rot="0">
            <a:off x="1028700" y="2868716"/>
            <a:ext cx="7347740" cy="1398585"/>
          </a:xfrm>
          <a:prstGeom prst="rect">
            <a:avLst/>
          </a:prstGeom>
        </p:spPr>
        <p:txBody>
          <a:bodyPr anchor="t" rtlCol="false" tIns="0" lIns="0" bIns="0" rIns="0">
            <a:spAutoFit/>
          </a:bodyPr>
          <a:lstStyle/>
          <a:p>
            <a:pPr algn="l" marL="0" indent="0" lvl="0">
              <a:lnSpc>
                <a:spcPts val="5574"/>
              </a:lnSpc>
            </a:pPr>
            <a:r>
              <a:rPr lang="en-US" b="true" sz="4288">
                <a:solidFill>
                  <a:srgbClr val="141414"/>
                </a:solidFill>
                <a:latin typeface="Pattanakarn SemiExpanded Medium"/>
                <a:ea typeface="Pattanakarn SemiExpanded Medium"/>
                <a:cs typeface="Pattanakarn SemiExpanded Medium"/>
                <a:sym typeface="Pattanakarn SemiExpanded Medium"/>
              </a:rPr>
              <a:t>PHÂN BỐ BIẾN MỤC TIÊU</a:t>
            </a:r>
          </a:p>
          <a:p>
            <a:pPr algn="l" marL="0" indent="0" lvl="0">
              <a:lnSpc>
                <a:spcPts val="5574"/>
              </a:lnSpc>
            </a:pPr>
            <a:r>
              <a:rPr lang="en-US" b="true" sz="4288">
                <a:solidFill>
                  <a:srgbClr val="141414"/>
                </a:solidFill>
                <a:latin typeface="Pattanakarn SemiExpanded Medium"/>
                <a:ea typeface="Pattanakarn SemiExpanded Medium"/>
                <a:cs typeface="Pattanakarn SemiExpanded Medium"/>
                <a:sym typeface="Pattanakarn SemiExpanded Medium"/>
              </a:rPr>
              <a:t>PERFORMANCE INDEX</a:t>
            </a:r>
          </a:p>
        </p:txBody>
      </p:sp>
      <p:sp>
        <p:nvSpPr>
          <p:cNvPr name="TextBox 13" id="13"/>
          <p:cNvSpPr txBox="true"/>
          <p:nvPr/>
        </p:nvSpPr>
        <p:spPr>
          <a:xfrm rot="0">
            <a:off x="10482903" y="2287549"/>
            <a:ext cx="6776397" cy="1099223"/>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Performance Index là biến liên tục, phân bố trải dài trong một phạm vi nhất định. Kiểm tra hình dạng phân bố để đánh giá tính phù hợp.</a:t>
            </a:r>
          </a:p>
        </p:txBody>
      </p:sp>
      <p:sp>
        <p:nvSpPr>
          <p:cNvPr name="TextBox 14" id="14"/>
          <p:cNvSpPr txBox="true"/>
          <p:nvPr/>
        </p:nvSpPr>
        <p:spPr>
          <a:xfrm rot="0">
            <a:off x="10482903" y="1896359"/>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Quan sát phân bố dữ liệu</a:t>
            </a:r>
          </a:p>
        </p:txBody>
      </p:sp>
      <p:sp>
        <p:nvSpPr>
          <p:cNvPr name="TextBox 15" id="15"/>
          <p:cNvSpPr txBox="true"/>
          <p:nvPr/>
        </p:nvSpPr>
        <p:spPr>
          <a:xfrm rot="0">
            <a:off x="10482903" y="4244914"/>
            <a:ext cx="6776397" cy="727748"/>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Vì đầu ra là giá trị số liên tục (Performance Index), bài toán thuộc loại Regression, không phải Classification.</a:t>
            </a:r>
          </a:p>
        </p:txBody>
      </p:sp>
      <p:sp>
        <p:nvSpPr>
          <p:cNvPr name="TextBox 16" id="16"/>
          <p:cNvSpPr txBox="true"/>
          <p:nvPr/>
        </p:nvSpPr>
        <p:spPr>
          <a:xfrm rot="0">
            <a:off x="10482903" y="3853724"/>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Phù hợp bài toán Regression</a:t>
            </a:r>
          </a:p>
        </p:txBody>
      </p:sp>
      <p:sp>
        <p:nvSpPr>
          <p:cNvPr name="TextBox 17" id="17"/>
          <p:cNvSpPr txBox="true"/>
          <p:nvPr/>
        </p:nvSpPr>
        <p:spPr>
          <a:xfrm rot="0">
            <a:off x="10482903" y="6202015"/>
            <a:ext cx="6776397" cy="727748"/>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Quan sát phạm vi giá trị, kiểm tra phân bố lệch hay cân đối, phát hiện bất thường sơ bộ trước khi mô hình hóa.</a:t>
            </a:r>
          </a:p>
        </p:txBody>
      </p:sp>
      <p:sp>
        <p:nvSpPr>
          <p:cNvPr name="TextBox 18" id="18"/>
          <p:cNvSpPr txBox="true"/>
          <p:nvPr/>
        </p:nvSpPr>
        <p:spPr>
          <a:xfrm rot="0">
            <a:off x="10482903" y="5810824"/>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Kiểm tra phạm vi và hình dạng</a:t>
            </a:r>
          </a:p>
        </p:txBody>
      </p:sp>
      <p:sp>
        <p:nvSpPr>
          <p:cNvPr name="TextBox 19" id="19"/>
          <p:cNvSpPr txBox="true"/>
          <p:nvPr/>
        </p:nvSpPr>
        <p:spPr>
          <a:xfrm rot="0">
            <a:off x="10482903" y="8159115"/>
            <a:ext cx="6776397" cy="727748"/>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Giữ nguyên Performance Index làm biến mục tiêu. Không cần biến đổi thêm ở bước này.</a:t>
            </a:r>
          </a:p>
        </p:txBody>
      </p:sp>
      <p:sp>
        <p:nvSpPr>
          <p:cNvPr name="TextBox 20" id="20"/>
          <p:cNvSpPr txBox="true"/>
          <p:nvPr/>
        </p:nvSpPr>
        <p:spPr>
          <a:xfrm rot="0">
            <a:off x="10482903" y="7767925"/>
            <a:ext cx="538924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Quyết định xử lý</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9440480" y="2237391"/>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440480" y="4043923"/>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440480" y="6001023"/>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6932531" y="7364068"/>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5">
              <a:extLst>
                <a:ext uri="{96DAC541-7B7A-43D3-8B79-37D633B846F1}">
                  <asvg:svgBlip xmlns:asvg="http://schemas.microsoft.com/office/drawing/2016/SVG/main" r:embed="rId6"/>
                </a:ext>
              </a:extLst>
            </a:blip>
            <a:stretch>
              <a:fillRect l="0" t="0" r="-116058" b="-123249"/>
            </a:stretch>
          </a:blipFill>
        </p:spPr>
      </p:sp>
      <p:sp>
        <p:nvSpPr>
          <p:cNvPr name="Freeform 7" id="7"/>
          <p:cNvSpPr/>
          <p:nvPr/>
        </p:nvSpPr>
        <p:spPr>
          <a:xfrm flipH="false" flipV="false" rot="0">
            <a:off x="6928219"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5">
              <a:extLst>
                <a:ext uri="{96DAC541-7B7A-43D3-8B79-37D633B846F1}">
                  <asvg:svgBlip xmlns:asvg="http://schemas.microsoft.com/office/drawing/2016/SVG/main" r:embed="rId6"/>
                </a:ext>
              </a:extLst>
            </a:blip>
            <a:stretch>
              <a:fillRect l="0" t="0" r="-116058" b="-123249"/>
            </a:stretch>
          </a:blipFill>
        </p:spPr>
      </p:sp>
      <p:sp>
        <p:nvSpPr>
          <p:cNvPr name="Freeform 8" id="8"/>
          <p:cNvSpPr/>
          <p:nvPr/>
        </p:nvSpPr>
        <p:spPr>
          <a:xfrm flipH="false" flipV="false" rot="0">
            <a:off x="127112" y="5456000"/>
            <a:ext cx="9150915" cy="4471131"/>
          </a:xfrm>
          <a:custGeom>
            <a:avLst/>
            <a:gdLst/>
            <a:ahLst/>
            <a:cxnLst/>
            <a:rect r="r" b="b" t="t" l="l"/>
            <a:pathLst>
              <a:path h="4471131" w="9150915">
                <a:moveTo>
                  <a:pt x="0" y="0"/>
                </a:moveTo>
                <a:lnTo>
                  <a:pt x="9150916" y="0"/>
                </a:lnTo>
                <a:lnTo>
                  <a:pt x="9150916" y="4471131"/>
                </a:lnTo>
                <a:lnTo>
                  <a:pt x="0" y="4471131"/>
                </a:lnTo>
                <a:lnTo>
                  <a:pt x="0" y="0"/>
                </a:lnTo>
                <a:close/>
              </a:path>
            </a:pathLst>
          </a:custGeom>
          <a:blipFill>
            <a:blip r:embed="rId7"/>
            <a:stretch>
              <a:fillRect l="0" t="0" r="0" b="0"/>
            </a:stretch>
          </a:blipFill>
        </p:spPr>
      </p:sp>
      <p:sp>
        <p:nvSpPr>
          <p:cNvPr name="TextBox 9" id="9"/>
          <p:cNvSpPr txBox="true"/>
          <p:nvPr/>
        </p:nvSpPr>
        <p:spPr>
          <a:xfrm rot="0">
            <a:off x="1028700" y="1345709"/>
            <a:ext cx="5564307" cy="804070"/>
          </a:xfrm>
          <a:prstGeom prst="rect">
            <a:avLst/>
          </a:prstGeom>
        </p:spPr>
        <p:txBody>
          <a:bodyPr anchor="t" rtlCol="false" tIns="0" lIns="0" bIns="0" rIns="0">
            <a:spAutoFit/>
          </a:bodyPr>
          <a:lstStyle/>
          <a:p>
            <a:pPr algn="l" marL="0" indent="0" lvl="0">
              <a:lnSpc>
                <a:spcPts val="6492"/>
              </a:lnSpc>
            </a:pPr>
            <a:r>
              <a:rPr lang="en-US" sz="4994">
                <a:solidFill>
                  <a:srgbClr val="141414"/>
                </a:solidFill>
                <a:latin typeface="Pattanakarn SemiExpanded Light"/>
                <a:ea typeface="Pattanakarn SemiExpanded Light"/>
                <a:cs typeface="Pattanakarn SemiExpanded Light"/>
                <a:sym typeface="Pattanakarn SemiExpanded Light"/>
              </a:rPr>
              <a:t>EDA 2</a:t>
            </a:r>
          </a:p>
        </p:txBody>
      </p:sp>
      <p:sp>
        <p:nvSpPr>
          <p:cNvPr name="TextBox 10" id="10"/>
          <p:cNvSpPr txBox="true"/>
          <p:nvPr/>
        </p:nvSpPr>
        <p:spPr>
          <a:xfrm rot="0">
            <a:off x="1028700" y="2104753"/>
            <a:ext cx="7347740" cy="1623944"/>
          </a:xfrm>
          <a:prstGeom prst="rect">
            <a:avLst/>
          </a:prstGeom>
        </p:spPr>
        <p:txBody>
          <a:bodyPr anchor="t" rtlCol="false" tIns="0" lIns="0" bIns="0" rIns="0">
            <a:spAutoFit/>
          </a:bodyPr>
          <a:lstStyle/>
          <a:p>
            <a:pPr algn="l" marL="0" indent="0" lvl="0">
              <a:lnSpc>
                <a:spcPts val="6492"/>
              </a:lnSpc>
            </a:pPr>
            <a:r>
              <a:rPr lang="en-US" b="true" sz="4994">
                <a:solidFill>
                  <a:srgbClr val="141414"/>
                </a:solidFill>
                <a:latin typeface="Pattanakarn SemiExpanded Medium"/>
                <a:ea typeface="Pattanakarn SemiExpanded Medium"/>
                <a:cs typeface="Pattanakarn SemiExpanded Medium"/>
                <a:sym typeface="Pattanakarn SemiExpanded Medium"/>
              </a:rPr>
              <a:t>KIỂM TRA DỮ LIỆU KHUYẾT THIẾU</a:t>
            </a:r>
          </a:p>
        </p:txBody>
      </p:sp>
      <p:sp>
        <p:nvSpPr>
          <p:cNvPr name="TextBox 11" id="11"/>
          <p:cNvSpPr txBox="true"/>
          <p:nvPr/>
        </p:nvSpPr>
        <p:spPr>
          <a:xfrm rot="0">
            <a:off x="10482903" y="2279634"/>
            <a:ext cx="6776397" cy="1099223"/>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Dataset không có giá trị khuyết thiếu (missing values = 0 trên tất cả 6 cột). Dữ liệu đầy đủ và sạch về mặt khuyết thiếu.</a:t>
            </a:r>
          </a:p>
        </p:txBody>
      </p:sp>
      <p:sp>
        <p:nvSpPr>
          <p:cNvPr name="TextBox 12" id="12"/>
          <p:cNvSpPr txBox="true"/>
          <p:nvPr/>
        </p:nvSpPr>
        <p:spPr>
          <a:xfrm rot="0">
            <a:off x="10482903" y="1888444"/>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Kết quả kiểm tra</a:t>
            </a:r>
          </a:p>
        </p:txBody>
      </p:sp>
      <p:sp>
        <p:nvSpPr>
          <p:cNvPr name="TextBox 13" id="13"/>
          <p:cNvSpPr txBox="true"/>
          <p:nvPr/>
        </p:nvSpPr>
        <p:spPr>
          <a:xfrm rot="0">
            <a:off x="10482903" y="4086165"/>
            <a:ext cx="6776397" cy="727748"/>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Không phát hiện bất kỳ ô trống hoặc giá trị NaN nào trong toàn bộ 10.000 dòng dữ liệu ban đầu.</a:t>
            </a:r>
          </a:p>
        </p:txBody>
      </p:sp>
      <p:sp>
        <p:nvSpPr>
          <p:cNvPr name="TextBox 14" id="14"/>
          <p:cNvSpPr txBox="true"/>
          <p:nvPr/>
        </p:nvSpPr>
        <p:spPr>
          <a:xfrm rot="0">
            <a:off x="10482903" y="3694975"/>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Nhận xét</a:t>
            </a:r>
          </a:p>
        </p:txBody>
      </p:sp>
      <p:sp>
        <p:nvSpPr>
          <p:cNvPr name="TextBox 15" id="15"/>
          <p:cNvSpPr txBox="true"/>
          <p:nvPr/>
        </p:nvSpPr>
        <p:spPr>
          <a:xfrm rot="0">
            <a:off x="10482903" y="6043265"/>
            <a:ext cx="6776397" cy="1099223"/>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Không cần thực hiện bước điền hoặc thay thế dữ liệu khuyết thiếu. Tiến hành trực tiếp sang bước phân tích tiếp theo.</a:t>
            </a:r>
          </a:p>
        </p:txBody>
      </p:sp>
      <p:sp>
        <p:nvSpPr>
          <p:cNvPr name="TextBox 16" id="16"/>
          <p:cNvSpPr txBox="true"/>
          <p:nvPr/>
        </p:nvSpPr>
        <p:spPr>
          <a:xfrm rot="0">
            <a:off x="10482903" y="5652075"/>
            <a:ext cx="538924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Quyết định xử lý</a:t>
            </a:r>
          </a:p>
        </p:txBody>
      </p:sp>
      <p:sp>
        <p:nvSpPr>
          <p:cNvPr name="TextBox 17" id="17"/>
          <p:cNvSpPr txBox="true"/>
          <p:nvPr/>
        </p:nvSpPr>
        <p:spPr>
          <a:xfrm rot="0">
            <a:off x="1028700" y="4021020"/>
            <a:ext cx="7347740" cy="815383"/>
          </a:xfrm>
          <a:prstGeom prst="rect">
            <a:avLst/>
          </a:prstGeom>
        </p:spPr>
        <p:txBody>
          <a:bodyPr anchor="t" rtlCol="false" tIns="0" lIns="0" bIns="0" rIns="0">
            <a:spAutoFit/>
          </a:bodyPr>
          <a:lstStyle/>
          <a:p>
            <a:pPr algn="l" marL="0" indent="0" lvl="0">
              <a:lnSpc>
                <a:spcPts val="3357"/>
              </a:lnSpc>
            </a:pPr>
            <a:r>
              <a:rPr lang="en-US" sz="2398">
                <a:solidFill>
                  <a:srgbClr val="141414"/>
                </a:solidFill>
                <a:latin typeface="Proxima Nova Light"/>
                <a:ea typeface="Proxima Nova Light"/>
                <a:cs typeface="Proxima Nova Light"/>
                <a:sym typeface="Proxima Nova Light"/>
              </a:rPr>
              <a:t>Phân tích tình trạng dữ liệu khuyết thiếu trong dataset Student Performance trước khi huấn luyện mô hình.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2187808" y="7787640"/>
            <a:ext cx="5071492" cy="1071485"/>
          </a:xfrm>
          <a:prstGeom prst="rect">
            <a:avLst/>
          </a:prstGeom>
        </p:spPr>
        <p:txBody>
          <a:bodyPr anchor="t" rtlCol="false" tIns="0" lIns="0" bIns="0" rIns="0">
            <a:spAutoFit/>
          </a:bodyPr>
          <a:lstStyle/>
          <a:p>
            <a:pPr algn="l" marL="0" indent="0" lvl="0">
              <a:lnSpc>
                <a:spcPts val="2891"/>
              </a:lnSpc>
            </a:pPr>
            <a:r>
              <a:rPr lang="en-US" sz="2065">
                <a:solidFill>
                  <a:srgbClr val="FFFFFF"/>
                </a:solidFill>
                <a:latin typeface="Proxima Nova Light"/>
                <a:ea typeface="Proxima Nova Light"/>
                <a:cs typeface="Proxima Nova Light"/>
                <a:sym typeface="Proxima Nova Light"/>
              </a:rPr>
              <a:t>Ghi nhận đặc điểm phân bố để lựa chọn tiền xử lý phù hợp. Không loại dữ liệu tùy tiện – giữ lại để đảm bảo tính toàn vẹn.</a:t>
            </a:r>
          </a:p>
        </p:txBody>
      </p:sp>
      <p:sp>
        <p:nvSpPr>
          <p:cNvPr name="TextBox 3" id="3"/>
          <p:cNvSpPr txBox="true"/>
          <p:nvPr/>
        </p:nvSpPr>
        <p:spPr>
          <a:xfrm rot="0">
            <a:off x="12184571" y="6999176"/>
            <a:ext cx="5071492" cy="314325"/>
          </a:xfrm>
          <a:prstGeom prst="rect">
            <a:avLst/>
          </a:prstGeom>
        </p:spPr>
        <p:txBody>
          <a:bodyPr anchor="t" rtlCol="false" tIns="0" lIns="0" bIns="0" rIns="0">
            <a:spAutoFit/>
          </a:bodyPr>
          <a:lstStyle/>
          <a:p>
            <a:pPr algn="l" marL="0" indent="0" lvl="0">
              <a:lnSpc>
                <a:spcPts val="2478"/>
              </a:lnSpc>
            </a:pPr>
            <a:r>
              <a:rPr lang="en-US" b="true" sz="2065" i="true">
                <a:solidFill>
                  <a:srgbClr val="F8F7F6"/>
                </a:solidFill>
                <a:latin typeface="Proxima Nova Bold Italics"/>
                <a:ea typeface="Proxima Nova Bold Italics"/>
                <a:cs typeface="Proxima Nova Bold Italics"/>
                <a:sym typeface="Proxima Nova Bold Italics"/>
              </a:rPr>
              <a:t>Quyết Định Xử Lý</a:t>
            </a:r>
          </a:p>
        </p:txBody>
      </p:sp>
      <p:grpSp>
        <p:nvGrpSpPr>
          <p:cNvPr name="Group 4" id="4"/>
          <p:cNvGrpSpPr/>
          <p:nvPr/>
        </p:nvGrpSpPr>
        <p:grpSpPr>
          <a:xfrm rot="0">
            <a:off x="1028700" y="5751905"/>
            <a:ext cx="6793539" cy="167878"/>
            <a:chOff x="0" y="0"/>
            <a:chExt cx="9058052" cy="223837"/>
          </a:xfrm>
        </p:grpSpPr>
        <p:grpSp>
          <p:nvGrpSpPr>
            <p:cNvPr name="Group 5" id="5"/>
            <p:cNvGrpSpPr/>
            <p:nvPr/>
          </p:nvGrpSpPr>
          <p:grpSpPr>
            <a:xfrm rot="0">
              <a:off x="0" y="0"/>
              <a:ext cx="1674460" cy="223837"/>
              <a:chOff x="0" y="0"/>
              <a:chExt cx="330758" cy="44215"/>
            </a:xfrm>
          </p:grpSpPr>
          <p:sp>
            <p:nvSpPr>
              <p:cNvPr name="Freeform 6" id="6"/>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F8F7F6"/>
              </a:solidFill>
            </p:spPr>
          </p:sp>
          <p:sp>
            <p:nvSpPr>
              <p:cNvPr name="TextBox 7" id="7"/>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8" id="8"/>
            <p:cNvSpPr/>
            <p:nvPr/>
          </p:nvSpPr>
          <p:spPr>
            <a:xfrm flipV="true">
              <a:off x="0" y="198437"/>
              <a:ext cx="9058052" cy="0"/>
            </a:xfrm>
            <a:prstGeom prst="line">
              <a:avLst/>
            </a:prstGeom>
            <a:ln cap="flat" w="50800">
              <a:solidFill>
                <a:srgbClr val="F8F7F6"/>
              </a:solidFill>
              <a:prstDash val="solid"/>
              <a:headEnd type="none" len="sm" w="sm"/>
              <a:tailEnd type="none" len="sm" w="sm"/>
            </a:ln>
          </p:spPr>
        </p:sp>
      </p:grpSp>
      <p:sp>
        <p:nvSpPr>
          <p:cNvPr name="Freeform 9" id="9"/>
          <p:cNvSpPr/>
          <p:nvPr/>
        </p:nvSpPr>
        <p:spPr>
          <a:xfrm flipH="false" flipV="false" rot="0">
            <a:off x="12143163"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2">
              <a:extLst>
                <a:ext uri="{96DAC541-7B7A-43D3-8B79-37D633B846F1}">
                  <asvg:svgBlip xmlns:asvg="http://schemas.microsoft.com/office/drawing/2016/SVG/main" r:embed="rId3"/>
                </a:ext>
              </a:extLst>
            </a:blip>
            <a:stretch>
              <a:fillRect l="0" t="0" r="-116058" b="-123249"/>
            </a:stretch>
          </a:blipFill>
        </p:spPr>
      </p:sp>
      <p:sp>
        <p:nvSpPr>
          <p:cNvPr name="Freeform 10" id="10"/>
          <p:cNvSpPr/>
          <p:nvPr/>
        </p:nvSpPr>
        <p:spPr>
          <a:xfrm flipH="false" flipV="false" rot="0">
            <a:off x="225483" y="9496425"/>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2">
              <a:extLst>
                <a:ext uri="{96DAC541-7B7A-43D3-8B79-37D633B846F1}">
                  <asvg:svgBlip xmlns:asvg="http://schemas.microsoft.com/office/drawing/2016/SVG/main" r:embed="rId3"/>
                </a:ext>
              </a:extLst>
            </a:blip>
            <a:stretch>
              <a:fillRect l="0" t="0" r="-116058" b="-123249"/>
            </a:stretch>
          </a:blipFill>
        </p:spPr>
      </p:sp>
      <p:sp>
        <p:nvSpPr>
          <p:cNvPr name="Freeform 11" id="11"/>
          <p:cNvSpPr/>
          <p:nvPr/>
        </p:nvSpPr>
        <p:spPr>
          <a:xfrm flipH="false" flipV="false" rot="0">
            <a:off x="9211336" y="0"/>
            <a:ext cx="9076664" cy="5425302"/>
          </a:xfrm>
          <a:custGeom>
            <a:avLst/>
            <a:gdLst/>
            <a:ahLst/>
            <a:cxnLst/>
            <a:rect r="r" b="b" t="t" l="l"/>
            <a:pathLst>
              <a:path h="5425302" w="9076664">
                <a:moveTo>
                  <a:pt x="0" y="0"/>
                </a:moveTo>
                <a:lnTo>
                  <a:pt x="9076664" y="0"/>
                </a:lnTo>
                <a:lnTo>
                  <a:pt x="9076664" y="5425302"/>
                </a:lnTo>
                <a:lnTo>
                  <a:pt x="0" y="5425302"/>
                </a:lnTo>
                <a:lnTo>
                  <a:pt x="0" y="0"/>
                </a:lnTo>
                <a:close/>
              </a:path>
            </a:pathLst>
          </a:custGeom>
          <a:blipFill>
            <a:blip r:embed="rId4"/>
            <a:stretch>
              <a:fillRect l="0" t="0" r="0" b="0"/>
            </a:stretch>
          </a:blipFill>
        </p:spPr>
      </p:sp>
      <p:sp>
        <p:nvSpPr>
          <p:cNvPr name="TextBox 12" id="12"/>
          <p:cNvSpPr txBox="true"/>
          <p:nvPr/>
        </p:nvSpPr>
        <p:spPr>
          <a:xfrm rot="0">
            <a:off x="1028700" y="2100146"/>
            <a:ext cx="6207245" cy="804070"/>
          </a:xfrm>
          <a:prstGeom prst="rect">
            <a:avLst/>
          </a:prstGeom>
        </p:spPr>
        <p:txBody>
          <a:bodyPr anchor="t" rtlCol="false" tIns="0" lIns="0" bIns="0" rIns="0">
            <a:spAutoFit/>
          </a:bodyPr>
          <a:lstStyle/>
          <a:p>
            <a:pPr algn="l" marL="0" indent="0" lvl="0">
              <a:lnSpc>
                <a:spcPts val="6492"/>
              </a:lnSpc>
            </a:pPr>
            <a:r>
              <a:rPr lang="en-US" sz="4994">
                <a:solidFill>
                  <a:srgbClr val="F8F7F6"/>
                </a:solidFill>
                <a:latin typeface="Pattanakarn SemiExpanded Light"/>
                <a:ea typeface="Pattanakarn SemiExpanded Light"/>
                <a:cs typeface="Pattanakarn SemiExpanded Light"/>
                <a:sym typeface="Pattanakarn SemiExpanded Light"/>
              </a:rPr>
              <a:t>EDA 3 –</a:t>
            </a:r>
          </a:p>
        </p:txBody>
      </p:sp>
      <p:sp>
        <p:nvSpPr>
          <p:cNvPr name="TextBox 13" id="13"/>
          <p:cNvSpPr txBox="true"/>
          <p:nvPr/>
        </p:nvSpPr>
        <p:spPr>
          <a:xfrm rot="0">
            <a:off x="1028700" y="3676420"/>
            <a:ext cx="6207245" cy="1623944"/>
          </a:xfrm>
          <a:prstGeom prst="rect">
            <a:avLst/>
          </a:prstGeom>
        </p:spPr>
        <p:txBody>
          <a:bodyPr anchor="t" rtlCol="false" tIns="0" lIns="0" bIns="0" rIns="0">
            <a:spAutoFit/>
          </a:bodyPr>
          <a:lstStyle/>
          <a:p>
            <a:pPr algn="l" marL="0" indent="0" lvl="0">
              <a:lnSpc>
                <a:spcPts val="6492"/>
              </a:lnSpc>
            </a:pPr>
            <a:r>
              <a:rPr lang="en-US" b="true" sz="4994">
                <a:solidFill>
                  <a:srgbClr val="F8F7F6"/>
                </a:solidFill>
                <a:latin typeface="Pattanakarn SemiExpanded Medium"/>
                <a:ea typeface="Pattanakarn SemiExpanded Medium"/>
                <a:cs typeface="Pattanakarn SemiExpanded Medium"/>
                <a:sym typeface="Pattanakarn SemiExpanded Medium"/>
              </a:rPr>
              <a:t>PHÂN BỐ VÀ GIÁ TRỊ NGOẠI LAI</a:t>
            </a:r>
          </a:p>
        </p:txBody>
      </p:sp>
      <p:sp>
        <p:nvSpPr>
          <p:cNvPr name="TextBox 14" id="14"/>
          <p:cNvSpPr txBox="true"/>
          <p:nvPr/>
        </p:nvSpPr>
        <p:spPr>
          <a:xfrm rot="0">
            <a:off x="1028700" y="7787640"/>
            <a:ext cx="5071492" cy="1433435"/>
          </a:xfrm>
          <a:prstGeom prst="rect">
            <a:avLst/>
          </a:prstGeom>
        </p:spPr>
        <p:txBody>
          <a:bodyPr anchor="t" rtlCol="false" tIns="0" lIns="0" bIns="0" rIns="0">
            <a:spAutoFit/>
          </a:bodyPr>
          <a:lstStyle/>
          <a:p>
            <a:pPr algn="l" marL="0" indent="0" lvl="0">
              <a:lnSpc>
                <a:spcPts val="2891"/>
              </a:lnSpc>
            </a:pPr>
            <a:r>
              <a:rPr lang="en-US" sz="2065">
                <a:solidFill>
                  <a:srgbClr val="FFFFFF"/>
                </a:solidFill>
                <a:latin typeface="Proxima Nova Light"/>
                <a:ea typeface="Proxima Nova Light"/>
                <a:cs typeface="Proxima Nova Light"/>
                <a:sym typeface="Proxima Nova Light"/>
              </a:rPr>
              <a:t>Quan sát phân bố các biến: Hours Studied, Previous Scores, Sleep Hours, Sample Question Papers Practiced và Performance Index. Kiểm tra hình dạng và phạm vi dữ liệu.</a:t>
            </a:r>
          </a:p>
        </p:txBody>
      </p:sp>
      <p:sp>
        <p:nvSpPr>
          <p:cNvPr name="TextBox 15" id="15"/>
          <p:cNvSpPr txBox="true"/>
          <p:nvPr/>
        </p:nvSpPr>
        <p:spPr>
          <a:xfrm rot="0">
            <a:off x="6610196" y="7787640"/>
            <a:ext cx="5071492" cy="1433435"/>
          </a:xfrm>
          <a:prstGeom prst="rect">
            <a:avLst/>
          </a:prstGeom>
        </p:spPr>
        <p:txBody>
          <a:bodyPr anchor="t" rtlCol="false" tIns="0" lIns="0" bIns="0" rIns="0">
            <a:spAutoFit/>
          </a:bodyPr>
          <a:lstStyle/>
          <a:p>
            <a:pPr algn="l" marL="0" indent="0" lvl="0">
              <a:lnSpc>
                <a:spcPts val="2891"/>
              </a:lnSpc>
            </a:pPr>
            <a:r>
              <a:rPr lang="en-US" sz="2065">
                <a:solidFill>
                  <a:srgbClr val="FFFFFF"/>
                </a:solidFill>
                <a:latin typeface="Proxima Nova Light"/>
                <a:ea typeface="Proxima Nova Light"/>
                <a:cs typeface="Proxima Nova Light"/>
                <a:sym typeface="Proxima Nova Light"/>
              </a:rPr>
              <a:t>Sử dụng boxplot để phát hiện giá trị bất thường. Một số biến có điểm ngoại lai nhưng không ảnh hưởng nghiêm trọng đến phân bố tổng thể.</a:t>
            </a:r>
          </a:p>
        </p:txBody>
      </p:sp>
      <p:sp>
        <p:nvSpPr>
          <p:cNvPr name="TextBox 16" id="16"/>
          <p:cNvSpPr txBox="true"/>
          <p:nvPr/>
        </p:nvSpPr>
        <p:spPr>
          <a:xfrm rot="0">
            <a:off x="1028700" y="6999176"/>
            <a:ext cx="5071492" cy="314325"/>
          </a:xfrm>
          <a:prstGeom prst="rect">
            <a:avLst/>
          </a:prstGeom>
        </p:spPr>
        <p:txBody>
          <a:bodyPr anchor="t" rtlCol="false" tIns="0" lIns="0" bIns="0" rIns="0">
            <a:spAutoFit/>
          </a:bodyPr>
          <a:lstStyle/>
          <a:p>
            <a:pPr algn="l" marL="0" indent="0" lvl="0">
              <a:lnSpc>
                <a:spcPts val="2478"/>
              </a:lnSpc>
            </a:pPr>
            <a:r>
              <a:rPr lang="en-US" b="true" sz="2065" i="true">
                <a:solidFill>
                  <a:srgbClr val="F8F7F6"/>
                </a:solidFill>
                <a:latin typeface="Proxima Nova Bold Italics"/>
                <a:ea typeface="Proxima Nova Bold Italics"/>
                <a:cs typeface="Proxima Nova Bold Italics"/>
                <a:sym typeface="Proxima Nova Bold Italics"/>
              </a:rPr>
              <a:t>Phân Bố Các Biến Số</a:t>
            </a:r>
          </a:p>
        </p:txBody>
      </p:sp>
      <p:sp>
        <p:nvSpPr>
          <p:cNvPr name="TextBox 17" id="17"/>
          <p:cNvSpPr txBox="true"/>
          <p:nvPr/>
        </p:nvSpPr>
        <p:spPr>
          <a:xfrm rot="0">
            <a:off x="6608254" y="6999176"/>
            <a:ext cx="5071492" cy="314325"/>
          </a:xfrm>
          <a:prstGeom prst="rect">
            <a:avLst/>
          </a:prstGeom>
        </p:spPr>
        <p:txBody>
          <a:bodyPr anchor="t" rtlCol="false" tIns="0" lIns="0" bIns="0" rIns="0">
            <a:spAutoFit/>
          </a:bodyPr>
          <a:lstStyle/>
          <a:p>
            <a:pPr algn="l" marL="0" indent="0" lvl="0">
              <a:lnSpc>
                <a:spcPts val="2478"/>
              </a:lnSpc>
            </a:pPr>
            <a:r>
              <a:rPr lang="en-US" b="true" sz="2065" i="true">
                <a:solidFill>
                  <a:srgbClr val="F8F7F6"/>
                </a:solidFill>
                <a:latin typeface="Proxima Nova Bold Italics"/>
                <a:ea typeface="Proxima Nova Bold Italics"/>
                <a:cs typeface="Proxima Nova Bold Italics"/>
                <a:sym typeface="Proxima Nova Bold Italics"/>
              </a:rPr>
              <a:t>Phát Hiện Giá Trị Ngoại Lai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2187808" y="7787640"/>
            <a:ext cx="5071492" cy="1099223"/>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5 đặc trưng: Hours Studied, Previous Scores, Extracurricular Activities, Sleep Hours, Sample Question Papers Practiced.</a:t>
            </a:r>
          </a:p>
        </p:txBody>
      </p:sp>
      <p:sp>
        <p:nvSpPr>
          <p:cNvPr name="TextBox 3" id="3"/>
          <p:cNvSpPr txBox="true"/>
          <p:nvPr/>
        </p:nvSpPr>
        <p:spPr>
          <a:xfrm rot="0">
            <a:off x="12184571" y="6999176"/>
            <a:ext cx="5071492"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Đặc trưng đầu vào</a:t>
            </a:r>
          </a:p>
        </p:txBody>
      </p:sp>
      <p:grpSp>
        <p:nvGrpSpPr>
          <p:cNvPr name="Group 4" id="4"/>
          <p:cNvGrpSpPr/>
          <p:nvPr/>
        </p:nvGrpSpPr>
        <p:grpSpPr>
          <a:xfrm rot="0">
            <a:off x="1028700" y="5751905"/>
            <a:ext cx="6793539" cy="167878"/>
            <a:chOff x="0" y="0"/>
            <a:chExt cx="9058052" cy="223837"/>
          </a:xfrm>
        </p:grpSpPr>
        <p:grpSp>
          <p:nvGrpSpPr>
            <p:cNvPr name="Group 5" id="5"/>
            <p:cNvGrpSpPr/>
            <p:nvPr/>
          </p:nvGrpSpPr>
          <p:grpSpPr>
            <a:xfrm rot="0">
              <a:off x="0" y="0"/>
              <a:ext cx="1674460" cy="223837"/>
              <a:chOff x="0" y="0"/>
              <a:chExt cx="330758" cy="44215"/>
            </a:xfrm>
          </p:grpSpPr>
          <p:sp>
            <p:nvSpPr>
              <p:cNvPr name="Freeform 6" id="6"/>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F8F7F6"/>
              </a:solidFill>
            </p:spPr>
          </p:sp>
          <p:sp>
            <p:nvSpPr>
              <p:cNvPr name="TextBox 7" id="7"/>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8" id="8"/>
            <p:cNvSpPr/>
            <p:nvPr/>
          </p:nvSpPr>
          <p:spPr>
            <a:xfrm flipV="true">
              <a:off x="0" y="198437"/>
              <a:ext cx="9058052" cy="0"/>
            </a:xfrm>
            <a:prstGeom prst="line">
              <a:avLst/>
            </a:prstGeom>
            <a:ln cap="flat" w="50800">
              <a:solidFill>
                <a:srgbClr val="F8F7F6"/>
              </a:solidFill>
              <a:prstDash val="solid"/>
              <a:headEnd type="none" len="sm" w="sm"/>
              <a:tailEnd type="none" len="sm" w="sm"/>
            </a:ln>
          </p:spPr>
        </p:sp>
      </p:grpSp>
      <p:sp>
        <p:nvSpPr>
          <p:cNvPr name="Freeform 9" id="9"/>
          <p:cNvSpPr/>
          <p:nvPr/>
        </p:nvSpPr>
        <p:spPr>
          <a:xfrm flipH="false" flipV="false" rot="0">
            <a:off x="225483" y="9496425"/>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2">
              <a:extLst>
                <a:ext uri="{96DAC541-7B7A-43D3-8B79-37D633B846F1}">
                  <asvg:svgBlip xmlns:asvg="http://schemas.microsoft.com/office/drawing/2016/SVG/main" r:embed="rId3"/>
                </a:ext>
              </a:extLst>
            </a:blip>
            <a:stretch>
              <a:fillRect l="0" t="0" r="-116058" b="-123249"/>
            </a:stretch>
          </a:blipFill>
        </p:spPr>
      </p:sp>
      <p:sp>
        <p:nvSpPr>
          <p:cNvPr name="Freeform 10" id="10"/>
          <p:cNvSpPr/>
          <p:nvPr/>
        </p:nvSpPr>
        <p:spPr>
          <a:xfrm flipH="false" flipV="false" rot="0">
            <a:off x="10879562" y="62706"/>
            <a:ext cx="7408438" cy="5683020"/>
          </a:xfrm>
          <a:custGeom>
            <a:avLst/>
            <a:gdLst/>
            <a:ahLst/>
            <a:cxnLst/>
            <a:rect r="r" b="b" t="t" l="l"/>
            <a:pathLst>
              <a:path h="5683020" w="7408438">
                <a:moveTo>
                  <a:pt x="0" y="0"/>
                </a:moveTo>
                <a:lnTo>
                  <a:pt x="7408438" y="0"/>
                </a:lnTo>
                <a:lnTo>
                  <a:pt x="7408438" y="5683019"/>
                </a:lnTo>
                <a:lnTo>
                  <a:pt x="0" y="5683019"/>
                </a:lnTo>
                <a:lnTo>
                  <a:pt x="0" y="0"/>
                </a:lnTo>
                <a:close/>
              </a:path>
            </a:pathLst>
          </a:custGeom>
          <a:blipFill>
            <a:blip r:embed="rId4"/>
            <a:stretch>
              <a:fillRect l="0" t="0" r="0" b="0"/>
            </a:stretch>
          </a:blipFill>
        </p:spPr>
      </p:sp>
      <p:sp>
        <p:nvSpPr>
          <p:cNvPr name="TextBox 11" id="11"/>
          <p:cNvSpPr txBox="true"/>
          <p:nvPr/>
        </p:nvSpPr>
        <p:spPr>
          <a:xfrm rot="0">
            <a:off x="1028700" y="2100146"/>
            <a:ext cx="6207245" cy="804070"/>
          </a:xfrm>
          <a:prstGeom prst="rect">
            <a:avLst/>
          </a:prstGeom>
        </p:spPr>
        <p:txBody>
          <a:bodyPr anchor="t" rtlCol="false" tIns="0" lIns="0" bIns="0" rIns="0">
            <a:spAutoFit/>
          </a:bodyPr>
          <a:lstStyle/>
          <a:p>
            <a:pPr algn="l" marL="0" indent="0" lvl="0">
              <a:lnSpc>
                <a:spcPts val="6492"/>
              </a:lnSpc>
            </a:pPr>
            <a:r>
              <a:rPr lang="en-US" sz="4994">
                <a:solidFill>
                  <a:srgbClr val="F8F7F6"/>
                </a:solidFill>
                <a:latin typeface="Pattanakarn SemiExpanded Light"/>
                <a:ea typeface="Pattanakarn SemiExpanded Light"/>
                <a:cs typeface="Pattanakarn SemiExpanded Light"/>
                <a:sym typeface="Pattanakarn SemiExpanded Light"/>
              </a:rPr>
              <a:t>EDA 4 –</a:t>
            </a:r>
          </a:p>
        </p:txBody>
      </p:sp>
      <p:sp>
        <p:nvSpPr>
          <p:cNvPr name="TextBox 12" id="12"/>
          <p:cNvSpPr txBox="true"/>
          <p:nvPr/>
        </p:nvSpPr>
        <p:spPr>
          <a:xfrm rot="0">
            <a:off x="1028700" y="3676420"/>
            <a:ext cx="6207245" cy="1623944"/>
          </a:xfrm>
          <a:prstGeom prst="rect">
            <a:avLst/>
          </a:prstGeom>
        </p:spPr>
        <p:txBody>
          <a:bodyPr anchor="t" rtlCol="false" tIns="0" lIns="0" bIns="0" rIns="0">
            <a:spAutoFit/>
          </a:bodyPr>
          <a:lstStyle/>
          <a:p>
            <a:pPr algn="l" marL="0" indent="0" lvl="0">
              <a:lnSpc>
                <a:spcPts val="6492"/>
              </a:lnSpc>
            </a:pPr>
            <a:r>
              <a:rPr lang="en-US" b="true" sz="4994">
                <a:solidFill>
                  <a:srgbClr val="F8F7F6"/>
                </a:solidFill>
                <a:latin typeface="Pattanakarn SemiExpanded Medium"/>
                <a:ea typeface="Pattanakarn SemiExpanded Medium"/>
                <a:cs typeface="Pattanakarn SemiExpanded Medium"/>
                <a:sym typeface="Pattanakarn SemiExpanded Medium"/>
              </a:rPr>
              <a:t>MA TRẬN TƯƠNG QUAN</a:t>
            </a:r>
          </a:p>
        </p:txBody>
      </p:sp>
      <p:sp>
        <p:nvSpPr>
          <p:cNvPr name="TextBox 13" id="13"/>
          <p:cNvSpPr txBox="true"/>
          <p:nvPr/>
        </p:nvSpPr>
        <p:spPr>
          <a:xfrm rot="0">
            <a:off x="1028700" y="7787640"/>
            <a:ext cx="5071492" cy="1470698"/>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Previous Scores và Hours Studied có liên hệ đáng chú ý với Performance Index. Đây là hai đặc trưng quan trọng nhất trong dataset.</a:t>
            </a:r>
          </a:p>
        </p:txBody>
      </p:sp>
      <p:sp>
        <p:nvSpPr>
          <p:cNvPr name="TextBox 14" id="14"/>
          <p:cNvSpPr txBox="true"/>
          <p:nvPr/>
        </p:nvSpPr>
        <p:spPr>
          <a:xfrm rot="0">
            <a:off x="6610196" y="7787640"/>
            <a:ext cx="5071492" cy="1099223"/>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Giữ toàn bộ các đặc trưng đầu vào để thử nghiệm mô hình. Không loại bỏ biến dựa chỉ trên tương quan thấp.</a:t>
            </a:r>
          </a:p>
        </p:txBody>
      </p:sp>
      <p:sp>
        <p:nvSpPr>
          <p:cNvPr name="TextBox 15" id="15"/>
          <p:cNvSpPr txBox="true"/>
          <p:nvPr/>
        </p:nvSpPr>
        <p:spPr>
          <a:xfrm rot="0">
            <a:off x="1028700" y="6999176"/>
            <a:ext cx="5071492"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Nhận xét tương quan</a:t>
            </a:r>
          </a:p>
        </p:txBody>
      </p:sp>
      <p:sp>
        <p:nvSpPr>
          <p:cNvPr name="TextBox 16" id="16"/>
          <p:cNvSpPr txBox="true"/>
          <p:nvPr/>
        </p:nvSpPr>
        <p:spPr>
          <a:xfrm rot="0">
            <a:off x="6608254" y="6999176"/>
            <a:ext cx="5071492"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Quyết định xử lý</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700" y="5751905"/>
            <a:ext cx="6793539" cy="167878"/>
            <a:chOff x="0" y="0"/>
            <a:chExt cx="9058052" cy="223837"/>
          </a:xfrm>
        </p:grpSpPr>
        <p:grpSp>
          <p:nvGrpSpPr>
            <p:cNvPr name="Group 3" id="3"/>
            <p:cNvGrpSpPr/>
            <p:nvPr/>
          </p:nvGrpSpPr>
          <p:grpSpPr>
            <a:xfrm rot="0">
              <a:off x="0" y="0"/>
              <a:ext cx="1674460" cy="223837"/>
              <a:chOff x="0" y="0"/>
              <a:chExt cx="330758" cy="44215"/>
            </a:xfrm>
          </p:grpSpPr>
          <p:sp>
            <p:nvSpPr>
              <p:cNvPr name="Freeform 4" id="4"/>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F8F7F6"/>
              </a:solidFill>
            </p:spPr>
          </p:sp>
          <p:sp>
            <p:nvSpPr>
              <p:cNvPr name="TextBox 5" id="5"/>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6" id="6"/>
            <p:cNvSpPr/>
            <p:nvPr/>
          </p:nvSpPr>
          <p:spPr>
            <a:xfrm flipV="true">
              <a:off x="0" y="198437"/>
              <a:ext cx="9058052" cy="0"/>
            </a:xfrm>
            <a:prstGeom prst="line">
              <a:avLst/>
            </a:prstGeom>
            <a:ln cap="flat" w="50800">
              <a:solidFill>
                <a:srgbClr val="F8F7F6"/>
              </a:solidFill>
              <a:prstDash val="solid"/>
              <a:headEnd type="none" len="sm" w="sm"/>
              <a:tailEnd type="none" len="sm" w="sm"/>
            </a:ln>
          </p:spPr>
        </p:sp>
      </p:grpSp>
      <p:sp>
        <p:nvSpPr>
          <p:cNvPr name="Freeform 7" id="7"/>
          <p:cNvSpPr/>
          <p:nvPr/>
        </p:nvSpPr>
        <p:spPr>
          <a:xfrm flipH="false" flipV="false" rot="0">
            <a:off x="225483" y="9496425"/>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2">
              <a:extLst>
                <a:ext uri="{96DAC541-7B7A-43D3-8B79-37D633B846F1}">
                  <asvg:svgBlip xmlns:asvg="http://schemas.microsoft.com/office/drawing/2016/SVG/main" r:embed="rId3"/>
                </a:ext>
              </a:extLst>
            </a:blip>
            <a:stretch>
              <a:fillRect l="0" t="0" r="-116058" b="-123249"/>
            </a:stretch>
          </a:blipFill>
        </p:spPr>
      </p:sp>
      <p:sp>
        <p:nvSpPr>
          <p:cNvPr name="Freeform 8" id="8"/>
          <p:cNvSpPr/>
          <p:nvPr/>
        </p:nvSpPr>
        <p:spPr>
          <a:xfrm flipH="false" flipV="false" rot="0">
            <a:off x="9467568" y="0"/>
            <a:ext cx="8820432" cy="5458899"/>
          </a:xfrm>
          <a:custGeom>
            <a:avLst/>
            <a:gdLst/>
            <a:ahLst/>
            <a:cxnLst/>
            <a:rect r="r" b="b" t="t" l="l"/>
            <a:pathLst>
              <a:path h="5458899" w="8820432">
                <a:moveTo>
                  <a:pt x="0" y="0"/>
                </a:moveTo>
                <a:lnTo>
                  <a:pt x="8820432" y="0"/>
                </a:lnTo>
                <a:lnTo>
                  <a:pt x="8820432" y="5458899"/>
                </a:lnTo>
                <a:lnTo>
                  <a:pt x="0" y="5458899"/>
                </a:lnTo>
                <a:lnTo>
                  <a:pt x="0" y="0"/>
                </a:lnTo>
                <a:close/>
              </a:path>
            </a:pathLst>
          </a:custGeom>
          <a:blipFill>
            <a:blip r:embed="rId4"/>
            <a:stretch>
              <a:fillRect l="0" t="0" r="0" b="0"/>
            </a:stretch>
          </a:blipFill>
        </p:spPr>
      </p:sp>
      <p:sp>
        <p:nvSpPr>
          <p:cNvPr name="TextBox 9" id="9"/>
          <p:cNvSpPr txBox="true"/>
          <p:nvPr/>
        </p:nvSpPr>
        <p:spPr>
          <a:xfrm rot="0">
            <a:off x="1028700" y="2109671"/>
            <a:ext cx="6207245" cy="1054833"/>
          </a:xfrm>
          <a:prstGeom prst="rect">
            <a:avLst/>
          </a:prstGeom>
        </p:spPr>
        <p:txBody>
          <a:bodyPr anchor="t" rtlCol="false" tIns="0" lIns="0" bIns="0" rIns="0">
            <a:spAutoFit/>
          </a:bodyPr>
          <a:lstStyle/>
          <a:p>
            <a:pPr algn="l" marL="0" indent="0" lvl="0">
              <a:lnSpc>
                <a:spcPts val="4214"/>
              </a:lnSpc>
            </a:pPr>
            <a:r>
              <a:rPr lang="en-US" sz="3241">
                <a:solidFill>
                  <a:srgbClr val="F8F7F6"/>
                </a:solidFill>
                <a:latin typeface="Pattanakarn SemiExpanded Light"/>
                <a:ea typeface="Pattanakarn SemiExpanded Light"/>
                <a:cs typeface="Pattanakarn SemiExpanded Light"/>
                <a:sym typeface="Pattanakarn SemiExpanded Light"/>
              </a:rPr>
              <a:t>EDA 5 – PHÂN TÍCH TÁC ĐỘNG</a:t>
            </a:r>
          </a:p>
        </p:txBody>
      </p:sp>
      <p:sp>
        <p:nvSpPr>
          <p:cNvPr name="TextBox 10" id="10"/>
          <p:cNvSpPr txBox="true"/>
          <p:nvPr/>
        </p:nvSpPr>
        <p:spPr>
          <a:xfrm rot="0">
            <a:off x="1028700" y="3685945"/>
            <a:ext cx="6207245" cy="1583784"/>
          </a:xfrm>
          <a:prstGeom prst="rect">
            <a:avLst/>
          </a:prstGeom>
        </p:spPr>
        <p:txBody>
          <a:bodyPr anchor="t" rtlCol="false" tIns="0" lIns="0" bIns="0" rIns="0">
            <a:spAutoFit/>
          </a:bodyPr>
          <a:lstStyle/>
          <a:p>
            <a:pPr algn="l" marL="0" indent="0" lvl="0">
              <a:lnSpc>
                <a:spcPts val="4214"/>
              </a:lnSpc>
            </a:pPr>
            <a:r>
              <a:rPr lang="en-US" b="true" sz="3241">
                <a:solidFill>
                  <a:srgbClr val="F8F7F6"/>
                </a:solidFill>
                <a:latin typeface="Pattanakarn SemiExpanded Medium"/>
                <a:ea typeface="Pattanakarn SemiExpanded Medium"/>
                <a:cs typeface="Pattanakarn SemiExpanded Medium"/>
                <a:sym typeface="Pattanakarn SemiExpanded Medium"/>
              </a:rPr>
              <a:t>HOURS STUDIED &amp; EXTRACURRICULAR ACTIVITIES</a:t>
            </a:r>
          </a:p>
        </p:txBody>
      </p:sp>
      <p:sp>
        <p:nvSpPr>
          <p:cNvPr name="TextBox 11" id="11"/>
          <p:cNvSpPr txBox="true"/>
          <p:nvPr/>
        </p:nvSpPr>
        <p:spPr>
          <a:xfrm rot="0">
            <a:off x="1028700" y="7787640"/>
            <a:ext cx="5071492" cy="1099185"/>
          </a:xfrm>
          <a:prstGeom prst="rect">
            <a:avLst/>
          </a:prstGeom>
        </p:spPr>
        <p:txBody>
          <a:bodyPr anchor="t" rtlCol="false" tIns="0" lIns="0" bIns="0" rIns="0">
            <a:spAutoFit/>
          </a:bodyPr>
          <a:lstStyle/>
          <a:p>
            <a:pPr algn="l" marL="0" indent="0" lvl="0">
              <a:lnSpc>
                <a:spcPts val="2940"/>
              </a:lnSpc>
            </a:pPr>
            <a:r>
              <a:rPr lang="en-US" sz="2100">
                <a:solidFill>
                  <a:srgbClr val="FFFFFF"/>
                </a:solidFill>
                <a:latin typeface="Proxima Nova Light"/>
                <a:ea typeface="Proxima Nova Light"/>
                <a:cs typeface="Proxima Nova Light"/>
                <a:sym typeface="Proxima Nova Light"/>
              </a:rPr>
              <a:t>Hours Studied có tương quan rõ ràng với Performance Index. Xu hướng tuyến tính tích cực được quan sát.</a:t>
            </a:r>
          </a:p>
        </p:txBody>
      </p:sp>
      <p:sp>
        <p:nvSpPr>
          <p:cNvPr name="TextBox 12" id="12"/>
          <p:cNvSpPr txBox="true"/>
          <p:nvPr/>
        </p:nvSpPr>
        <p:spPr>
          <a:xfrm rot="0">
            <a:off x="6610196" y="7787640"/>
            <a:ext cx="5071492" cy="1099185"/>
          </a:xfrm>
          <a:prstGeom prst="rect">
            <a:avLst/>
          </a:prstGeom>
        </p:spPr>
        <p:txBody>
          <a:bodyPr anchor="t" rtlCol="false" tIns="0" lIns="0" bIns="0" rIns="0">
            <a:spAutoFit/>
          </a:bodyPr>
          <a:lstStyle/>
          <a:p>
            <a:pPr algn="l" marL="0" indent="0" lvl="0">
              <a:lnSpc>
                <a:spcPts val="2940"/>
              </a:lnSpc>
            </a:pPr>
            <a:r>
              <a:rPr lang="en-US" sz="2100">
                <a:solidFill>
                  <a:srgbClr val="FFFFFF"/>
                </a:solidFill>
                <a:latin typeface="Proxima Nova Light"/>
                <a:ea typeface="Proxima Nova Light"/>
                <a:cs typeface="Proxima Nova Light"/>
                <a:sym typeface="Proxima Nova Light"/>
              </a:rPr>
              <a:t>Học sinh tham gia hoạt động ngoại khóa có điểm trung bình cao hơn nhóm không tham gia.</a:t>
            </a:r>
          </a:p>
        </p:txBody>
      </p:sp>
      <p:sp>
        <p:nvSpPr>
          <p:cNvPr name="TextBox 13" id="13"/>
          <p:cNvSpPr txBox="true"/>
          <p:nvPr/>
        </p:nvSpPr>
        <p:spPr>
          <a:xfrm rot="0">
            <a:off x="12187808" y="7787640"/>
            <a:ext cx="5071492" cy="1099185"/>
          </a:xfrm>
          <a:prstGeom prst="rect">
            <a:avLst/>
          </a:prstGeom>
        </p:spPr>
        <p:txBody>
          <a:bodyPr anchor="t" rtlCol="false" tIns="0" lIns="0" bIns="0" rIns="0">
            <a:spAutoFit/>
          </a:bodyPr>
          <a:lstStyle/>
          <a:p>
            <a:pPr algn="l" marL="0" indent="0" lvl="0">
              <a:lnSpc>
                <a:spcPts val="2940"/>
              </a:lnSpc>
            </a:pPr>
            <a:r>
              <a:rPr lang="en-US" sz="2100">
                <a:solidFill>
                  <a:srgbClr val="FFFFFF"/>
                </a:solidFill>
                <a:latin typeface="Proxima Nova Light"/>
                <a:ea typeface="Proxima Nova Light"/>
                <a:cs typeface="Proxima Nova Light"/>
                <a:sym typeface="Proxima Nova Light"/>
              </a:rPr>
              <a:t>Tiếp tục sử dụng cả hai đặc trưng Hours Studied và Extracurricular Activities trong xây dựng mô hình.</a:t>
            </a:r>
          </a:p>
        </p:txBody>
      </p:sp>
      <p:sp>
        <p:nvSpPr>
          <p:cNvPr name="TextBox 14" id="14"/>
          <p:cNvSpPr txBox="true"/>
          <p:nvPr/>
        </p:nvSpPr>
        <p:spPr>
          <a:xfrm rot="0">
            <a:off x="1028700" y="6999176"/>
            <a:ext cx="5071492" cy="314325"/>
          </a:xfrm>
          <a:prstGeom prst="rect">
            <a:avLst/>
          </a:prstGeom>
        </p:spPr>
        <p:txBody>
          <a:bodyPr anchor="t" rtlCol="false" tIns="0" lIns="0" bIns="0" rIns="0">
            <a:spAutoFit/>
          </a:bodyPr>
          <a:lstStyle/>
          <a:p>
            <a:pPr algn="l" marL="0" indent="0" lvl="0">
              <a:lnSpc>
                <a:spcPts val="2520"/>
              </a:lnSpc>
            </a:pPr>
            <a:r>
              <a:rPr lang="en-US" b="true" sz="2100" i="true">
                <a:solidFill>
                  <a:srgbClr val="F8F7F6"/>
                </a:solidFill>
                <a:latin typeface="Proxima Nova Bold Italics"/>
                <a:ea typeface="Proxima Nova Bold Italics"/>
                <a:cs typeface="Proxima Nova Bold Italics"/>
                <a:sym typeface="Proxima Nova Bold Italics"/>
              </a:rPr>
              <a:t>Nhận xét phân tích</a:t>
            </a:r>
          </a:p>
        </p:txBody>
      </p:sp>
      <p:sp>
        <p:nvSpPr>
          <p:cNvPr name="TextBox 15" id="15"/>
          <p:cNvSpPr txBox="true"/>
          <p:nvPr/>
        </p:nvSpPr>
        <p:spPr>
          <a:xfrm rot="0">
            <a:off x="6608254" y="6999176"/>
            <a:ext cx="5071492" cy="314325"/>
          </a:xfrm>
          <a:prstGeom prst="rect">
            <a:avLst/>
          </a:prstGeom>
        </p:spPr>
        <p:txBody>
          <a:bodyPr anchor="t" rtlCol="false" tIns="0" lIns="0" bIns="0" rIns="0">
            <a:spAutoFit/>
          </a:bodyPr>
          <a:lstStyle/>
          <a:p>
            <a:pPr algn="l" marL="0" indent="0" lvl="0">
              <a:lnSpc>
                <a:spcPts val="2520"/>
              </a:lnSpc>
            </a:pPr>
            <a:r>
              <a:rPr lang="en-US" b="true" sz="2100" i="true">
                <a:solidFill>
                  <a:srgbClr val="F8F7F6"/>
                </a:solidFill>
                <a:latin typeface="Proxima Nova Bold Italics"/>
                <a:ea typeface="Proxima Nova Bold Italics"/>
                <a:cs typeface="Proxima Nova Bold Italics"/>
                <a:sym typeface="Proxima Nova Bold Italics"/>
              </a:rPr>
              <a:t>Tác động Extracurricular Activities</a:t>
            </a:r>
          </a:p>
        </p:txBody>
      </p:sp>
      <p:sp>
        <p:nvSpPr>
          <p:cNvPr name="TextBox 16" id="16"/>
          <p:cNvSpPr txBox="true"/>
          <p:nvPr/>
        </p:nvSpPr>
        <p:spPr>
          <a:xfrm rot="0">
            <a:off x="12184571" y="6999176"/>
            <a:ext cx="5071492" cy="314325"/>
          </a:xfrm>
          <a:prstGeom prst="rect">
            <a:avLst/>
          </a:prstGeom>
        </p:spPr>
        <p:txBody>
          <a:bodyPr anchor="t" rtlCol="false" tIns="0" lIns="0" bIns="0" rIns="0">
            <a:spAutoFit/>
          </a:bodyPr>
          <a:lstStyle/>
          <a:p>
            <a:pPr algn="l" marL="0" indent="0" lvl="0">
              <a:lnSpc>
                <a:spcPts val="2520"/>
              </a:lnSpc>
            </a:pPr>
            <a:r>
              <a:rPr lang="en-US" b="true" sz="2100" i="true">
                <a:solidFill>
                  <a:srgbClr val="F8F7F6"/>
                </a:solidFill>
                <a:latin typeface="Proxima Nova Bold Italics"/>
                <a:ea typeface="Proxima Nova Bold Italics"/>
                <a:cs typeface="Proxima Nova Bold Italics"/>
                <a:sym typeface="Proxima Nova Bold Italics"/>
              </a:rPr>
              <a:t>Quyết định xử lý</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028700" y="811530"/>
            <a:ext cx="3579030" cy="396283"/>
          </a:xfrm>
          <a:prstGeom prst="rect">
            <a:avLst/>
          </a:prstGeom>
        </p:spPr>
        <p:txBody>
          <a:bodyPr anchor="t" rtlCol="false" tIns="0" lIns="0" bIns="0" rIns="0">
            <a:spAutoFit/>
          </a:bodyPr>
          <a:lstStyle/>
          <a:p>
            <a:pPr algn="l" marL="0" indent="0" lvl="0">
              <a:lnSpc>
                <a:spcPts val="3357"/>
              </a:lnSpc>
            </a:pPr>
            <a:r>
              <a:rPr lang="en-US" sz="2398">
                <a:solidFill>
                  <a:srgbClr val="FFFFFF"/>
                </a:solidFill>
                <a:latin typeface="Proxima Nova"/>
                <a:ea typeface="Proxima Nova"/>
                <a:cs typeface="Proxima Nova"/>
                <a:sym typeface="Proxima Nova"/>
              </a:rPr>
              <a:t>Machine Learning Cơ Bản</a:t>
            </a:r>
          </a:p>
        </p:txBody>
      </p:sp>
      <p:sp>
        <p:nvSpPr>
          <p:cNvPr name="TextBox 3" id="3"/>
          <p:cNvSpPr txBox="true"/>
          <p:nvPr/>
        </p:nvSpPr>
        <p:spPr>
          <a:xfrm rot="0">
            <a:off x="1028700" y="2100146"/>
            <a:ext cx="6232030" cy="804070"/>
          </a:xfrm>
          <a:prstGeom prst="rect">
            <a:avLst/>
          </a:prstGeom>
        </p:spPr>
        <p:txBody>
          <a:bodyPr anchor="t" rtlCol="false" tIns="0" lIns="0" bIns="0" rIns="0">
            <a:spAutoFit/>
          </a:bodyPr>
          <a:lstStyle/>
          <a:p>
            <a:pPr algn="l" marL="0" indent="0" lvl="0">
              <a:lnSpc>
                <a:spcPts val="6492"/>
              </a:lnSpc>
            </a:pPr>
            <a:r>
              <a:rPr lang="en-US" sz="4994">
                <a:solidFill>
                  <a:srgbClr val="F8F7F6"/>
                </a:solidFill>
                <a:latin typeface="Pattanakarn SemiExpanded Light"/>
                <a:ea typeface="Pattanakarn SemiExpanded Light"/>
                <a:cs typeface="Pattanakarn SemiExpanded Light"/>
                <a:sym typeface="Pattanakarn SemiExpanded Light"/>
              </a:rPr>
              <a:t>DATA</a:t>
            </a:r>
          </a:p>
        </p:txBody>
      </p:sp>
      <p:sp>
        <p:nvSpPr>
          <p:cNvPr name="TextBox 4" id="4"/>
          <p:cNvSpPr txBox="true"/>
          <p:nvPr/>
        </p:nvSpPr>
        <p:spPr>
          <a:xfrm rot="0">
            <a:off x="1028700" y="2859191"/>
            <a:ext cx="6232030" cy="804070"/>
          </a:xfrm>
          <a:prstGeom prst="rect">
            <a:avLst/>
          </a:prstGeom>
        </p:spPr>
        <p:txBody>
          <a:bodyPr anchor="t" rtlCol="false" tIns="0" lIns="0" bIns="0" rIns="0">
            <a:spAutoFit/>
          </a:bodyPr>
          <a:lstStyle/>
          <a:p>
            <a:pPr algn="l" marL="0" indent="0" lvl="0">
              <a:lnSpc>
                <a:spcPts val="6492"/>
              </a:lnSpc>
            </a:pPr>
            <a:r>
              <a:rPr lang="en-US" b="true" sz="4994">
                <a:solidFill>
                  <a:srgbClr val="F8F7F6"/>
                </a:solidFill>
                <a:latin typeface="Pattanakarn SemiExpanded Medium"/>
                <a:ea typeface="Pattanakarn SemiExpanded Medium"/>
                <a:cs typeface="Pattanakarn SemiExpanded Medium"/>
                <a:sym typeface="Pattanakarn SemiExpanded Medium"/>
              </a:rPr>
              <a:t>CLEANING</a:t>
            </a:r>
          </a:p>
        </p:txBody>
      </p:sp>
      <p:grpSp>
        <p:nvGrpSpPr>
          <p:cNvPr name="Group 5" id="5"/>
          <p:cNvGrpSpPr/>
          <p:nvPr/>
        </p:nvGrpSpPr>
        <p:grpSpPr>
          <a:xfrm rot="0">
            <a:off x="8376440" y="2147771"/>
            <a:ext cx="795315" cy="7953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8" id="8"/>
          <p:cNvGrpSpPr/>
          <p:nvPr/>
        </p:nvGrpSpPr>
        <p:grpSpPr>
          <a:xfrm rot="0">
            <a:off x="13039574" y="2147771"/>
            <a:ext cx="795315" cy="79531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1" id="11"/>
          <p:cNvGrpSpPr/>
          <p:nvPr/>
        </p:nvGrpSpPr>
        <p:grpSpPr>
          <a:xfrm rot="0">
            <a:off x="8376440" y="5928221"/>
            <a:ext cx="795315" cy="79531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4" id="14"/>
          <p:cNvGrpSpPr/>
          <p:nvPr/>
        </p:nvGrpSpPr>
        <p:grpSpPr>
          <a:xfrm rot="0">
            <a:off x="13039574" y="5928221"/>
            <a:ext cx="795315" cy="79531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sp>
        <p:nvSpPr>
          <p:cNvPr name="TextBox 17" id="17"/>
          <p:cNvSpPr txBox="true"/>
          <p:nvPr/>
        </p:nvSpPr>
        <p:spPr>
          <a:xfrm rot="0">
            <a:off x="8519337" y="233683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01</a:t>
            </a:r>
          </a:p>
        </p:txBody>
      </p:sp>
      <p:sp>
        <p:nvSpPr>
          <p:cNvPr name="TextBox 18" id="18"/>
          <p:cNvSpPr txBox="true"/>
          <p:nvPr/>
        </p:nvSpPr>
        <p:spPr>
          <a:xfrm rot="0">
            <a:off x="13182470" y="233683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02</a:t>
            </a:r>
          </a:p>
        </p:txBody>
      </p:sp>
      <p:sp>
        <p:nvSpPr>
          <p:cNvPr name="TextBox 19" id="19"/>
          <p:cNvSpPr txBox="true"/>
          <p:nvPr/>
        </p:nvSpPr>
        <p:spPr>
          <a:xfrm rot="0">
            <a:off x="8519337"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03</a:t>
            </a:r>
          </a:p>
        </p:txBody>
      </p:sp>
      <p:sp>
        <p:nvSpPr>
          <p:cNvPr name="TextBox 20" id="20"/>
          <p:cNvSpPr txBox="true"/>
          <p:nvPr/>
        </p:nvSpPr>
        <p:spPr>
          <a:xfrm rot="0">
            <a:off x="13182470"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04</a:t>
            </a:r>
          </a:p>
        </p:txBody>
      </p:sp>
      <p:sp>
        <p:nvSpPr>
          <p:cNvPr name="TextBox 21" id="21"/>
          <p:cNvSpPr txBox="true"/>
          <p:nvPr/>
        </p:nvSpPr>
        <p:spPr>
          <a:xfrm rot="0">
            <a:off x="8376440" y="3886061"/>
            <a:ext cx="4219726" cy="1470698"/>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Dataset gốc gồm 10.000 bản ghi, 6 cột. Không có giá trị khuyết thiếu. Sẵn sàng cho bước kiểm tra chất lượng.</a:t>
            </a:r>
          </a:p>
        </p:txBody>
      </p:sp>
      <p:sp>
        <p:nvSpPr>
          <p:cNvPr name="TextBox 22" id="22"/>
          <p:cNvSpPr txBox="true"/>
          <p:nvPr/>
        </p:nvSpPr>
        <p:spPr>
          <a:xfrm rot="0">
            <a:off x="13039574" y="3886061"/>
            <a:ext cx="4219726" cy="1099223"/>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Phát hiện 127 bản ghi trùng lặp hoàn toàn. Các bản ghi này không mang thêm thông tin mới cho mô hình.</a:t>
            </a:r>
          </a:p>
        </p:txBody>
      </p:sp>
      <p:sp>
        <p:nvSpPr>
          <p:cNvPr name="TextBox 23" id="23"/>
          <p:cNvSpPr txBox="true"/>
          <p:nvPr/>
        </p:nvSpPr>
        <p:spPr>
          <a:xfrm rot="0">
            <a:off x="8376440" y="7666512"/>
            <a:ext cx="4219726" cy="1099223"/>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Loại bỏ toàn bộ 127 bản ghi trùng. Không xóa dữ liệu tùy tiện – chỉ loại bỏ bản ghi trùng hoàn toàn.</a:t>
            </a:r>
          </a:p>
        </p:txBody>
      </p:sp>
      <p:sp>
        <p:nvSpPr>
          <p:cNvPr name="TextBox 24" id="24"/>
          <p:cNvSpPr txBox="true"/>
          <p:nvPr/>
        </p:nvSpPr>
        <p:spPr>
          <a:xfrm rot="0">
            <a:off x="13039574" y="7666512"/>
            <a:ext cx="4219726" cy="1470698"/>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Còn lại 9.873 bản ghi, 6 cột. Không còn trùng lặp, không thiếu dữ liệu. Cleaning hoàn tất trước bước huấn luyện.</a:t>
            </a:r>
          </a:p>
        </p:txBody>
      </p:sp>
      <p:sp>
        <p:nvSpPr>
          <p:cNvPr name="TextBox 25" id="25"/>
          <p:cNvSpPr txBox="true"/>
          <p:nvPr/>
        </p:nvSpPr>
        <p:spPr>
          <a:xfrm rot="0">
            <a:off x="8376440" y="3143111"/>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Dữ Liệu Ban Đầu</a:t>
            </a:r>
          </a:p>
        </p:txBody>
      </p:sp>
      <p:sp>
        <p:nvSpPr>
          <p:cNvPr name="TextBox 26" id="26"/>
          <p:cNvSpPr txBox="true"/>
          <p:nvPr/>
        </p:nvSpPr>
        <p:spPr>
          <a:xfrm rot="0">
            <a:off x="13039574" y="3143111"/>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Phát Hiện Trùng Lặp</a:t>
            </a:r>
          </a:p>
        </p:txBody>
      </p:sp>
      <p:sp>
        <p:nvSpPr>
          <p:cNvPr name="TextBox 27" id="27"/>
          <p:cNvSpPr txBox="true"/>
          <p:nvPr/>
        </p:nvSpPr>
        <p:spPr>
          <a:xfrm rot="0">
            <a:off x="8376440" y="6923562"/>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Loại Bỏ Trùng Lặp</a:t>
            </a:r>
          </a:p>
        </p:txBody>
      </p:sp>
      <p:sp>
        <p:nvSpPr>
          <p:cNvPr name="TextBox 28" id="28"/>
          <p:cNvSpPr txBox="true"/>
          <p:nvPr/>
        </p:nvSpPr>
        <p:spPr>
          <a:xfrm rot="0">
            <a:off x="13039574" y="6923562"/>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Dữ Liệu Sạch</a:t>
            </a:r>
          </a:p>
        </p:txBody>
      </p:sp>
      <p:grpSp>
        <p:nvGrpSpPr>
          <p:cNvPr name="Group 29" id="29"/>
          <p:cNvGrpSpPr/>
          <p:nvPr/>
        </p:nvGrpSpPr>
        <p:grpSpPr>
          <a:xfrm rot="0">
            <a:off x="1028700" y="4892116"/>
            <a:ext cx="6232030" cy="2660095"/>
            <a:chOff x="0" y="0"/>
            <a:chExt cx="965505" cy="412118"/>
          </a:xfrm>
        </p:grpSpPr>
        <p:sp>
          <p:nvSpPr>
            <p:cNvPr name="Freeform 30" id="30"/>
            <p:cNvSpPr/>
            <p:nvPr/>
          </p:nvSpPr>
          <p:spPr>
            <a:xfrm flipH="false" flipV="false" rot="0">
              <a:off x="0" y="0"/>
              <a:ext cx="965505" cy="412118"/>
            </a:xfrm>
            <a:custGeom>
              <a:avLst/>
              <a:gdLst/>
              <a:ahLst/>
              <a:cxnLst/>
              <a:rect r="r" b="b" t="t" l="l"/>
              <a:pathLst>
                <a:path h="412118" w="965505">
                  <a:moveTo>
                    <a:pt x="0" y="0"/>
                  </a:moveTo>
                  <a:lnTo>
                    <a:pt x="965505" y="0"/>
                  </a:lnTo>
                  <a:lnTo>
                    <a:pt x="965505" y="412118"/>
                  </a:lnTo>
                  <a:lnTo>
                    <a:pt x="0" y="412118"/>
                  </a:lnTo>
                  <a:close/>
                </a:path>
              </a:pathLst>
            </a:custGeom>
            <a:blipFill>
              <a:blip r:embed="rId2"/>
              <a:stretch>
                <a:fillRect l="0" t="-77" r="0" b="-77"/>
              </a:stretch>
            </a:blipFill>
          </p:spPr>
        </p:sp>
      </p:grpSp>
      <p:sp>
        <p:nvSpPr>
          <p:cNvPr name="TextBox 31" id="31"/>
          <p:cNvSpPr txBox="true"/>
          <p:nvPr/>
        </p:nvSpPr>
        <p:spPr>
          <a:xfrm rot="0">
            <a:off x="1028700" y="7902732"/>
            <a:ext cx="6232030" cy="1234483"/>
          </a:xfrm>
          <a:prstGeom prst="rect">
            <a:avLst/>
          </a:prstGeom>
        </p:spPr>
        <p:txBody>
          <a:bodyPr anchor="t" rtlCol="false" tIns="0" lIns="0" bIns="0" rIns="0">
            <a:spAutoFit/>
          </a:bodyPr>
          <a:lstStyle/>
          <a:p>
            <a:pPr algn="l" marL="0" indent="0" lvl="0">
              <a:lnSpc>
                <a:spcPts val="3357"/>
              </a:lnSpc>
            </a:pPr>
            <a:r>
              <a:rPr lang="en-US" sz="2398">
                <a:solidFill>
                  <a:srgbClr val="FFFFFF"/>
                </a:solidFill>
                <a:latin typeface="Proxima Nova Light"/>
                <a:ea typeface="Proxima Nova Light"/>
                <a:cs typeface="Proxima Nova Light"/>
                <a:sym typeface="Proxima Nova Light"/>
              </a:rPr>
              <a:t>Quy trình làm sạch đảm bảo dữ liệu chất lượng cao trước khi đưa vào huấn luyện mô hình Machine Learning.</a:t>
            </a:r>
          </a:p>
        </p:txBody>
      </p:sp>
      <p:grpSp>
        <p:nvGrpSpPr>
          <p:cNvPr name="Group 32" id="32"/>
          <p:cNvGrpSpPr/>
          <p:nvPr/>
        </p:nvGrpSpPr>
        <p:grpSpPr>
          <a:xfrm rot="0">
            <a:off x="1028700" y="7384334"/>
            <a:ext cx="6226832" cy="167878"/>
            <a:chOff x="0" y="0"/>
            <a:chExt cx="8302442" cy="223837"/>
          </a:xfrm>
        </p:grpSpPr>
        <p:grpSp>
          <p:nvGrpSpPr>
            <p:cNvPr name="Group 33" id="33"/>
            <p:cNvGrpSpPr/>
            <p:nvPr/>
          </p:nvGrpSpPr>
          <p:grpSpPr>
            <a:xfrm rot="0">
              <a:off x="0" y="0"/>
              <a:ext cx="1674460" cy="223837"/>
              <a:chOff x="0" y="0"/>
              <a:chExt cx="330758" cy="44215"/>
            </a:xfrm>
          </p:grpSpPr>
          <p:sp>
            <p:nvSpPr>
              <p:cNvPr name="Freeform 34" id="34"/>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F8F7F6"/>
              </a:solidFill>
            </p:spPr>
          </p:sp>
          <p:sp>
            <p:nvSpPr>
              <p:cNvPr name="TextBox 35" id="35"/>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36" id="36"/>
            <p:cNvSpPr/>
            <p:nvPr/>
          </p:nvSpPr>
          <p:spPr>
            <a:xfrm>
              <a:off x="0" y="198437"/>
              <a:ext cx="8302442" cy="0"/>
            </a:xfrm>
            <a:prstGeom prst="line">
              <a:avLst/>
            </a:prstGeom>
            <a:ln cap="flat" w="50800">
              <a:solidFill>
                <a:srgbClr val="F8F7F6"/>
              </a:solidFill>
              <a:prstDash val="solid"/>
              <a:headEnd type="none" len="sm" w="sm"/>
              <a:tailEnd type="none" len="sm" w="sm"/>
            </a:ln>
          </p:spPr>
        </p:sp>
      </p:grpSp>
      <p:sp>
        <p:nvSpPr>
          <p:cNvPr name="Freeform 37" id="37"/>
          <p:cNvSpPr/>
          <p:nvPr/>
        </p:nvSpPr>
        <p:spPr>
          <a:xfrm flipH="false" flipV="false" rot="0">
            <a:off x="16914174" y="9458325"/>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
        <p:nvSpPr>
          <p:cNvPr name="Freeform 38" id="38"/>
          <p:cNvSpPr/>
          <p:nvPr/>
        </p:nvSpPr>
        <p:spPr>
          <a:xfrm flipH="false" flipV="false" rot="0">
            <a:off x="6490014"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28700" y="5095875"/>
            <a:ext cx="7347740" cy="804070"/>
          </a:xfrm>
          <a:prstGeom prst="rect">
            <a:avLst/>
          </a:prstGeom>
        </p:spPr>
        <p:txBody>
          <a:bodyPr anchor="t" rtlCol="false" tIns="0" lIns="0" bIns="0" rIns="0">
            <a:spAutoFit/>
          </a:bodyPr>
          <a:lstStyle/>
          <a:p>
            <a:pPr algn="l" marL="0" indent="0" lvl="0">
              <a:lnSpc>
                <a:spcPts val="6492"/>
              </a:lnSpc>
            </a:pPr>
            <a:r>
              <a:rPr lang="en-US" sz="4994">
                <a:solidFill>
                  <a:srgbClr val="141414"/>
                </a:solidFill>
                <a:latin typeface="Pattanakarn SemiExpanded Light"/>
                <a:ea typeface="Pattanakarn SemiExpanded Light"/>
                <a:cs typeface="Pattanakarn SemiExpanded Light"/>
                <a:sym typeface="Pattanakarn SemiExpanded Light"/>
              </a:rPr>
              <a:t>PREPROCESSING</a:t>
            </a:r>
          </a:p>
        </p:txBody>
      </p:sp>
      <p:sp>
        <p:nvSpPr>
          <p:cNvPr name="TextBox 4" id="4"/>
          <p:cNvSpPr txBox="true"/>
          <p:nvPr/>
        </p:nvSpPr>
        <p:spPr>
          <a:xfrm rot="0">
            <a:off x="1028700" y="5854920"/>
            <a:ext cx="7347740" cy="804070"/>
          </a:xfrm>
          <a:prstGeom prst="rect">
            <a:avLst/>
          </a:prstGeom>
        </p:spPr>
        <p:txBody>
          <a:bodyPr anchor="t" rtlCol="false" tIns="0" lIns="0" bIns="0" rIns="0">
            <a:spAutoFit/>
          </a:bodyPr>
          <a:lstStyle/>
          <a:p>
            <a:pPr algn="l" marL="0" indent="0" lvl="0">
              <a:lnSpc>
                <a:spcPts val="6492"/>
              </a:lnSpc>
            </a:pPr>
            <a:r>
              <a:rPr lang="en-US" b="true" sz="4994">
                <a:solidFill>
                  <a:srgbClr val="141414"/>
                </a:solidFill>
                <a:latin typeface="Pattanakarn SemiExpanded Medium"/>
                <a:ea typeface="Pattanakarn SemiExpanded Medium"/>
                <a:cs typeface="Pattanakarn SemiExpanded Medium"/>
                <a:sym typeface="Pattanakarn SemiExpanded Medium"/>
              </a:rPr>
              <a:t>TIỀN XỬ LÝ DỮ LIỆU</a:t>
            </a:r>
          </a:p>
        </p:txBody>
      </p:sp>
      <p:grpSp>
        <p:nvGrpSpPr>
          <p:cNvPr name="Group 5" id="5"/>
          <p:cNvGrpSpPr/>
          <p:nvPr/>
        </p:nvGrpSpPr>
        <p:grpSpPr>
          <a:xfrm rot="0">
            <a:off x="8719167" y="1488489"/>
            <a:ext cx="795315" cy="7953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8" id="8"/>
          <p:cNvGrpSpPr/>
          <p:nvPr/>
        </p:nvGrpSpPr>
        <p:grpSpPr>
          <a:xfrm rot="0">
            <a:off x="13152846" y="1488489"/>
            <a:ext cx="795315" cy="79531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1" id="11"/>
          <p:cNvGrpSpPr/>
          <p:nvPr/>
        </p:nvGrpSpPr>
        <p:grpSpPr>
          <a:xfrm rot="0">
            <a:off x="8719167" y="5928221"/>
            <a:ext cx="795315" cy="79531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4" id="14"/>
          <p:cNvGrpSpPr/>
          <p:nvPr/>
        </p:nvGrpSpPr>
        <p:grpSpPr>
          <a:xfrm rot="0">
            <a:off x="13152846" y="5928221"/>
            <a:ext cx="795315" cy="79531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sp>
        <p:nvSpPr>
          <p:cNvPr name="TextBox 17" id="17"/>
          <p:cNvSpPr txBox="true"/>
          <p:nvPr/>
        </p:nvSpPr>
        <p:spPr>
          <a:xfrm rot="0">
            <a:off x="8862064" y="1677549"/>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01</a:t>
            </a:r>
          </a:p>
        </p:txBody>
      </p:sp>
      <p:sp>
        <p:nvSpPr>
          <p:cNvPr name="TextBox 18" id="18"/>
          <p:cNvSpPr txBox="true"/>
          <p:nvPr/>
        </p:nvSpPr>
        <p:spPr>
          <a:xfrm rot="0">
            <a:off x="13295743" y="1677549"/>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02</a:t>
            </a:r>
          </a:p>
        </p:txBody>
      </p:sp>
      <p:sp>
        <p:nvSpPr>
          <p:cNvPr name="TextBox 19" id="19"/>
          <p:cNvSpPr txBox="true"/>
          <p:nvPr/>
        </p:nvSpPr>
        <p:spPr>
          <a:xfrm rot="0">
            <a:off x="8862064"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03</a:t>
            </a:r>
          </a:p>
        </p:txBody>
      </p:sp>
      <p:sp>
        <p:nvSpPr>
          <p:cNvPr name="TextBox 20" id="20"/>
          <p:cNvSpPr txBox="true"/>
          <p:nvPr/>
        </p:nvSpPr>
        <p:spPr>
          <a:xfrm rot="0">
            <a:off x="13295743"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04</a:t>
            </a:r>
          </a:p>
        </p:txBody>
      </p:sp>
      <p:sp>
        <p:nvSpPr>
          <p:cNvPr name="TextBox 21" id="21"/>
          <p:cNvSpPr txBox="true"/>
          <p:nvPr/>
        </p:nvSpPr>
        <p:spPr>
          <a:xfrm rot="0">
            <a:off x="8719167" y="2895019"/>
            <a:ext cx="4106454" cy="2248481"/>
          </a:xfrm>
          <a:prstGeom prst="rect">
            <a:avLst/>
          </a:prstGeom>
        </p:spPr>
        <p:txBody>
          <a:bodyPr anchor="t" rtlCol="false" tIns="0" lIns="0" bIns="0" rIns="0">
            <a:spAutoFit/>
          </a:bodyPr>
          <a:lstStyle/>
          <a:p>
            <a:pPr algn="l" marL="0" indent="0" lvl="0">
              <a:lnSpc>
                <a:spcPts val="2592"/>
              </a:lnSpc>
            </a:pPr>
            <a:r>
              <a:rPr lang="en-US" sz="1852">
                <a:solidFill>
                  <a:srgbClr val="141414"/>
                </a:solidFill>
                <a:latin typeface="Proxima Nova Light"/>
                <a:ea typeface="Proxima Nova Light"/>
                <a:cs typeface="Proxima Nova Light"/>
                <a:sym typeface="Proxima Nova Light"/>
              </a:rPr>
              <a:t>4 biến số:</a:t>
            </a:r>
          </a:p>
          <a:p>
            <a:pPr algn="l" marL="0" indent="0" lvl="0">
              <a:lnSpc>
                <a:spcPts val="2592"/>
              </a:lnSpc>
            </a:pPr>
            <a:r>
              <a:rPr lang="en-US" sz="1852">
                <a:solidFill>
                  <a:srgbClr val="141414"/>
                </a:solidFill>
                <a:latin typeface="Proxima Nova Light"/>
                <a:ea typeface="Proxima Nova Light"/>
                <a:cs typeface="Proxima Nova Light"/>
                <a:sym typeface="Proxima Nova Light"/>
              </a:rPr>
              <a:t>• Hours Studied</a:t>
            </a:r>
          </a:p>
          <a:p>
            <a:pPr algn="l" marL="0" indent="0" lvl="0">
              <a:lnSpc>
                <a:spcPts val="2592"/>
              </a:lnSpc>
            </a:pPr>
            <a:r>
              <a:rPr lang="en-US" sz="1852">
                <a:solidFill>
                  <a:srgbClr val="141414"/>
                </a:solidFill>
                <a:latin typeface="Proxima Nova Light"/>
                <a:ea typeface="Proxima Nova Light"/>
                <a:cs typeface="Proxima Nova Light"/>
                <a:sym typeface="Proxima Nova Light"/>
              </a:rPr>
              <a:t>• Previous Scores</a:t>
            </a:r>
          </a:p>
          <a:p>
            <a:pPr algn="l" marL="0" indent="0" lvl="0">
              <a:lnSpc>
                <a:spcPts val="2592"/>
              </a:lnSpc>
            </a:pPr>
            <a:r>
              <a:rPr lang="en-US" sz="1852">
                <a:solidFill>
                  <a:srgbClr val="141414"/>
                </a:solidFill>
                <a:latin typeface="Proxima Nova Light"/>
                <a:ea typeface="Proxima Nova Light"/>
                <a:cs typeface="Proxima Nova Light"/>
                <a:sym typeface="Proxima Nova Light"/>
              </a:rPr>
              <a:t>• Sleep Hours</a:t>
            </a:r>
          </a:p>
          <a:p>
            <a:pPr algn="l" marL="0" indent="0" lvl="0">
              <a:lnSpc>
                <a:spcPts val="2592"/>
              </a:lnSpc>
            </a:pPr>
            <a:r>
              <a:rPr lang="en-US" sz="1852">
                <a:solidFill>
                  <a:srgbClr val="141414"/>
                </a:solidFill>
                <a:latin typeface="Proxima Nova Light"/>
                <a:ea typeface="Proxima Nova Light"/>
                <a:cs typeface="Proxima Nova Light"/>
                <a:sym typeface="Proxima Nova Light"/>
              </a:rPr>
              <a:t>• Sample Question Papers Practiced</a:t>
            </a:r>
          </a:p>
          <a:p>
            <a:pPr algn="l" marL="0" indent="0" lvl="0">
              <a:lnSpc>
                <a:spcPts val="2592"/>
              </a:lnSpc>
            </a:pPr>
            <a:r>
              <a:rPr lang="en-US" sz="1852">
                <a:solidFill>
                  <a:srgbClr val="141414"/>
                </a:solidFill>
                <a:latin typeface="Proxima Nova Light"/>
                <a:ea typeface="Proxima Nova Light"/>
                <a:cs typeface="Proxima Nova Light"/>
                <a:sym typeface="Proxima Nova Light"/>
              </a:rPr>
              <a:t>Áp dụng StandardScaler để chuẩn hóa về phân phối chuẩn.</a:t>
            </a:r>
          </a:p>
        </p:txBody>
      </p:sp>
      <p:sp>
        <p:nvSpPr>
          <p:cNvPr name="TextBox 22" id="22"/>
          <p:cNvSpPr txBox="true"/>
          <p:nvPr/>
        </p:nvSpPr>
        <p:spPr>
          <a:xfrm rot="0">
            <a:off x="13152846" y="3236304"/>
            <a:ext cx="4106454" cy="1600781"/>
          </a:xfrm>
          <a:prstGeom prst="rect">
            <a:avLst/>
          </a:prstGeom>
        </p:spPr>
        <p:txBody>
          <a:bodyPr anchor="t" rtlCol="false" tIns="0" lIns="0" bIns="0" rIns="0">
            <a:spAutoFit/>
          </a:bodyPr>
          <a:lstStyle/>
          <a:p>
            <a:pPr algn="l" marL="0" indent="0" lvl="0">
              <a:lnSpc>
                <a:spcPts val="2592"/>
              </a:lnSpc>
            </a:pPr>
            <a:r>
              <a:rPr lang="en-US" sz="1852">
                <a:solidFill>
                  <a:srgbClr val="141414"/>
                </a:solidFill>
                <a:latin typeface="Proxima Nova Light"/>
                <a:ea typeface="Proxima Nova Light"/>
                <a:cs typeface="Proxima Nova Light"/>
                <a:sym typeface="Proxima Nova Light"/>
              </a:rPr>
              <a:t>1 biến phân loại:</a:t>
            </a:r>
          </a:p>
          <a:p>
            <a:pPr algn="l" marL="0" indent="0" lvl="0">
              <a:lnSpc>
                <a:spcPts val="2592"/>
              </a:lnSpc>
            </a:pPr>
            <a:r>
              <a:rPr lang="en-US" sz="1852">
                <a:solidFill>
                  <a:srgbClr val="141414"/>
                </a:solidFill>
                <a:latin typeface="Proxima Nova Light"/>
                <a:ea typeface="Proxima Nova Light"/>
                <a:cs typeface="Proxima Nova Light"/>
                <a:sym typeface="Proxima Nova Light"/>
              </a:rPr>
              <a:t>• Extracurricular Activities (Yes/No)</a:t>
            </a:r>
          </a:p>
          <a:p>
            <a:pPr algn="l" marL="0" indent="0" lvl="0">
              <a:lnSpc>
                <a:spcPts val="2592"/>
              </a:lnSpc>
            </a:pPr>
            <a:r>
              <a:rPr lang="en-US" sz="1852">
                <a:solidFill>
                  <a:srgbClr val="141414"/>
                </a:solidFill>
                <a:latin typeface="Proxima Nova Light"/>
                <a:ea typeface="Proxima Nova Light"/>
                <a:cs typeface="Proxima Nova Light"/>
                <a:sym typeface="Proxima Nova Light"/>
              </a:rPr>
              <a:t>Áp dụng OneHotEncoder để chuyển sang dạng số nhị phân phù hợp mô hình ML.</a:t>
            </a:r>
          </a:p>
        </p:txBody>
      </p:sp>
      <p:sp>
        <p:nvSpPr>
          <p:cNvPr name="TextBox 23" id="23"/>
          <p:cNvSpPr txBox="true"/>
          <p:nvPr/>
        </p:nvSpPr>
        <p:spPr>
          <a:xfrm rot="0">
            <a:off x="8719167" y="7676037"/>
            <a:ext cx="4106454" cy="1600781"/>
          </a:xfrm>
          <a:prstGeom prst="rect">
            <a:avLst/>
          </a:prstGeom>
        </p:spPr>
        <p:txBody>
          <a:bodyPr anchor="t" rtlCol="false" tIns="0" lIns="0" bIns="0" rIns="0">
            <a:spAutoFit/>
          </a:bodyPr>
          <a:lstStyle/>
          <a:p>
            <a:pPr algn="l" marL="0" indent="0" lvl="0">
              <a:lnSpc>
                <a:spcPts val="2592"/>
              </a:lnSpc>
            </a:pPr>
            <a:r>
              <a:rPr lang="en-US" sz="1852">
                <a:solidFill>
                  <a:srgbClr val="141414"/>
                </a:solidFill>
                <a:latin typeface="Proxima Nova Light"/>
                <a:ea typeface="Proxima Nova Light"/>
                <a:cs typeface="Proxima Nova Light"/>
                <a:sym typeface="Proxima Nova Light"/>
              </a:rPr>
              <a:t>Sau preprocessing:</a:t>
            </a:r>
          </a:p>
          <a:p>
            <a:pPr algn="l" marL="0" indent="0" lvl="0">
              <a:lnSpc>
                <a:spcPts val="2592"/>
              </a:lnSpc>
            </a:pPr>
            <a:r>
              <a:rPr lang="en-US" sz="1852">
                <a:solidFill>
                  <a:srgbClr val="141414"/>
                </a:solidFill>
                <a:latin typeface="Proxima Nova Light"/>
                <a:ea typeface="Proxima Nova Light"/>
                <a:cs typeface="Proxima Nova Light"/>
                <a:sym typeface="Proxima Nova Light"/>
              </a:rPr>
              <a:t>• 4 numerical → chuẩn hóa</a:t>
            </a:r>
          </a:p>
          <a:p>
            <a:pPr algn="l" marL="0" indent="0" lvl="0">
              <a:lnSpc>
                <a:spcPts val="2592"/>
              </a:lnSpc>
            </a:pPr>
            <a:r>
              <a:rPr lang="en-US" sz="1852">
                <a:solidFill>
                  <a:srgbClr val="141414"/>
                </a:solidFill>
                <a:latin typeface="Proxima Nova Light"/>
                <a:ea typeface="Proxima Nova Light"/>
                <a:cs typeface="Proxima Nova Light"/>
                <a:sym typeface="Proxima Nova Light"/>
              </a:rPr>
              <a:t>• 1 categorical → 2 cột nhị phân</a:t>
            </a:r>
          </a:p>
          <a:p>
            <a:pPr algn="l" marL="0" indent="0" lvl="0">
              <a:lnSpc>
                <a:spcPts val="2592"/>
              </a:lnSpc>
            </a:pPr>
            <a:r>
              <a:rPr lang="en-US" sz="1852">
                <a:solidFill>
                  <a:srgbClr val="141414"/>
                </a:solidFill>
                <a:latin typeface="Proxima Nova Light"/>
                <a:ea typeface="Proxima Nova Light"/>
                <a:cs typeface="Proxima Nova Light"/>
                <a:sym typeface="Proxima Nova Light"/>
              </a:rPr>
              <a:t>• Tổng: 6 đặc trưng đầu vào</a:t>
            </a:r>
          </a:p>
          <a:p>
            <a:pPr algn="l" marL="0" indent="0" lvl="0">
              <a:lnSpc>
                <a:spcPts val="2592"/>
              </a:lnSpc>
            </a:pPr>
            <a:r>
              <a:rPr lang="en-US" sz="1852">
                <a:solidFill>
                  <a:srgbClr val="141414"/>
                </a:solidFill>
                <a:latin typeface="Proxima Nova Light"/>
                <a:ea typeface="Proxima Nova Light"/>
                <a:cs typeface="Proxima Nova Light"/>
                <a:sym typeface="Proxima Nova Light"/>
              </a:rPr>
              <a:t>• Sẵn sàng đưa vào huấn luyện mô hình.</a:t>
            </a:r>
          </a:p>
        </p:txBody>
      </p:sp>
      <p:sp>
        <p:nvSpPr>
          <p:cNvPr name="TextBox 24" id="24"/>
          <p:cNvSpPr txBox="true"/>
          <p:nvPr/>
        </p:nvSpPr>
        <p:spPr>
          <a:xfrm rot="0">
            <a:off x="13152846" y="7676037"/>
            <a:ext cx="4106454" cy="1600781"/>
          </a:xfrm>
          <a:prstGeom prst="rect">
            <a:avLst/>
          </a:prstGeom>
        </p:spPr>
        <p:txBody>
          <a:bodyPr anchor="t" rtlCol="false" tIns="0" lIns="0" bIns="0" rIns="0">
            <a:spAutoFit/>
          </a:bodyPr>
          <a:lstStyle/>
          <a:p>
            <a:pPr algn="l" marL="0" indent="0" lvl="0">
              <a:lnSpc>
                <a:spcPts val="2592"/>
              </a:lnSpc>
            </a:pPr>
            <a:r>
              <a:rPr lang="en-US" sz="1852">
                <a:solidFill>
                  <a:srgbClr val="141414"/>
                </a:solidFill>
                <a:latin typeface="Proxima Nova Light"/>
                <a:ea typeface="Proxima Nova Light"/>
                <a:cs typeface="Proxima Nova Light"/>
                <a:sym typeface="Proxima Nova Light"/>
              </a:rPr>
              <a:t>Quy trình đúng:</a:t>
            </a:r>
          </a:p>
          <a:p>
            <a:pPr algn="l" marL="399871" indent="-199935" lvl="1">
              <a:lnSpc>
                <a:spcPts val="2592"/>
              </a:lnSpc>
              <a:buAutoNum type="arabicPeriod" startAt="1"/>
            </a:pPr>
            <a:r>
              <a:rPr lang="en-US" sz="1852">
                <a:solidFill>
                  <a:srgbClr val="141414"/>
                </a:solidFill>
                <a:latin typeface="Proxima Nova Light"/>
                <a:ea typeface="Proxima Nova Light"/>
                <a:cs typeface="Proxima Nova Light"/>
                <a:sym typeface="Proxima Nova Light"/>
              </a:rPr>
              <a:t>Chia train/test trước</a:t>
            </a:r>
          </a:p>
          <a:p>
            <a:pPr algn="l" marL="399871" indent="-199935" lvl="1">
              <a:lnSpc>
                <a:spcPts val="2592"/>
              </a:lnSpc>
              <a:buAutoNum type="arabicPeriod" startAt="1"/>
            </a:pPr>
            <a:r>
              <a:rPr lang="en-US" sz="1852">
                <a:solidFill>
                  <a:srgbClr val="141414"/>
                </a:solidFill>
                <a:latin typeface="Proxima Nova Light"/>
                <a:ea typeface="Proxima Nova Light"/>
                <a:cs typeface="Proxima Nova Light"/>
                <a:sym typeface="Proxima Nova Light"/>
              </a:rPr>
              <a:t>Fit scaler/encoder trên train</a:t>
            </a:r>
          </a:p>
          <a:p>
            <a:pPr algn="l" marL="399871" indent="-199935" lvl="1">
              <a:lnSpc>
                <a:spcPts val="2592"/>
              </a:lnSpc>
              <a:buAutoNum type="arabicPeriod" startAt="1"/>
            </a:pPr>
            <a:r>
              <a:rPr lang="en-US" sz="1852">
                <a:solidFill>
                  <a:srgbClr val="141414"/>
                </a:solidFill>
                <a:latin typeface="Proxima Nova Light"/>
                <a:ea typeface="Proxima Nova Light"/>
                <a:cs typeface="Proxima Nova Light"/>
                <a:sym typeface="Proxima Nova Light"/>
              </a:rPr>
              <a:t>Transform trên cả train và test</a:t>
            </a:r>
          </a:p>
          <a:p>
            <a:pPr algn="l" marL="399871" indent="-199935" lvl="1">
              <a:lnSpc>
                <a:spcPts val="2592"/>
              </a:lnSpc>
              <a:buAutoNum type="arabicPeriod" startAt="1"/>
            </a:pPr>
            <a:r>
              <a:rPr lang="en-US" sz="1852">
                <a:solidFill>
                  <a:srgbClr val="141414"/>
                </a:solidFill>
                <a:latin typeface="Proxima Nova Light"/>
                <a:ea typeface="Proxima Nova Light"/>
                <a:cs typeface="Proxima Nova Light"/>
                <a:sym typeface="Proxima Nova Light"/>
              </a:rPr>
              <a:t>Tránh rò rỉ thông tin từ test vào train.</a:t>
            </a:r>
          </a:p>
        </p:txBody>
      </p:sp>
      <p:sp>
        <p:nvSpPr>
          <p:cNvPr name="TextBox 25" id="25"/>
          <p:cNvSpPr txBox="true"/>
          <p:nvPr/>
        </p:nvSpPr>
        <p:spPr>
          <a:xfrm rot="0">
            <a:off x="8719167" y="2483829"/>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Numerical Features &amp; Chuẩn Hóa</a:t>
            </a:r>
          </a:p>
        </p:txBody>
      </p:sp>
      <p:sp>
        <p:nvSpPr>
          <p:cNvPr name="TextBox 26" id="26"/>
          <p:cNvSpPr txBox="true"/>
          <p:nvPr/>
        </p:nvSpPr>
        <p:spPr>
          <a:xfrm rot="0">
            <a:off x="13152846" y="2483829"/>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Categorical Feature &amp; Mã Hóa</a:t>
            </a:r>
          </a:p>
        </p:txBody>
      </p:sp>
      <p:sp>
        <p:nvSpPr>
          <p:cNvPr name="TextBox 27" id="27"/>
          <p:cNvSpPr txBox="true"/>
          <p:nvPr/>
        </p:nvSpPr>
        <p:spPr>
          <a:xfrm rot="0">
            <a:off x="8719167" y="6923562"/>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Kết Quả Sau Preprocessing</a:t>
            </a:r>
          </a:p>
        </p:txBody>
      </p:sp>
      <p:sp>
        <p:nvSpPr>
          <p:cNvPr name="TextBox 28" id="28"/>
          <p:cNvSpPr txBox="true"/>
          <p:nvPr/>
        </p:nvSpPr>
        <p:spPr>
          <a:xfrm rot="0">
            <a:off x="13152846" y="6923562"/>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Tránh Data Leakage</a:t>
            </a:r>
          </a:p>
        </p:txBody>
      </p:sp>
      <p:sp>
        <p:nvSpPr>
          <p:cNvPr name="TextBox 29" id="29"/>
          <p:cNvSpPr txBox="true"/>
          <p:nvPr/>
        </p:nvSpPr>
        <p:spPr>
          <a:xfrm rot="0">
            <a:off x="1028700" y="7831815"/>
            <a:ext cx="6726333" cy="639293"/>
          </a:xfrm>
          <a:prstGeom prst="rect">
            <a:avLst/>
          </a:prstGeom>
        </p:spPr>
        <p:txBody>
          <a:bodyPr anchor="t" rtlCol="false" tIns="0" lIns="0" bIns="0" rIns="0">
            <a:spAutoFit/>
          </a:bodyPr>
          <a:lstStyle/>
          <a:p>
            <a:pPr algn="l" marL="0" indent="0" lvl="0">
              <a:lnSpc>
                <a:spcPts val="2563"/>
              </a:lnSpc>
            </a:pPr>
            <a:r>
              <a:rPr lang="en-US" sz="1830">
                <a:solidFill>
                  <a:srgbClr val="141414"/>
                </a:solidFill>
                <a:latin typeface="Proxima Nova Light"/>
                <a:ea typeface="Proxima Nova Light"/>
                <a:cs typeface="Proxima Nova Light"/>
                <a:sym typeface="Proxima Nova Light"/>
              </a:rPr>
              <a:t>Tiền xử lý chuẩn hóa và mã hóa đúng quy trình, đảm bảo không có data leakage, tạo nền tảng vững chắc cho huấn luyện mô hình.</a:t>
            </a:r>
          </a:p>
        </p:txBody>
      </p:sp>
      <p:grpSp>
        <p:nvGrpSpPr>
          <p:cNvPr name="Group 30" id="30"/>
          <p:cNvGrpSpPr/>
          <p:nvPr/>
        </p:nvGrpSpPr>
        <p:grpSpPr>
          <a:xfrm rot="0">
            <a:off x="1028700" y="2054760"/>
            <a:ext cx="6617824" cy="2660095"/>
            <a:chOff x="0" y="0"/>
            <a:chExt cx="1025274" cy="412118"/>
          </a:xfrm>
        </p:grpSpPr>
        <p:sp>
          <p:nvSpPr>
            <p:cNvPr name="Freeform 31" id="31"/>
            <p:cNvSpPr/>
            <p:nvPr/>
          </p:nvSpPr>
          <p:spPr>
            <a:xfrm flipH="false" flipV="false" rot="0">
              <a:off x="0" y="0"/>
              <a:ext cx="1025274" cy="412118"/>
            </a:xfrm>
            <a:custGeom>
              <a:avLst/>
              <a:gdLst/>
              <a:ahLst/>
              <a:cxnLst/>
              <a:rect r="r" b="b" t="t" l="l"/>
              <a:pathLst>
                <a:path h="412118" w="1025274">
                  <a:moveTo>
                    <a:pt x="0" y="0"/>
                  </a:moveTo>
                  <a:lnTo>
                    <a:pt x="1025274" y="0"/>
                  </a:lnTo>
                  <a:lnTo>
                    <a:pt x="1025274" y="412118"/>
                  </a:lnTo>
                  <a:lnTo>
                    <a:pt x="0" y="412118"/>
                  </a:lnTo>
                  <a:close/>
                </a:path>
              </a:pathLst>
            </a:custGeom>
            <a:blipFill>
              <a:blip r:embed="rId3"/>
              <a:stretch>
                <a:fillRect l="0" t="-378" r="0" b="-378"/>
              </a:stretch>
            </a:blipFill>
          </p:spPr>
        </p:sp>
      </p:grpSp>
      <p:grpSp>
        <p:nvGrpSpPr>
          <p:cNvPr name="Group 32" id="32"/>
          <p:cNvGrpSpPr/>
          <p:nvPr/>
        </p:nvGrpSpPr>
        <p:grpSpPr>
          <a:xfrm rot="0">
            <a:off x="1047528" y="4546977"/>
            <a:ext cx="6598996" cy="167878"/>
            <a:chOff x="0" y="0"/>
            <a:chExt cx="8798662" cy="223837"/>
          </a:xfrm>
        </p:grpSpPr>
        <p:grpSp>
          <p:nvGrpSpPr>
            <p:cNvPr name="Group 33" id="33"/>
            <p:cNvGrpSpPr/>
            <p:nvPr/>
          </p:nvGrpSpPr>
          <p:grpSpPr>
            <a:xfrm rot="0">
              <a:off x="0" y="0"/>
              <a:ext cx="1674460" cy="223837"/>
              <a:chOff x="0" y="0"/>
              <a:chExt cx="330758" cy="44215"/>
            </a:xfrm>
          </p:grpSpPr>
          <p:sp>
            <p:nvSpPr>
              <p:cNvPr name="Freeform 34" id="34"/>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35" id="35"/>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36" id="36"/>
            <p:cNvSpPr/>
            <p:nvPr/>
          </p:nvSpPr>
          <p:spPr>
            <a:xfrm>
              <a:off x="0" y="198437"/>
              <a:ext cx="8798662" cy="0"/>
            </a:xfrm>
            <a:prstGeom prst="line">
              <a:avLst/>
            </a:prstGeom>
            <a:ln cap="flat" w="50800">
              <a:solidFill>
                <a:srgbClr val="141414"/>
              </a:solidFill>
              <a:prstDash val="solid"/>
              <a:headEnd type="none" len="sm" w="sm"/>
              <a:tailEnd type="none" len="sm" w="sm"/>
            </a:ln>
          </p:spPr>
        </p:sp>
      </p:grpSp>
      <p:sp>
        <p:nvSpPr>
          <p:cNvPr name="Freeform 37" id="37"/>
          <p:cNvSpPr/>
          <p:nvPr/>
        </p:nvSpPr>
        <p:spPr>
          <a:xfrm flipH="false" flipV="false" rot="0">
            <a:off x="8719167"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
        <p:nvSpPr>
          <p:cNvPr name="Freeform 38" id="38"/>
          <p:cNvSpPr/>
          <p:nvPr/>
        </p:nvSpPr>
        <p:spPr>
          <a:xfrm flipH="false" flipV="false" rot="0">
            <a:off x="16920165" y="9505139"/>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028700" y="2109671"/>
            <a:ext cx="10663774" cy="525882"/>
          </a:xfrm>
          <a:prstGeom prst="rect">
            <a:avLst/>
          </a:prstGeom>
        </p:spPr>
        <p:txBody>
          <a:bodyPr anchor="t" rtlCol="false" tIns="0" lIns="0" bIns="0" rIns="0">
            <a:spAutoFit/>
          </a:bodyPr>
          <a:lstStyle/>
          <a:p>
            <a:pPr algn="l" marL="0" indent="0" lvl="0">
              <a:lnSpc>
                <a:spcPts val="4214"/>
              </a:lnSpc>
            </a:pPr>
            <a:r>
              <a:rPr lang="en-US" sz="3241">
                <a:solidFill>
                  <a:srgbClr val="F8F7F6"/>
                </a:solidFill>
                <a:latin typeface="Pattanakarn SemiExpanded Light"/>
                <a:ea typeface="Pattanakarn SemiExpanded Light"/>
                <a:cs typeface="Pattanakarn SemiExpanded Light"/>
                <a:sym typeface="Pattanakarn SemiExpanded Light"/>
              </a:rPr>
              <a:t>TRAIN/TEST SPLIT</a:t>
            </a:r>
          </a:p>
        </p:txBody>
      </p:sp>
      <p:grpSp>
        <p:nvGrpSpPr>
          <p:cNvPr name="Group 3" id="3"/>
          <p:cNvGrpSpPr/>
          <p:nvPr/>
        </p:nvGrpSpPr>
        <p:grpSpPr>
          <a:xfrm rot="0">
            <a:off x="1028700" y="6456250"/>
            <a:ext cx="795315" cy="79531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6" id="6"/>
          <p:cNvGrpSpPr/>
          <p:nvPr/>
        </p:nvGrpSpPr>
        <p:grpSpPr>
          <a:xfrm rot="0">
            <a:off x="5189371" y="6456250"/>
            <a:ext cx="795315" cy="7953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9" id="9"/>
          <p:cNvGrpSpPr/>
          <p:nvPr/>
        </p:nvGrpSpPr>
        <p:grpSpPr>
          <a:xfrm rot="0">
            <a:off x="9350043" y="6456250"/>
            <a:ext cx="795315" cy="79531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2" id="12"/>
          <p:cNvGrpSpPr/>
          <p:nvPr/>
        </p:nvGrpSpPr>
        <p:grpSpPr>
          <a:xfrm rot="0">
            <a:off x="13510714" y="6456250"/>
            <a:ext cx="795315" cy="79531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sp>
        <p:nvSpPr>
          <p:cNvPr name="TextBox 15" id="15"/>
          <p:cNvSpPr txBox="true"/>
          <p:nvPr/>
        </p:nvSpPr>
        <p:spPr>
          <a:xfrm rot="0">
            <a:off x="1171597" y="6645310"/>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01</a:t>
            </a:r>
          </a:p>
        </p:txBody>
      </p:sp>
      <p:sp>
        <p:nvSpPr>
          <p:cNvPr name="TextBox 16" id="16"/>
          <p:cNvSpPr txBox="true"/>
          <p:nvPr/>
        </p:nvSpPr>
        <p:spPr>
          <a:xfrm rot="0">
            <a:off x="5332268" y="6645310"/>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02</a:t>
            </a:r>
          </a:p>
        </p:txBody>
      </p:sp>
      <p:sp>
        <p:nvSpPr>
          <p:cNvPr name="TextBox 17" id="17"/>
          <p:cNvSpPr txBox="true"/>
          <p:nvPr/>
        </p:nvSpPr>
        <p:spPr>
          <a:xfrm rot="0">
            <a:off x="9492939" y="6645310"/>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03</a:t>
            </a:r>
          </a:p>
        </p:txBody>
      </p:sp>
      <p:sp>
        <p:nvSpPr>
          <p:cNvPr name="TextBox 18" id="18"/>
          <p:cNvSpPr txBox="true"/>
          <p:nvPr/>
        </p:nvSpPr>
        <p:spPr>
          <a:xfrm rot="0">
            <a:off x="13653611" y="6645310"/>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10</a:t>
            </a:r>
          </a:p>
        </p:txBody>
      </p:sp>
      <p:sp>
        <p:nvSpPr>
          <p:cNvPr name="TextBox 19" id="19"/>
          <p:cNvSpPr txBox="true"/>
          <p:nvPr/>
        </p:nvSpPr>
        <p:spPr>
          <a:xfrm rot="0">
            <a:off x="1028700" y="2868716"/>
            <a:ext cx="10663774" cy="525882"/>
          </a:xfrm>
          <a:prstGeom prst="rect">
            <a:avLst/>
          </a:prstGeom>
        </p:spPr>
        <p:txBody>
          <a:bodyPr anchor="t" rtlCol="false" tIns="0" lIns="0" bIns="0" rIns="0">
            <a:spAutoFit/>
          </a:bodyPr>
          <a:lstStyle/>
          <a:p>
            <a:pPr algn="l" marL="0" indent="0" lvl="0">
              <a:lnSpc>
                <a:spcPts val="4214"/>
              </a:lnSpc>
            </a:pPr>
            <a:r>
              <a:rPr lang="en-US" b="true" sz="3241">
                <a:solidFill>
                  <a:srgbClr val="F8F7F6"/>
                </a:solidFill>
                <a:latin typeface="Pattanakarn SemiExpanded Medium"/>
                <a:ea typeface="Pattanakarn SemiExpanded Medium"/>
                <a:cs typeface="Pattanakarn SemiExpanded Medium"/>
                <a:sym typeface="Pattanakarn SemiExpanded Medium"/>
              </a:rPr>
              <a:t>PHÂN CHIA DỮ LIỆU HUẤN LUYỆN VÀ KIỂM THỬ</a:t>
            </a:r>
          </a:p>
        </p:txBody>
      </p:sp>
      <p:grpSp>
        <p:nvGrpSpPr>
          <p:cNvPr name="Group 20" id="20"/>
          <p:cNvGrpSpPr/>
          <p:nvPr/>
        </p:nvGrpSpPr>
        <p:grpSpPr>
          <a:xfrm rot="0">
            <a:off x="11692474" y="2147771"/>
            <a:ext cx="5566826" cy="3227571"/>
            <a:chOff x="0" y="0"/>
            <a:chExt cx="862447" cy="500035"/>
          </a:xfrm>
        </p:grpSpPr>
        <p:sp>
          <p:nvSpPr>
            <p:cNvPr name="Freeform 21" id="21"/>
            <p:cNvSpPr/>
            <p:nvPr/>
          </p:nvSpPr>
          <p:spPr>
            <a:xfrm flipH="false" flipV="false" rot="0">
              <a:off x="0" y="0"/>
              <a:ext cx="862447" cy="500035"/>
            </a:xfrm>
            <a:custGeom>
              <a:avLst/>
              <a:gdLst/>
              <a:ahLst/>
              <a:cxnLst/>
              <a:rect r="r" b="b" t="t" l="l"/>
              <a:pathLst>
                <a:path h="500035" w="862447">
                  <a:moveTo>
                    <a:pt x="0" y="0"/>
                  </a:moveTo>
                  <a:lnTo>
                    <a:pt x="862447" y="0"/>
                  </a:lnTo>
                  <a:lnTo>
                    <a:pt x="862447" y="500035"/>
                  </a:lnTo>
                  <a:lnTo>
                    <a:pt x="0" y="500035"/>
                  </a:lnTo>
                  <a:close/>
                </a:path>
              </a:pathLst>
            </a:custGeom>
            <a:blipFill>
              <a:blip r:embed="rId2"/>
              <a:stretch>
                <a:fillRect l="-306" t="0" r="-306" b="0"/>
              </a:stretch>
            </a:blipFill>
          </p:spPr>
        </p:sp>
      </p:grpSp>
      <p:sp>
        <p:nvSpPr>
          <p:cNvPr name="TextBox 22" id="22"/>
          <p:cNvSpPr txBox="true"/>
          <p:nvPr/>
        </p:nvSpPr>
        <p:spPr>
          <a:xfrm rot="0">
            <a:off x="1028700" y="4140901"/>
            <a:ext cx="9438375" cy="1234483"/>
          </a:xfrm>
          <a:prstGeom prst="rect">
            <a:avLst/>
          </a:prstGeom>
        </p:spPr>
        <p:txBody>
          <a:bodyPr anchor="t" rtlCol="false" tIns="0" lIns="0" bIns="0" rIns="0">
            <a:spAutoFit/>
          </a:bodyPr>
          <a:lstStyle/>
          <a:p>
            <a:pPr algn="l" marL="0" indent="0" lvl="0">
              <a:lnSpc>
                <a:spcPts val="3357"/>
              </a:lnSpc>
            </a:pPr>
            <a:r>
              <a:rPr lang="en-US" sz="2398">
                <a:solidFill>
                  <a:srgbClr val="FFFFFF"/>
                </a:solidFill>
                <a:latin typeface="Proxima Nova Light"/>
                <a:ea typeface="Proxima Nova Light"/>
                <a:cs typeface="Proxima Nova Light"/>
                <a:sym typeface="Proxima Nova Light"/>
              </a:rPr>
              <a:t>Dữ liệu sau làm sạch được chia thành tập huấn luyện và tập kiểm thử theo tỉ lệ 80/20. Cùng một cách chia được áp dụng cho tất cả các mô hình để đảm bảo so sánh công bằng và khách quan.</a:t>
            </a:r>
          </a:p>
        </p:txBody>
      </p:sp>
      <p:sp>
        <p:nvSpPr>
          <p:cNvPr name="TextBox 23" id="23"/>
          <p:cNvSpPr txBox="true"/>
          <p:nvPr/>
        </p:nvSpPr>
        <p:spPr>
          <a:xfrm rot="0">
            <a:off x="1028700" y="7416165"/>
            <a:ext cx="3732046" cy="1099223"/>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9.873 mẫu sau khi làm sạch dữ liệu, loại bỏ 127 bản ghi trùng lặp.</a:t>
            </a:r>
          </a:p>
        </p:txBody>
      </p:sp>
      <p:sp>
        <p:nvSpPr>
          <p:cNvPr name="TextBox 24" id="24"/>
          <p:cNvSpPr txBox="true"/>
          <p:nvPr/>
        </p:nvSpPr>
        <p:spPr>
          <a:xfrm rot="0">
            <a:off x="5189371" y="7416165"/>
            <a:ext cx="3732046" cy="1099223"/>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7.898 mẫu dùng để huấn luyện các mô hình Machine Learning (80% tổng số).</a:t>
            </a:r>
          </a:p>
        </p:txBody>
      </p:sp>
      <p:sp>
        <p:nvSpPr>
          <p:cNvPr name="TextBox 25" id="25"/>
          <p:cNvSpPr txBox="true"/>
          <p:nvPr/>
        </p:nvSpPr>
        <p:spPr>
          <a:xfrm rot="0">
            <a:off x="9350043" y="7416165"/>
            <a:ext cx="3732046" cy="1099223"/>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1.975 mẫu dùng để đánh giá hiệu năng mô hình sau huấn luyện (20% tổng số).</a:t>
            </a:r>
          </a:p>
        </p:txBody>
      </p:sp>
      <p:sp>
        <p:nvSpPr>
          <p:cNvPr name="TextBox 26" id="26"/>
          <p:cNvSpPr txBox="true"/>
          <p:nvPr/>
        </p:nvSpPr>
        <p:spPr>
          <a:xfrm rot="0">
            <a:off x="13510714" y="7416165"/>
            <a:ext cx="3732046" cy="1099223"/>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Tất cả 4 mô hình dùng cùng train/test split để đảm bảo so sánh công bằng.</a:t>
            </a:r>
          </a:p>
        </p:txBody>
      </p:sp>
      <p:sp>
        <p:nvSpPr>
          <p:cNvPr name="TextBox 27" id="27"/>
          <p:cNvSpPr txBox="true"/>
          <p:nvPr/>
        </p:nvSpPr>
        <p:spPr>
          <a:xfrm rot="0">
            <a:off x="2047622" y="6539582"/>
            <a:ext cx="2713124"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Tổng số mẫu</a:t>
            </a:r>
          </a:p>
        </p:txBody>
      </p:sp>
      <p:sp>
        <p:nvSpPr>
          <p:cNvPr name="TextBox 28" id="28"/>
          <p:cNvSpPr txBox="true"/>
          <p:nvPr/>
        </p:nvSpPr>
        <p:spPr>
          <a:xfrm rot="0">
            <a:off x="6208293" y="6539582"/>
            <a:ext cx="2713124"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Training Set (80%)</a:t>
            </a:r>
          </a:p>
        </p:txBody>
      </p:sp>
      <p:sp>
        <p:nvSpPr>
          <p:cNvPr name="TextBox 29" id="29"/>
          <p:cNvSpPr txBox="true"/>
          <p:nvPr/>
        </p:nvSpPr>
        <p:spPr>
          <a:xfrm rot="0">
            <a:off x="10368965" y="6539582"/>
            <a:ext cx="1806937"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Test Set (20%)</a:t>
            </a:r>
          </a:p>
        </p:txBody>
      </p:sp>
      <p:sp>
        <p:nvSpPr>
          <p:cNvPr name="TextBox 30" id="30"/>
          <p:cNvSpPr txBox="true"/>
          <p:nvPr/>
        </p:nvSpPr>
        <p:spPr>
          <a:xfrm rot="0">
            <a:off x="14529636" y="6539582"/>
            <a:ext cx="2332525" cy="628650"/>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Cùng Split Cho Mọi Mô Hình</a:t>
            </a:r>
          </a:p>
        </p:txBody>
      </p:sp>
      <p:grpSp>
        <p:nvGrpSpPr>
          <p:cNvPr name="Group 31" id="31"/>
          <p:cNvGrpSpPr/>
          <p:nvPr/>
        </p:nvGrpSpPr>
        <p:grpSpPr>
          <a:xfrm rot="0">
            <a:off x="1028700" y="5751905"/>
            <a:ext cx="9261420" cy="167878"/>
            <a:chOff x="0" y="0"/>
            <a:chExt cx="12348560" cy="223837"/>
          </a:xfrm>
        </p:grpSpPr>
        <p:grpSp>
          <p:nvGrpSpPr>
            <p:cNvPr name="Group 32" id="32"/>
            <p:cNvGrpSpPr/>
            <p:nvPr/>
          </p:nvGrpSpPr>
          <p:grpSpPr>
            <a:xfrm rot="0">
              <a:off x="0" y="0"/>
              <a:ext cx="1674460" cy="223837"/>
              <a:chOff x="0" y="0"/>
              <a:chExt cx="330758" cy="44215"/>
            </a:xfrm>
          </p:grpSpPr>
          <p:sp>
            <p:nvSpPr>
              <p:cNvPr name="Freeform 33" id="33"/>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F8F7F6"/>
              </a:solidFill>
            </p:spPr>
          </p:sp>
          <p:sp>
            <p:nvSpPr>
              <p:cNvPr name="TextBox 34" id="34"/>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35" id="35"/>
            <p:cNvSpPr/>
            <p:nvPr/>
          </p:nvSpPr>
          <p:spPr>
            <a:xfrm>
              <a:off x="0" y="198437"/>
              <a:ext cx="12348560" cy="0"/>
            </a:xfrm>
            <a:prstGeom prst="line">
              <a:avLst/>
            </a:prstGeom>
            <a:ln cap="flat" w="50800">
              <a:solidFill>
                <a:srgbClr val="F8F7F6"/>
              </a:solidFill>
              <a:prstDash val="solid"/>
              <a:headEnd type="none" len="sm" w="sm"/>
              <a:tailEnd type="none" len="sm" w="sm"/>
            </a:ln>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28700" y="2100146"/>
            <a:ext cx="5609428" cy="1623944"/>
          </a:xfrm>
          <a:prstGeom prst="rect">
            <a:avLst/>
          </a:prstGeom>
        </p:spPr>
        <p:txBody>
          <a:bodyPr anchor="t" rtlCol="false" tIns="0" lIns="0" bIns="0" rIns="0">
            <a:spAutoFit/>
          </a:bodyPr>
          <a:lstStyle/>
          <a:p>
            <a:pPr algn="l" marL="0" indent="0" lvl="0">
              <a:lnSpc>
                <a:spcPts val="6492"/>
              </a:lnSpc>
            </a:pPr>
            <a:r>
              <a:rPr lang="en-US" sz="4994">
                <a:solidFill>
                  <a:srgbClr val="141414"/>
                </a:solidFill>
                <a:latin typeface="Pattanakarn SemiExpanded Light"/>
                <a:ea typeface="Pattanakarn SemiExpanded Light"/>
                <a:cs typeface="Pattanakarn SemiExpanded Light"/>
                <a:sym typeface="Pattanakarn SemiExpanded Light"/>
              </a:rPr>
              <a:t>XÁC ĐỊNH</a:t>
            </a:r>
          </a:p>
          <a:p>
            <a:pPr algn="l" marL="0" indent="0" lvl="0">
              <a:lnSpc>
                <a:spcPts val="6492"/>
              </a:lnSpc>
            </a:pPr>
            <a:r>
              <a:rPr lang="en-US" sz="4994">
                <a:solidFill>
                  <a:srgbClr val="141414"/>
                </a:solidFill>
                <a:latin typeface="Pattanakarn SemiExpanded Light"/>
                <a:ea typeface="Pattanakarn SemiExpanded Light"/>
                <a:cs typeface="Pattanakarn SemiExpanded Light"/>
                <a:sym typeface="Pattanakarn SemiExpanded Light"/>
              </a:rPr>
              <a:t>BÀI TOÁN</a:t>
            </a:r>
          </a:p>
        </p:txBody>
      </p:sp>
      <p:sp>
        <p:nvSpPr>
          <p:cNvPr name="TextBox 4" id="4"/>
          <p:cNvSpPr txBox="true"/>
          <p:nvPr/>
        </p:nvSpPr>
        <p:spPr>
          <a:xfrm rot="0">
            <a:off x="1028700" y="3676420"/>
            <a:ext cx="5609428" cy="804070"/>
          </a:xfrm>
          <a:prstGeom prst="rect">
            <a:avLst/>
          </a:prstGeom>
        </p:spPr>
        <p:txBody>
          <a:bodyPr anchor="t" rtlCol="false" tIns="0" lIns="0" bIns="0" rIns="0">
            <a:spAutoFit/>
          </a:bodyPr>
          <a:lstStyle/>
          <a:p>
            <a:pPr algn="l" marL="0" indent="0" lvl="0">
              <a:lnSpc>
                <a:spcPts val="6492"/>
              </a:lnSpc>
            </a:pPr>
            <a:r>
              <a:rPr lang="en-US" b="true" sz="4994">
                <a:solidFill>
                  <a:srgbClr val="141414"/>
                </a:solidFill>
                <a:latin typeface="Pattanakarn SemiExpanded Medium"/>
                <a:ea typeface="Pattanakarn SemiExpanded Medium"/>
                <a:cs typeface="Pattanakarn SemiExpanded Medium"/>
                <a:sym typeface="Pattanakarn SemiExpanded Medium"/>
              </a:rPr>
              <a:t>REGRESSION</a:t>
            </a:r>
          </a:p>
        </p:txBody>
      </p:sp>
      <p:grpSp>
        <p:nvGrpSpPr>
          <p:cNvPr name="Group 5" id="5"/>
          <p:cNvGrpSpPr/>
          <p:nvPr/>
        </p:nvGrpSpPr>
        <p:grpSpPr>
          <a:xfrm rot="0">
            <a:off x="7515507" y="2147771"/>
            <a:ext cx="7347839" cy="186928"/>
            <a:chOff x="0" y="0"/>
            <a:chExt cx="9797119" cy="249237"/>
          </a:xfrm>
        </p:grpSpPr>
        <p:grpSp>
          <p:nvGrpSpPr>
            <p:cNvPr name="Group 6" id="6"/>
            <p:cNvGrpSpPr/>
            <p:nvPr/>
          </p:nvGrpSpPr>
          <p:grpSpPr>
            <a:xfrm rot="0">
              <a:off x="66" y="0"/>
              <a:ext cx="1674460" cy="223837"/>
              <a:chOff x="0" y="0"/>
              <a:chExt cx="330758" cy="44215"/>
            </a:xfrm>
          </p:grpSpPr>
          <p:sp>
            <p:nvSpPr>
              <p:cNvPr name="Freeform 7" id="7"/>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8" id="8"/>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9" id="9"/>
            <p:cNvSpPr/>
            <p:nvPr/>
          </p:nvSpPr>
          <p:spPr>
            <a:xfrm>
              <a:off x="66" y="198437"/>
              <a:ext cx="9796987" cy="25400"/>
            </a:xfrm>
            <a:prstGeom prst="line">
              <a:avLst/>
            </a:prstGeom>
            <a:ln cap="flat" w="50800">
              <a:solidFill>
                <a:srgbClr val="141414"/>
              </a:solidFill>
              <a:prstDash val="solid"/>
              <a:headEnd type="none" len="sm" w="sm"/>
              <a:tailEnd type="none" len="sm" w="sm"/>
            </a:ln>
          </p:spPr>
        </p:sp>
      </p:grpSp>
      <p:sp>
        <p:nvSpPr>
          <p:cNvPr name="TextBox 10" id="10"/>
          <p:cNvSpPr txBox="true"/>
          <p:nvPr/>
        </p:nvSpPr>
        <p:spPr>
          <a:xfrm rot="0">
            <a:off x="7515556" y="2642545"/>
            <a:ext cx="9743744" cy="952980"/>
          </a:xfrm>
          <a:prstGeom prst="rect">
            <a:avLst/>
          </a:prstGeom>
        </p:spPr>
        <p:txBody>
          <a:bodyPr anchor="t" rtlCol="false" tIns="0" lIns="0" bIns="0" rIns="0">
            <a:spAutoFit/>
          </a:bodyPr>
          <a:lstStyle/>
          <a:p>
            <a:pPr algn="l" marL="0" indent="0" lvl="0">
              <a:lnSpc>
                <a:spcPts val="2598"/>
              </a:lnSpc>
            </a:pPr>
            <a:r>
              <a:rPr lang="en-US" sz="1856">
                <a:solidFill>
                  <a:srgbClr val="141414"/>
                </a:solidFill>
                <a:latin typeface="Proxima Nova Light"/>
                <a:ea typeface="Proxima Nova Light"/>
                <a:cs typeface="Proxima Nova Light"/>
                <a:sym typeface="Proxima Nova Light"/>
              </a:rPr>
              <a:t>Bài toán dự đoán điểm thi thuộc loại Regression vì đầu ra là Performance Index – một giá trị số liên tục, không phải nhãn phân loại. Đây là cơ sở để lựa chọn mô hình và metric đánh giá phù hợp.</a:t>
            </a:r>
          </a:p>
        </p:txBody>
      </p:sp>
      <p:sp>
        <p:nvSpPr>
          <p:cNvPr name="TextBox 11" id="11"/>
          <p:cNvSpPr txBox="true"/>
          <p:nvPr/>
        </p:nvSpPr>
        <p:spPr>
          <a:xfrm rot="0">
            <a:off x="7515556" y="4903372"/>
            <a:ext cx="4654561" cy="1609748"/>
          </a:xfrm>
          <a:prstGeom prst="rect">
            <a:avLst/>
          </a:prstGeom>
        </p:spPr>
        <p:txBody>
          <a:bodyPr anchor="t" rtlCol="false" tIns="0" lIns="0" bIns="0" rIns="0">
            <a:spAutoFit/>
          </a:bodyPr>
          <a:lstStyle/>
          <a:p>
            <a:pPr algn="l" marL="0" indent="0" lvl="0">
              <a:lnSpc>
                <a:spcPts val="2623"/>
              </a:lnSpc>
            </a:pPr>
            <a:r>
              <a:rPr lang="en-US" sz="1874">
                <a:solidFill>
                  <a:srgbClr val="141414"/>
                </a:solidFill>
                <a:latin typeface="Proxima Nova Light"/>
                <a:ea typeface="Proxima Nova Light"/>
                <a:cs typeface="Proxima Nova Light"/>
                <a:sym typeface="Proxima Nova Light"/>
              </a:rPr>
              <a:t>• Hours Studied</a:t>
            </a:r>
          </a:p>
          <a:p>
            <a:pPr algn="l" marL="0" indent="0" lvl="0">
              <a:lnSpc>
                <a:spcPts val="2623"/>
              </a:lnSpc>
            </a:pPr>
            <a:r>
              <a:rPr lang="en-US" sz="1874">
                <a:solidFill>
                  <a:srgbClr val="141414"/>
                </a:solidFill>
                <a:latin typeface="Proxima Nova Light"/>
                <a:ea typeface="Proxima Nova Light"/>
                <a:cs typeface="Proxima Nova Light"/>
                <a:sym typeface="Proxima Nova Light"/>
              </a:rPr>
              <a:t>• Previous Scores</a:t>
            </a:r>
          </a:p>
          <a:p>
            <a:pPr algn="l" marL="0" indent="0" lvl="0">
              <a:lnSpc>
                <a:spcPts val="2623"/>
              </a:lnSpc>
            </a:pPr>
            <a:r>
              <a:rPr lang="en-US" sz="1874">
                <a:solidFill>
                  <a:srgbClr val="141414"/>
                </a:solidFill>
                <a:latin typeface="Proxima Nova Light"/>
                <a:ea typeface="Proxima Nova Light"/>
                <a:cs typeface="Proxima Nova Light"/>
                <a:sym typeface="Proxima Nova Light"/>
              </a:rPr>
              <a:t>• Extracurricular Activities</a:t>
            </a:r>
          </a:p>
          <a:p>
            <a:pPr algn="l" marL="0" indent="0" lvl="0">
              <a:lnSpc>
                <a:spcPts val="2623"/>
              </a:lnSpc>
            </a:pPr>
            <a:r>
              <a:rPr lang="en-US" sz="1874">
                <a:solidFill>
                  <a:srgbClr val="141414"/>
                </a:solidFill>
                <a:latin typeface="Proxima Nova Light"/>
                <a:ea typeface="Proxima Nova Light"/>
                <a:cs typeface="Proxima Nova Light"/>
                <a:sym typeface="Proxima Nova Light"/>
              </a:rPr>
              <a:t>• Sleep Hours</a:t>
            </a:r>
          </a:p>
          <a:p>
            <a:pPr algn="l" marL="0" indent="0" lvl="0">
              <a:lnSpc>
                <a:spcPts val="2623"/>
              </a:lnSpc>
            </a:pPr>
            <a:r>
              <a:rPr lang="en-US" sz="1874">
                <a:solidFill>
                  <a:srgbClr val="141414"/>
                </a:solidFill>
                <a:latin typeface="Proxima Nova Light"/>
                <a:ea typeface="Proxima Nova Light"/>
                <a:cs typeface="Proxima Nova Light"/>
                <a:sym typeface="Proxima Nova Light"/>
              </a:rPr>
              <a:t>• Sample Question Papers Practiced</a:t>
            </a:r>
          </a:p>
        </p:txBody>
      </p:sp>
      <p:sp>
        <p:nvSpPr>
          <p:cNvPr name="TextBox 12" id="12"/>
          <p:cNvSpPr txBox="true"/>
          <p:nvPr/>
        </p:nvSpPr>
        <p:spPr>
          <a:xfrm rot="0">
            <a:off x="12604739" y="4903372"/>
            <a:ext cx="4654561" cy="1285898"/>
          </a:xfrm>
          <a:prstGeom prst="rect">
            <a:avLst/>
          </a:prstGeom>
        </p:spPr>
        <p:txBody>
          <a:bodyPr anchor="t" rtlCol="false" tIns="0" lIns="0" bIns="0" rIns="0">
            <a:spAutoFit/>
          </a:bodyPr>
          <a:lstStyle/>
          <a:p>
            <a:pPr algn="l" marL="0" indent="0" lvl="0">
              <a:lnSpc>
                <a:spcPts val="2623"/>
              </a:lnSpc>
            </a:pPr>
            <a:r>
              <a:rPr lang="en-US" sz="1874">
                <a:solidFill>
                  <a:srgbClr val="141414"/>
                </a:solidFill>
                <a:latin typeface="Proxima Nova Light"/>
                <a:ea typeface="Proxima Nova Light"/>
                <a:cs typeface="Proxima Nova Light"/>
                <a:sym typeface="Proxima Nova Light"/>
              </a:rPr>
              <a:t>• Performance Index (giá trị số liên tục)</a:t>
            </a:r>
          </a:p>
          <a:p>
            <a:pPr algn="l" marL="0" indent="0" lvl="0">
              <a:lnSpc>
                <a:spcPts val="2623"/>
              </a:lnSpc>
            </a:pPr>
            <a:r>
              <a:rPr lang="en-US" sz="1874">
                <a:solidFill>
                  <a:srgbClr val="141414"/>
                </a:solidFill>
                <a:latin typeface="Proxima Nova Light"/>
                <a:ea typeface="Proxima Nova Light"/>
                <a:cs typeface="Proxima Nova Light"/>
                <a:sym typeface="Proxima Nova Light"/>
              </a:rPr>
              <a:t>• Phạm vi: số thực, không phải nhãn rời rạc</a:t>
            </a:r>
          </a:p>
          <a:p>
            <a:pPr algn="l" marL="0" indent="0" lvl="0">
              <a:lnSpc>
                <a:spcPts val="2623"/>
              </a:lnSpc>
            </a:pPr>
            <a:r>
              <a:rPr lang="en-US" sz="1874">
                <a:solidFill>
                  <a:srgbClr val="141414"/>
                </a:solidFill>
                <a:latin typeface="Proxima Nova Light"/>
                <a:ea typeface="Proxima Nova Light"/>
                <a:cs typeface="Proxima Nova Light"/>
                <a:sym typeface="Proxima Nova Light"/>
              </a:rPr>
              <a:t>• → Bài toán Regression, không phải Classification</a:t>
            </a:r>
          </a:p>
        </p:txBody>
      </p:sp>
      <p:sp>
        <p:nvSpPr>
          <p:cNvPr name="TextBox 13" id="13"/>
          <p:cNvSpPr txBox="true"/>
          <p:nvPr/>
        </p:nvSpPr>
        <p:spPr>
          <a:xfrm rot="0">
            <a:off x="7515556" y="4512182"/>
            <a:ext cx="4654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Đầu vào (Input Features)</a:t>
            </a:r>
          </a:p>
        </p:txBody>
      </p:sp>
      <p:sp>
        <p:nvSpPr>
          <p:cNvPr name="TextBox 14" id="14"/>
          <p:cNvSpPr txBox="true"/>
          <p:nvPr/>
        </p:nvSpPr>
        <p:spPr>
          <a:xfrm rot="0">
            <a:off x="12604739" y="4512182"/>
            <a:ext cx="4654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Đầu ra (Target Variable)</a:t>
            </a:r>
          </a:p>
        </p:txBody>
      </p:sp>
      <p:sp>
        <p:nvSpPr>
          <p:cNvPr name="TextBox 15" id="15"/>
          <p:cNvSpPr txBox="true"/>
          <p:nvPr/>
        </p:nvSpPr>
        <p:spPr>
          <a:xfrm rot="0">
            <a:off x="1028700" y="6946937"/>
            <a:ext cx="5787772" cy="1285898"/>
          </a:xfrm>
          <a:prstGeom prst="rect">
            <a:avLst/>
          </a:prstGeom>
        </p:spPr>
        <p:txBody>
          <a:bodyPr anchor="t" rtlCol="false" tIns="0" lIns="0" bIns="0" rIns="0">
            <a:spAutoFit/>
          </a:bodyPr>
          <a:lstStyle/>
          <a:p>
            <a:pPr algn="l" marL="0" indent="0" lvl="0">
              <a:lnSpc>
                <a:spcPts val="2623"/>
              </a:lnSpc>
            </a:pPr>
            <a:r>
              <a:rPr lang="en-US" sz="1874">
                <a:solidFill>
                  <a:srgbClr val="141414"/>
                </a:solidFill>
                <a:latin typeface="Proxima Nova Light"/>
                <a:ea typeface="Proxima Nova Light"/>
                <a:cs typeface="Proxima Nova Light"/>
                <a:sym typeface="Proxima Nova Light"/>
              </a:rPr>
              <a:t>• Đầu ra là số liên tục → dùng Regression</a:t>
            </a:r>
          </a:p>
          <a:p>
            <a:pPr algn="l" marL="0" indent="0" lvl="0">
              <a:lnSpc>
                <a:spcPts val="2623"/>
              </a:lnSpc>
            </a:pPr>
            <a:r>
              <a:rPr lang="en-US" sz="1874">
                <a:solidFill>
                  <a:srgbClr val="141414"/>
                </a:solidFill>
                <a:latin typeface="Proxima Nova Light"/>
                <a:ea typeface="Proxima Nova Light"/>
                <a:cs typeface="Proxima Nova Light"/>
                <a:sym typeface="Proxima Nova Light"/>
              </a:rPr>
              <a:t>• Metric: MAE, RMSE, R²</a:t>
            </a:r>
          </a:p>
          <a:p>
            <a:pPr algn="l" marL="0" indent="0" lvl="0">
              <a:lnSpc>
                <a:spcPts val="2623"/>
              </a:lnSpc>
            </a:pPr>
            <a:r>
              <a:rPr lang="en-US" sz="1874">
                <a:solidFill>
                  <a:srgbClr val="141414"/>
                </a:solidFill>
                <a:latin typeface="Proxima Nova Light"/>
                <a:ea typeface="Proxima Nova Light"/>
                <a:cs typeface="Proxima Nova Light"/>
                <a:sym typeface="Proxima Nova Light"/>
              </a:rPr>
              <a:t>• Không dùng Accuracy hay F1-score</a:t>
            </a:r>
          </a:p>
          <a:p>
            <a:pPr algn="l" marL="0" indent="0" lvl="0">
              <a:lnSpc>
                <a:spcPts val="2623"/>
              </a:lnSpc>
            </a:pPr>
            <a:r>
              <a:rPr lang="en-US" sz="1874">
                <a:solidFill>
                  <a:srgbClr val="141414"/>
                </a:solidFill>
                <a:latin typeface="Proxima Nova Light"/>
                <a:ea typeface="Proxima Nova Light"/>
                <a:cs typeface="Proxima Nova Light"/>
                <a:sym typeface="Proxima Nova Light"/>
              </a:rPr>
              <a:t>• Phù hợp với bản chất dữ liệu</a:t>
            </a:r>
          </a:p>
        </p:txBody>
      </p:sp>
      <p:sp>
        <p:nvSpPr>
          <p:cNvPr name="TextBox 16" id="16"/>
          <p:cNvSpPr txBox="true"/>
          <p:nvPr/>
        </p:nvSpPr>
        <p:spPr>
          <a:xfrm rot="0">
            <a:off x="1028700" y="6555747"/>
            <a:ext cx="5787772"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Tại sao là Regression?</a:t>
            </a:r>
          </a:p>
        </p:txBody>
      </p:sp>
      <p:sp>
        <p:nvSpPr>
          <p:cNvPr name="Freeform 17" id="17"/>
          <p:cNvSpPr/>
          <p:nvPr/>
        </p:nvSpPr>
        <p:spPr>
          <a:xfrm flipH="false" flipV="false" rot="0">
            <a:off x="131811" y="9479917"/>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028700" y="2100146"/>
            <a:ext cx="6207245" cy="804025"/>
          </a:xfrm>
          <a:prstGeom prst="rect">
            <a:avLst/>
          </a:prstGeom>
        </p:spPr>
        <p:txBody>
          <a:bodyPr anchor="t" rtlCol="false" tIns="0" lIns="0" bIns="0" rIns="0">
            <a:spAutoFit/>
          </a:bodyPr>
          <a:lstStyle/>
          <a:p>
            <a:pPr algn="l" marL="0" indent="0" lvl="0">
              <a:lnSpc>
                <a:spcPts val="6497"/>
              </a:lnSpc>
            </a:pPr>
            <a:r>
              <a:rPr lang="en-US" sz="4997">
                <a:solidFill>
                  <a:srgbClr val="F8F7F6"/>
                </a:solidFill>
                <a:latin typeface="Pattanakarn SemiExpanded Light"/>
                <a:ea typeface="Pattanakarn SemiExpanded Light"/>
                <a:cs typeface="Pattanakarn SemiExpanded Light"/>
                <a:sym typeface="Pattanakarn SemiExpanded Light"/>
              </a:rPr>
              <a:t>LÝ DO CHỌN</a:t>
            </a:r>
          </a:p>
        </p:txBody>
      </p:sp>
      <p:sp>
        <p:nvSpPr>
          <p:cNvPr name="TextBox 3" id="3"/>
          <p:cNvSpPr txBox="true"/>
          <p:nvPr/>
        </p:nvSpPr>
        <p:spPr>
          <a:xfrm rot="0">
            <a:off x="1028700" y="3676420"/>
            <a:ext cx="6207245" cy="804025"/>
          </a:xfrm>
          <a:prstGeom prst="rect">
            <a:avLst/>
          </a:prstGeom>
        </p:spPr>
        <p:txBody>
          <a:bodyPr anchor="t" rtlCol="false" tIns="0" lIns="0" bIns="0" rIns="0">
            <a:spAutoFit/>
          </a:bodyPr>
          <a:lstStyle/>
          <a:p>
            <a:pPr algn="l" marL="0" indent="0" lvl="0">
              <a:lnSpc>
                <a:spcPts val="6497"/>
              </a:lnSpc>
            </a:pPr>
            <a:r>
              <a:rPr lang="en-US" b="true" sz="4997">
                <a:solidFill>
                  <a:srgbClr val="F8F7F6"/>
                </a:solidFill>
                <a:latin typeface="Pattanakarn SemiExpanded Medium"/>
                <a:ea typeface="Pattanakarn SemiExpanded Medium"/>
                <a:cs typeface="Pattanakarn SemiExpanded Medium"/>
                <a:sym typeface="Pattanakarn SemiExpanded Medium"/>
              </a:rPr>
              <a:t>4 MÔ HÌNH</a:t>
            </a:r>
          </a:p>
        </p:txBody>
      </p:sp>
      <p:grpSp>
        <p:nvGrpSpPr>
          <p:cNvPr name="Group 4" id="4"/>
          <p:cNvGrpSpPr/>
          <p:nvPr/>
        </p:nvGrpSpPr>
        <p:grpSpPr>
          <a:xfrm rot="0">
            <a:off x="7931048" y="1819663"/>
            <a:ext cx="2831524" cy="2533134"/>
            <a:chOff x="0" y="0"/>
            <a:chExt cx="745751" cy="667163"/>
          </a:xfrm>
        </p:grpSpPr>
        <p:sp>
          <p:nvSpPr>
            <p:cNvPr name="Freeform 5" id="5"/>
            <p:cNvSpPr/>
            <p:nvPr/>
          </p:nvSpPr>
          <p:spPr>
            <a:xfrm flipH="false" flipV="false" rot="0">
              <a:off x="0" y="0"/>
              <a:ext cx="745751" cy="667163"/>
            </a:xfrm>
            <a:custGeom>
              <a:avLst/>
              <a:gdLst/>
              <a:ahLst/>
              <a:cxnLst/>
              <a:rect r="r" b="b" t="t" l="l"/>
              <a:pathLst>
                <a:path h="667163" w="745751">
                  <a:moveTo>
                    <a:pt x="0" y="0"/>
                  </a:moveTo>
                  <a:lnTo>
                    <a:pt x="745751" y="0"/>
                  </a:lnTo>
                  <a:lnTo>
                    <a:pt x="745751" y="667163"/>
                  </a:lnTo>
                  <a:lnTo>
                    <a:pt x="0" y="667163"/>
                  </a:lnTo>
                  <a:close/>
                </a:path>
              </a:pathLst>
            </a:custGeom>
            <a:solidFill>
              <a:srgbClr val="F8F7F6"/>
            </a:solidFill>
          </p:spPr>
        </p:sp>
        <p:sp>
          <p:nvSpPr>
            <p:cNvPr name="TextBox 6" id="6"/>
            <p:cNvSpPr txBox="true"/>
            <p:nvPr/>
          </p:nvSpPr>
          <p:spPr>
            <a:xfrm>
              <a:off x="0" y="-38100"/>
              <a:ext cx="745751" cy="705263"/>
            </a:xfrm>
            <a:prstGeom prst="rect">
              <a:avLst/>
            </a:prstGeom>
          </p:spPr>
          <p:txBody>
            <a:bodyPr anchor="ctr" rtlCol="false" tIns="50800" lIns="50800" bIns="50800" rIns="50800"/>
            <a:lstStyle/>
            <a:p>
              <a:pPr algn="ctr" marL="0" indent="0" lvl="0">
                <a:lnSpc>
                  <a:spcPts val="3359"/>
                </a:lnSpc>
              </a:pPr>
            </a:p>
          </p:txBody>
        </p:sp>
      </p:grpSp>
      <p:grpSp>
        <p:nvGrpSpPr>
          <p:cNvPr name="Group 7" id="7"/>
          <p:cNvGrpSpPr/>
          <p:nvPr/>
        </p:nvGrpSpPr>
        <p:grpSpPr>
          <a:xfrm rot="0">
            <a:off x="8263693" y="2147771"/>
            <a:ext cx="8995607" cy="2995729"/>
            <a:chOff x="0" y="0"/>
            <a:chExt cx="1393655" cy="464117"/>
          </a:xfrm>
        </p:grpSpPr>
        <p:sp>
          <p:nvSpPr>
            <p:cNvPr name="Freeform 8" id="8"/>
            <p:cNvSpPr/>
            <p:nvPr/>
          </p:nvSpPr>
          <p:spPr>
            <a:xfrm flipH="false" flipV="false" rot="0">
              <a:off x="0" y="0"/>
              <a:ext cx="1393655" cy="464117"/>
            </a:xfrm>
            <a:custGeom>
              <a:avLst/>
              <a:gdLst/>
              <a:ahLst/>
              <a:cxnLst/>
              <a:rect r="r" b="b" t="t" l="l"/>
              <a:pathLst>
                <a:path h="464117" w="1393655">
                  <a:moveTo>
                    <a:pt x="0" y="0"/>
                  </a:moveTo>
                  <a:lnTo>
                    <a:pt x="1393655" y="0"/>
                  </a:lnTo>
                  <a:lnTo>
                    <a:pt x="1393655" y="464117"/>
                  </a:lnTo>
                  <a:lnTo>
                    <a:pt x="0" y="464117"/>
                  </a:lnTo>
                  <a:close/>
                </a:path>
              </a:pathLst>
            </a:custGeom>
            <a:blipFill>
              <a:blip r:embed="rId2"/>
              <a:stretch>
                <a:fillRect l="-78" t="0" r="-78" b="0"/>
              </a:stretch>
            </a:blipFill>
          </p:spPr>
        </p:sp>
      </p:grpSp>
      <p:sp>
        <p:nvSpPr>
          <p:cNvPr name="TextBox 9" id="9"/>
          <p:cNvSpPr txBox="true"/>
          <p:nvPr/>
        </p:nvSpPr>
        <p:spPr>
          <a:xfrm rot="0">
            <a:off x="1028700" y="7787640"/>
            <a:ext cx="5071492" cy="1359469"/>
          </a:xfrm>
          <a:prstGeom prst="rect">
            <a:avLst/>
          </a:prstGeom>
        </p:spPr>
        <p:txBody>
          <a:bodyPr anchor="t" rtlCol="false" tIns="0" lIns="0" bIns="0" rIns="0">
            <a:spAutoFit/>
          </a:bodyPr>
          <a:lstStyle/>
          <a:p>
            <a:pPr algn="l" marL="0" indent="0" lvl="0">
              <a:lnSpc>
                <a:spcPts val="2768"/>
              </a:lnSpc>
            </a:pPr>
            <a:r>
              <a:rPr lang="en-US" sz="1977">
                <a:solidFill>
                  <a:srgbClr val="FFFFFF"/>
                </a:solidFill>
                <a:latin typeface="Proxima Nova Light"/>
                <a:ea typeface="Proxima Nova Light"/>
                <a:cs typeface="Proxima Nova Light"/>
                <a:sym typeface="Proxima Nova Light"/>
              </a:rPr>
              <a:t>• Linear Regression: đơn giản, nhanh, dễ giải thích → baseline quan trọng</a:t>
            </a:r>
          </a:p>
          <a:p>
            <a:pPr algn="l" marL="0" indent="0" lvl="0">
              <a:lnSpc>
                <a:spcPts val="2768"/>
              </a:lnSpc>
            </a:pPr>
            <a:r>
              <a:rPr lang="en-US" sz="1977">
                <a:solidFill>
                  <a:srgbClr val="FFFFFF"/>
                </a:solidFill>
                <a:latin typeface="Proxima Nova Light"/>
                <a:ea typeface="Proxima Nova Light"/>
                <a:cs typeface="Proxima Nova Light"/>
                <a:sym typeface="Proxima Nova Light"/>
              </a:rPr>
              <a:t>• Decision Tree: mô hình phi tuyến, dễ trực quan hóa, kiểm tra cải thiện so với baseline</a:t>
            </a:r>
          </a:p>
        </p:txBody>
      </p:sp>
      <p:sp>
        <p:nvSpPr>
          <p:cNvPr name="TextBox 10" id="10"/>
          <p:cNvSpPr txBox="true"/>
          <p:nvPr/>
        </p:nvSpPr>
        <p:spPr>
          <a:xfrm rot="0">
            <a:off x="6610196" y="7787640"/>
            <a:ext cx="5071492" cy="1359469"/>
          </a:xfrm>
          <a:prstGeom prst="rect">
            <a:avLst/>
          </a:prstGeom>
        </p:spPr>
        <p:txBody>
          <a:bodyPr anchor="t" rtlCol="false" tIns="0" lIns="0" bIns="0" rIns="0">
            <a:spAutoFit/>
          </a:bodyPr>
          <a:lstStyle/>
          <a:p>
            <a:pPr algn="l" marL="0" indent="0" lvl="0">
              <a:lnSpc>
                <a:spcPts val="2768"/>
              </a:lnSpc>
            </a:pPr>
            <a:r>
              <a:rPr lang="en-US" sz="1977">
                <a:solidFill>
                  <a:srgbClr val="FFFFFF"/>
                </a:solidFill>
                <a:latin typeface="Proxima Nova Light"/>
                <a:ea typeface="Proxima Nova Light"/>
                <a:cs typeface="Proxima Nova Light"/>
                <a:sym typeface="Proxima Nova Light"/>
              </a:rPr>
              <a:t>• Random Forest: kết hợp nhiều cây quyết định</a:t>
            </a:r>
          </a:p>
          <a:p>
            <a:pPr algn="l" marL="0" indent="0" lvl="0">
              <a:lnSpc>
                <a:spcPts val="2768"/>
              </a:lnSpc>
            </a:pPr>
            <a:r>
              <a:rPr lang="en-US" sz="1977">
                <a:solidFill>
                  <a:srgbClr val="FFFFFF"/>
                </a:solidFill>
                <a:latin typeface="Proxima Nova Light"/>
                <a:ea typeface="Proxima Nova Light"/>
                <a:cs typeface="Proxima Nova Light"/>
                <a:sym typeface="Proxima Nova Light"/>
              </a:rPr>
              <a:t>• Tăng độ ổn định và chính xác</a:t>
            </a:r>
          </a:p>
          <a:p>
            <a:pPr algn="l" marL="0" indent="0" lvl="0">
              <a:lnSpc>
                <a:spcPts val="2768"/>
              </a:lnSpc>
            </a:pPr>
            <a:r>
              <a:rPr lang="en-US" sz="1977">
                <a:solidFill>
                  <a:srgbClr val="FFFFFF"/>
                </a:solidFill>
                <a:latin typeface="Proxima Nova Light"/>
                <a:ea typeface="Proxima Nova Light"/>
                <a:cs typeface="Proxima Nova Light"/>
                <a:sym typeface="Proxima Nova Light"/>
              </a:rPr>
              <a:t>• Giảm overfitting so với cây đơn</a:t>
            </a:r>
          </a:p>
          <a:p>
            <a:pPr algn="l" marL="0" indent="0" lvl="0">
              <a:lnSpc>
                <a:spcPts val="2768"/>
              </a:lnSpc>
            </a:pPr>
            <a:r>
              <a:rPr lang="en-US" sz="1977">
                <a:solidFill>
                  <a:srgbClr val="FFFFFF"/>
                </a:solidFill>
                <a:latin typeface="Proxima Nova Light"/>
                <a:ea typeface="Proxima Nova Light"/>
                <a:cs typeface="Proxima Nova Light"/>
                <a:sym typeface="Proxima Nova Light"/>
              </a:rPr>
              <a:t>• Kiểm tra độ chính xác ensemble</a:t>
            </a:r>
          </a:p>
        </p:txBody>
      </p:sp>
      <p:sp>
        <p:nvSpPr>
          <p:cNvPr name="TextBox 11" id="11"/>
          <p:cNvSpPr txBox="true"/>
          <p:nvPr/>
        </p:nvSpPr>
        <p:spPr>
          <a:xfrm rot="0">
            <a:off x="12187808" y="7787640"/>
            <a:ext cx="5071492" cy="1359469"/>
          </a:xfrm>
          <a:prstGeom prst="rect">
            <a:avLst/>
          </a:prstGeom>
        </p:spPr>
        <p:txBody>
          <a:bodyPr anchor="t" rtlCol="false" tIns="0" lIns="0" bIns="0" rIns="0">
            <a:spAutoFit/>
          </a:bodyPr>
          <a:lstStyle/>
          <a:p>
            <a:pPr algn="l" marL="0" indent="0" lvl="0">
              <a:lnSpc>
                <a:spcPts val="2768"/>
              </a:lnSpc>
            </a:pPr>
            <a:r>
              <a:rPr lang="en-US" sz="1977">
                <a:solidFill>
                  <a:srgbClr val="FFFFFF"/>
                </a:solidFill>
                <a:latin typeface="Proxima Nova Light"/>
                <a:ea typeface="Proxima Nova Light"/>
                <a:cs typeface="Proxima Nova Light"/>
                <a:sym typeface="Proxima Nova Light"/>
              </a:rPr>
              <a:t>• KNN: dự đoán dựa trên k mẫu gần nhất, cách tiếp cận khác biệt</a:t>
            </a:r>
          </a:p>
          <a:p>
            <a:pPr algn="l" marL="0" indent="0" lvl="0">
              <a:lnSpc>
                <a:spcPts val="2768"/>
              </a:lnSpc>
            </a:pPr>
            <a:r>
              <a:rPr lang="en-US" sz="1977">
                <a:solidFill>
                  <a:srgbClr val="FFFFFF"/>
                </a:solidFill>
                <a:latin typeface="Proxima Nova Light"/>
                <a:ea typeface="Proxima Nova Light"/>
                <a:cs typeface="Proxima Nova Light"/>
                <a:sym typeface="Proxima Nova Light"/>
              </a:rPr>
              <a:t>• Mục tiêu: chọn mô hình phù hợp nhất theo metric, không theo độ phức tạp</a:t>
            </a:r>
          </a:p>
        </p:txBody>
      </p:sp>
      <p:sp>
        <p:nvSpPr>
          <p:cNvPr name="TextBox 12" id="12"/>
          <p:cNvSpPr txBox="true"/>
          <p:nvPr/>
        </p:nvSpPr>
        <p:spPr>
          <a:xfrm rot="0">
            <a:off x="1028700" y="6999176"/>
            <a:ext cx="5071492" cy="295275"/>
          </a:xfrm>
          <a:prstGeom prst="rect">
            <a:avLst/>
          </a:prstGeom>
        </p:spPr>
        <p:txBody>
          <a:bodyPr anchor="t" rtlCol="false" tIns="0" lIns="0" bIns="0" rIns="0">
            <a:spAutoFit/>
          </a:bodyPr>
          <a:lstStyle/>
          <a:p>
            <a:pPr algn="l" marL="0" indent="0" lvl="0">
              <a:lnSpc>
                <a:spcPts val="2373"/>
              </a:lnSpc>
            </a:pPr>
            <a:r>
              <a:rPr lang="en-US" b="true" sz="1977" i="true">
                <a:solidFill>
                  <a:srgbClr val="F8F7F6"/>
                </a:solidFill>
                <a:latin typeface="Proxima Nova Bold Italics"/>
                <a:ea typeface="Proxima Nova Bold Italics"/>
                <a:cs typeface="Proxima Nova Bold Italics"/>
                <a:sym typeface="Proxima Nova Bold Italics"/>
              </a:rPr>
              <a:t>Linear Regression &amp; Decision Tree</a:t>
            </a:r>
          </a:p>
        </p:txBody>
      </p:sp>
      <p:sp>
        <p:nvSpPr>
          <p:cNvPr name="TextBox 13" id="13"/>
          <p:cNvSpPr txBox="true"/>
          <p:nvPr/>
        </p:nvSpPr>
        <p:spPr>
          <a:xfrm rot="0">
            <a:off x="6608254" y="6999176"/>
            <a:ext cx="5071492" cy="295275"/>
          </a:xfrm>
          <a:prstGeom prst="rect">
            <a:avLst/>
          </a:prstGeom>
        </p:spPr>
        <p:txBody>
          <a:bodyPr anchor="t" rtlCol="false" tIns="0" lIns="0" bIns="0" rIns="0">
            <a:spAutoFit/>
          </a:bodyPr>
          <a:lstStyle/>
          <a:p>
            <a:pPr algn="l" marL="0" indent="0" lvl="0">
              <a:lnSpc>
                <a:spcPts val="2373"/>
              </a:lnSpc>
            </a:pPr>
            <a:r>
              <a:rPr lang="en-US" b="true" sz="1977" i="true">
                <a:solidFill>
                  <a:srgbClr val="F8F7F6"/>
                </a:solidFill>
                <a:latin typeface="Proxima Nova Bold Italics"/>
                <a:ea typeface="Proxima Nova Bold Italics"/>
                <a:cs typeface="Proxima Nova Bold Italics"/>
                <a:sym typeface="Proxima Nova Bold Italics"/>
              </a:rPr>
              <a:t>Random Forest</a:t>
            </a:r>
          </a:p>
        </p:txBody>
      </p:sp>
      <p:sp>
        <p:nvSpPr>
          <p:cNvPr name="TextBox 14" id="14"/>
          <p:cNvSpPr txBox="true"/>
          <p:nvPr/>
        </p:nvSpPr>
        <p:spPr>
          <a:xfrm rot="0">
            <a:off x="12184571" y="6999176"/>
            <a:ext cx="5071492" cy="295275"/>
          </a:xfrm>
          <a:prstGeom prst="rect">
            <a:avLst/>
          </a:prstGeom>
        </p:spPr>
        <p:txBody>
          <a:bodyPr anchor="t" rtlCol="false" tIns="0" lIns="0" bIns="0" rIns="0">
            <a:spAutoFit/>
          </a:bodyPr>
          <a:lstStyle/>
          <a:p>
            <a:pPr algn="l" marL="0" indent="0" lvl="0">
              <a:lnSpc>
                <a:spcPts val="2373"/>
              </a:lnSpc>
            </a:pPr>
            <a:r>
              <a:rPr lang="en-US" b="true" sz="1977" i="true">
                <a:solidFill>
                  <a:srgbClr val="F8F7F6"/>
                </a:solidFill>
                <a:latin typeface="Proxima Nova Bold Italics"/>
                <a:ea typeface="Proxima Nova Bold Italics"/>
                <a:cs typeface="Proxima Nova Bold Italics"/>
                <a:sym typeface="Proxima Nova Bold Italics"/>
              </a:rPr>
              <a:t>KNN &amp; Mục Tiêu Chọn Mô Hình</a:t>
            </a:r>
          </a:p>
        </p:txBody>
      </p:sp>
      <p:grpSp>
        <p:nvGrpSpPr>
          <p:cNvPr name="Group 15" id="15"/>
          <p:cNvGrpSpPr/>
          <p:nvPr/>
        </p:nvGrpSpPr>
        <p:grpSpPr>
          <a:xfrm rot="0">
            <a:off x="1028700" y="5751905"/>
            <a:ext cx="6793539" cy="167878"/>
            <a:chOff x="0" y="0"/>
            <a:chExt cx="9058052" cy="223837"/>
          </a:xfrm>
        </p:grpSpPr>
        <p:grpSp>
          <p:nvGrpSpPr>
            <p:cNvPr name="Group 16" id="16"/>
            <p:cNvGrpSpPr/>
            <p:nvPr/>
          </p:nvGrpSpPr>
          <p:grpSpPr>
            <a:xfrm rot="0">
              <a:off x="0" y="0"/>
              <a:ext cx="1674460" cy="223837"/>
              <a:chOff x="0" y="0"/>
              <a:chExt cx="330758" cy="44215"/>
            </a:xfrm>
          </p:grpSpPr>
          <p:sp>
            <p:nvSpPr>
              <p:cNvPr name="Freeform 17" id="17"/>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F8F7F6"/>
              </a:solidFill>
            </p:spPr>
          </p:sp>
          <p:sp>
            <p:nvSpPr>
              <p:cNvPr name="TextBox 18" id="18"/>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19" id="19"/>
            <p:cNvSpPr/>
            <p:nvPr/>
          </p:nvSpPr>
          <p:spPr>
            <a:xfrm flipV="true">
              <a:off x="0" y="198437"/>
              <a:ext cx="9058052" cy="0"/>
            </a:xfrm>
            <a:prstGeom prst="line">
              <a:avLst/>
            </a:prstGeom>
            <a:ln cap="flat" w="50800">
              <a:solidFill>
                <a:srgbClr val="F8F7F6"/>
              </a:solidFill>
              <a:prstDash val="solid"/>
              <a:headEnd type="none" len="sm" w="sm"/>
              <a:tailEnd type="none" len="sm" w="sm"/>
            </a:ln>
          </p:spPr>
        </p:sp>
      </p:grpSp>
      <p:sp>
        <p:nvSpPr>
          <p:cNvPr name="Freeform 20" id="20"/>
          <p:cNvSpPr/>
          <p:nvPr/>
        </p:nvSpPr>
        <p:spPr>
          <a:xfrm flipH="false" flipV="false" rot="0">
            <a:off x="225483" y="9496425"/>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28700" y="2090621"/>
            <a:ext cx="5609428" cy="1544557"/>
          </a:xfrm>
          <a:prstGeom prst="rect">
            <a:avLst/>
          </a:prstGeom>
        </p:spPr>
        <p:txBody>
          <a:bodyPr anchor="t" rtlCol="false" tIns="0" lIns="0" bIns="0" rIns="0">
            <a:spAutoFit/>
          </a:bodyPr>
          <a:lstStyle/>
          <a:p>
            <a:pPr algn="l" marL="0" indent="0" lvl="0">
              <a:lnSpc>
                <a:spcPts val="6118"/>
              </a:lnSpc>
            </a:pPr>
            <a:r>
              <a:rPr lang="en-US" sz="4706">
                <a:solidFill>
                  <a:srgbClr val="141414"/>
                </a:solidFill>
                <a:latin typeface="Pattanakarn SemiExpanded Light"/>
                <a:ea typeface="Pattanakarn SemiExpanded Light"/>
                <a:cs typeface="Pattanakarn SemiExpanded Light"/>
                <a:sym typeface="Pattanakarn SemiExpanded Light"/>
              </a:rPr>
              <a:t>LINEAR</a:t>
            </a:r>
          </a:p>
          <a:p>
            <a:pPr algn="l" marL="0" indent="0" lvl="0">
              <a:lnSpc>
                <a:spcPts val="6118"/>
              </a:lnSpc>
            </a:pPr>
            <a:r>
              <a:rPr lang="en-US" sz="4706">
                <a:solidFill>
                  <a:srgbClr val="141414"/>
                </a:solidFill>
                <a:latin typeface="Pattanakarn SemiExpanded Light"/>
                <a:ea typeface="Pattanakarn SemiExpanded Light"/>
                <a:cs typeface="Pattanakarn SemiExpanded Light"/>
                <a:sym typeface="Pattanakarn SemiExpanded Light"/>
              </a:rPr>
              <a:t>REGRESSION</a:t>
            </a:r>
          </a:p>
        </p:txBody>
      </p:sp>
      <p:sp>
        <p:nvSpPr>
          <p:cNvPr name="TextBox 4" id="4"/>
          <p:cNvSpPr txBox="true"/>
          <p:nvPr/>
        </p:nvSpPr>
        <p:spPr>
          <a:xfrm rot="0">
            <a:off x="1028700" y="3666895"/>
            <a:ext cx="5609428" cy="1544557"/>
          </a:xfrm>
          <a:prstGeom prst="rect">
            <a:avLst/>
          </a:prstGeom>
        </p:spPr>
        <p:txBody>
          <a:bodyPr anchor="t" rtlCol="false" tIns="0" lIns="0" bIns="0" rIns="0">
            <a:spAutoFit/>
          </a:bodyPr>
          <a:lstStyle/>
          <a:p>
            <a:pPr algn="l" marL="0" indent="0" lvl="0">
              <a:lnSpc>
                <a:spcPts val="6118"/>
              </a:lnSpc>
            </a:pPr>
            <a:r>
              <a:rPr lang="en-US" b="true" sz="4706">
                <a:solidFill>
                  <a:srgbClr val="141414"/>
                </a:solidFill>
                <a:latin typeface="Pattanakarn SemiExpanded Medium"/>
                <a:ea typeface="Pattanakarn SemiExpanded Medium"/>
                <a:cs typeface="Pattanakarn SemiExpanded Medium"/>
                <a:sym typeface="Pattanakarn SemiExpanded Medium"/>
              </a:rPr>
              <a:t>MÔ HÌNH HỒI QUY TUYẾN TÍNH</a:t>
            </a:r>
          </a:p>
        </p:txBody>
      </p:sp>
      <p:grpSp>
        <p:nvGrpSpPr>
          <p:cNvPr name="Group 5" id="5"/>
          <p:cNvGrpSpPr/>
          <p:nvPr/>
        </p:nvGrpSpPr>
        <p:grpSpPr>
          <a:xfrm rot="0">
            <a:off x="7515507" y="2147771"/>
            <a:ext cx="7347839" cy="186928"/>
            <a:chOff x="0" y="0"/>
            <a:chExt cx="9797119" cy="249237"/>
          </a:xfrm>
        </p:grpSpPr>
        <p:grpSp>
          <p:nvGrpSpPr>
            <p:cNvPr name="Group 6" id="6"/>
            <p:cNvGrpSpPr/>
            <p:nvPr/>
          </p:nvGrpSpPr>
          <p:grpSpPr>
            <a:xfrm rot="0">
              <a:off x="66" y="0"/>
              <a:ext cx="1674460" cy="223837"/>
              <a:chOff x="0" y="0"/>
              <a:chExt cx="330758" cy="44215"/>
            </a:xfrm>
          </p:grpSpPr>
          <p:sp>
            <p:nvSpPr>
              <p:cNvPr name="Freeform 7" id="7"/>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8" id="8"/>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9" id="9"/>
            <p:cNvSpPr/>
            <p:nvPr/>
          </p:nvSpPr>
          <p:spPr>
            <a:xfrm>
              <a:off x="66" y="198437"/>
              <a:ext cx="9796987" cy="25400"/>
            </a:xfrm>
            <a:prstGeom prst="line">
              <a:avLst/>
            </a:prstGeom>
            <a:ln cap="flat" w="50800">
              <a:solidFill>
                <a:srgbClr val="141414"/>
              </a:solidFill>
              <a:prstDash val="solid"/>
              <a:headEnd type="none" len="sm" w="sm"/>
              <a:tailEnd type="none" len="sm" w="sm"/>
            </a:ln>
          </p:spPr>
        </p:sp>
      </p:grpSp>
      <p:sp>
        <p:nvSpPr>
          <p:cNvPr name="TextBox 10" id="10"/>
          <p:cNvSpPr txBox="true"/>
          <p:nvPr/>
        </p:nvSpPr>
        <p:spPr>
          <a:xfrm rot="0">
            <a:off x="7515556" y="2633020"/>
            <a:ext cx="9743744" cy="963092"/>
          </a:xfrm>
          <a:prstGeom prst="rect">
            <a:avLst/>
          </a:prstGeom>
        </p:spPr>
        <p:txBody>
          <a:bodyPr anchor="t" rtlCol="false" tIns="0" lIns="0" bIns="0" rIns="0">
            <a:spAutoFit/>
          </a:bodyPr>
          <a:lstStyle/>
          <a:p>
            <a:pPr algn="l" marL="0" indent="0" lvl="0">
              <a:lnSpc>
                <a:spcPts val="2566"/>
              </a:lnSpc>
            </a:pPr>
            <a:r>
              <a:rPr lang="en-US" sz="1833">
                <a:solidFill>
                  <a:srgbClr val="141414"/>
                </a:solidFill>
                <a:latin typeface="Proxima Nova Light"/>
                <a:ea typeface="Proxima Nova Light"/>
                <a:cs typeface="Proxima Nova Light"/>
                <a:sym typeface="Proxima Nova Light"/>
              </a:rPr>
              <a:t>Linear Regression tìm mối quan hệ tuyến tính giữa các biến đầu vào và biến mục tiêu bằng cách tối thiểu hóa tổng bình phương sai số. Đây là mô hình baseline quan trọng trong bài toán Regression.</a:t>
            </a:r>
          </a:p>
        </p:txBody>
      </p:sp>
      <p:grpSp>
        <p:nvGrpSpPr>
          <p:cNvPr name="Group 11" id="11"/>
          <p:cNvGrpSpPr/>
          <p:nvPr/>
        </p:nvGrpSpPr>
        <p:grpSpPr>
          <a:xfrm rot="0">
            <a:off x="7515556" y="6555747"/>
            <a:ext cx="9743744" cy="2702553"/>
            <a:chOff x="0" y="0"/>
            <a:chExt cx="1509561" cy="418696"/>
          </a:xfrm>
        </p:grpSpPr>
        <p:sp>
          <p:nvSpPr>
            <p:cNvPr name="Freeform 12" id="12"/>
            <p:cNvSpPr/>
            <p:nvPr/>
          </p:nvSpPr>
          <p:spPr>
            <a:xfrm flipH="false" flipV="false" rot="0">
              <a:off x="0" y="0"/>
              <a:ext cx="1509561" cy="418696"/>
            </a:xfrm>
            <a:custGeom>
              <a:avLst/>
              <a:gdLst/>
              <a:ahLst/>
              <a:cxnLst/>
              <a:rect r="r" b="b" t="t" l="l"/>
              <a:pathLst>
                <a:path h="418696" w="1509561">
                  <a:moveTo>
                    <a:pt x="0" y="0"/>
                  </a:moveTo>
                  <a:lnTo>
                    <a:pt x="1509561" y="0"/>
                  </a:lnTo>
                  <a:lnTo>
                    <a:pt x="1509561" y="418696"/>
                  </a:lnTo>
                  <a:lnTo>
                    <a:pt x="0" y="418696"/>
                  </a:lnTo>
                  <a:close/>
                </a:path>
              </a:pathLst>
            </a:custGeom>
            <a:blipFill>
              <a:blip r:embed="rId3"/>
              <a:stretch>
                <a:fillRect l="0" t="-24" r="0" b="-24"/>
              </a:stretch>
            </a:blipFill>
          </p:spPr>
        </p:sp>
      </p:grpSp>
      <p:sp>
        <p:nvSpPr>
          <p:cNvPr name="TextBox 13" id="13"/>
          <p:cNvSpPr txBox="true"/>
          <p:nvPr/>
        </p:nvSpPr>
        <p:spPr>
          <a:xfrm rot="0">
            <a:off x="7515556" y="4903372"/>
            <a:ext cx="4654561" cy="1249582"/>
          </a:xfrm>
          <a:prstGeom prst="rect">
            <a:avLst/>
          </a:prstGeom>
        </p:spPr>
        <p:txBody>
          <a:bodyPr anchor="t" rtlCol="false" tIns="0" lIns="0" bIns="0" rIns="0">
            <a:spAutoFit/>
          </a:bodyPr>
          <a:lstStyle/>
          <a:p>
            <a:pPr algn="l" marL="0" indent="0" lvl="0">
              <a:lnSpc>
                <a:spcPts val="2525"/>
              </a:lnSpc>
            </a:pPr>
            <a:r>
              <a:rPr lang="en-US" sz="1803">
                <a:solidFill>
                  <a:srgbClr val="141414"/>
                </a:solidFill>
                <a:latin typeface="Proxima Nova Light"/>
                <a:ea typeface="Proxima Nova Light"/>
                <a:cs typeface="Proxima Nova Light"/>
                <a:sym typeface="Proxima Nova Light"/>
              </a:rPr>
              <a:t>• Đơn giản, dễ hiểu và dễ giải thích</a:t>
            </a:r>
          </a:p>
          <a:p>
            <a:pPr algn="l" marL="0" indent="0" lvl="0">
              <a:lnSpc>
                <a:spcPts val="2525"/>
              </a:lnSpc>
            </a:pPr>
            <a:r>
              <a:rPr lang="en-US" sz="1803">
                <a:solidFill>
                  <a:srgbClr val="141414"/>
                </a:solidFill>
                <a:latin typeface="Proxima Nova Light"/>
                <a:ea typeface="Proxima Nova Light"/>
                <a:cs typeface="Proxima Nova Light"/>
                <a:sym typeface="Proxima Nova Light"/>
              </a:rPr>
              <a:t>• Huấn luyện nhanh, ít tốn tài nguyên</a:t>
            </a:r>
          </a:p>
          <a:p>
            <a:pPr algn="l" marL="0" indent="0" lvl="0">
              <a:lnSpc>
                <a:spcPts val="2525"/>
              </a:lnSpc>
            </a:pPr>
            <a:r>
              <a:rPr lang="en-US" sz="1803">
                <a:solidFill>
                  <a:srgbClr val="141414"/>
                </a:solidFill>
                <a:latin typeface="Proxima Nova Light"/>
                <a:ea typeface="Proxima Nova Light"/>
                <a:cs typeface="Proxima Nova Light"/>
                <a:sym typeface="Proxima Nova Light"/>
              </a:rPr>
              <a:t>• Hiệu quả khi dữ liệu có xu hướng tuyến tính</a:t>
            </a:r>
          </a:p>
          <a:p>
            <a:pPr algn="l" marL="0" indent="0" lvl="0">
              <a:lnSpc>
                <a:spcPts val="2525"/>
              </a:lnSpc>
            </a:pPr>
            <a:r>
              <a:rPr lang="en-US" sz="1803">
                <a:solidFill>
                  <a:srgbClr val="141414"/>
                </a:solidFill>
                <a:latin typeface="Proxima Nova Light"/>
                <a:ea typeface="Proxima Nova Light"/>
                <a:cs typeface="Proxima Nova Light"/>
                <a:sym typeface="Proxima Nova Light"/>
              </a:rPr>
              <a:t>• Vai trò baseline để so sánh</a:t>
            </a:r>
          </a:p>
        </p:txBody>
      </p:sp>
      <p:sp>
        <p:nvSpPr>
          <p:cNvPr name="TextBox 14" id="14"/>
          <p:cNvSpPr txBox="true"/>
          <p:nvPr/>
        </p:nvSpPr>
        <p:spPr>
          <a:xfrm rot="0">
            <a:off x="12604739" y="4903372"/>
            <a:ext cx="4654561" cy="1563907"/>
          </a:xfrm>
          <a:prstGeom prst="rect">
            <a:avLst/>
          </a:prstGeom>
        </p:spPr>
        <p:txBody>
          <a:bodyPr anchor="t" rtlCol="false" tIns="0" lIns="0" bIns="0" rIns="0">
            <a:spAutoFit/>
          </a:bodyPr>
          <a:lstStyle/>
          <a:p>
            <a:pPr algn="l" marL="0" indent="0" lvl="0">
              <a:lnSpc>
                <a:spcPts val="2525"/>
              </a:lnSpc>
            </a:pPr>
            <a:r>
              <a:rPr lang="en-US" sz="1803">
                <a:solidFill>
                  <a:srgbClr val="141414"/>
                </a:solidFill>
                <a:latin typeface="Proxima Nova Light"/>
                <a:ea typeface="Proxima Nova Light"/>
                <a:cs typeface="Proxima Nova Light"/>
                <a:sym typeface="Proxima Nova Light"/>
              </a:rPr>
              <a:t>• Giả định quan hệ gần tuyến tính giữa các biến</a:t>
            </a:r>
          </a:p>
          <a:p>
            <a:pPr algn="l" marL="0" indent="0" lvl="0">
              <a:lnSpc>
                <a:spcPts val="2525"/>
              </a:lnSpc>
            </a:pPr>
            <a:r>
              <a:rPr lang="en-US" sz="1803">
                <a:solidFill>
                  <a:srgbClr val="141414"/>
                </a:solidFill>
                <a:latin typeface="Proxima Nova Light"/>
                <a:ea typeface="Proxima Nova Light"/>
                <a:cs typeface="Proxima Nova Light"/>
                <a:sym typeface="Proxima Nova Light"/>
              </a:rPr>
              <a:t>• Nhạy cảm với ngoại lai (outliers)</a:t>
            </a:r>
          </a:p>
          <a:p>
            <a:pPr algn="l" marL="0" indent="0" lvl="0">
              <a:lnSpc>
                <a:spcPts val="2525"/>
              </a:lnSpc>
            </a:pPr>
            <a:r>
              <a:rPr lang="en-US" sz="1803">
                <a:solidFill>
                  <a:srgbClr val="141414"/>
                </a:solidFill>
                <a:latin typeface="Proxima Nova Light"/>
                <a:ea typeface="Proxima Nova Light"/>
                <a:cs typeface="Proxima Nova Light"/>
                <a:sym typeface="Proxima Nova Light"/>
              </a:rPr>
              <a:t>• Không mô hình hóa được quan hệ phi tuyến phức tạp</a:t>
            </a:r>
          </a:p>
        </p:txBody>
      </p:sp>
      <p:sp>
        <p:nvSpPr>
          <p:cNvPr name="TextBox 15" id="15"/>
          <p:cNvSpPr txBox="true"/>
          <p:nvPr/>
        </p:nvSpPr>
        <p:spPr>
          <a:xfrm rot="0">
            <a:off x="7515556" y="4512182"/>
            <a:ext cx="4654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Ưu điểm</a:t>
            </a:r>
          </a:p>
        </p:txBody>
      </p:sp>
      <p:sp>
        <p:nvSpPr>
          <p:cNvPr name="TextBox 16" id="16"/>
          <p:cNvSpPr txBox="true"/>
          <p:nvPr/>
        </p:nvSpPr>
        <p:spPr>
          <a:xfrm rot="0">
            <a:off x="12604739" y="4512182"/>
            <a:ext cx="4654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Nhược điểm</a:t>
            </a:r>
          </a:p>
        </p:txBody>
      </p:sp>
      <p:sp>
        <p:nvSpPr>
          <p:cNvPr name="TextBox 17" id="17"/>
          <p:cNvSpPr txBox="true"/>
          <p:nvPr/>
        </p:nvSpPr>
        <p:spPr>
          <a:xfrm rot="0">
            <a:off x="1028700" y="6946937"/>
            <a:ext cx="5787772" cy="1249582"/>
          </a:xfrm>
          <a:prstGeom prst="rect">
            <a:avLst/>
          </a:prstGeom>
        </p:spPr>
        <p:txBody>
          <a:bodyPr anchor="t" rtlCol="false" tIns="0" lIns="0" bIns="0" rIns="0">
            <a:spAutoFit/>
          </a:bodyPr>
          <a:lstStyle/>
          <a:p>
            <a:pPr algn="l" marL="0" indent="0" lvl="0">
              <a:lnSpc>
                <a:spcPts val="2525"/>
              </a:lnSpc>
            </a:pPr>
            <a:r>
              <a:rPr lang="en-US" sz="1803">
                <a:solidFill>
                  <a:srgbClr val="141414"/>
                </a:solidFill>
                <a:latin typeface="Proxima Nova Light"/>
                <a:ea typeface="Proxima Nova Light"/>
                <a:cs typeface="Proxima Nova Light"/>
                <a:sym typeface="Proxima Nova Light"/>
              </a:rPr>
              <a:t>• MAE = 1.646970</a:t>
            </a:r>
          </a:p>
          <a:p>
            <a:pPr algn="l" marL="0" indent="0" lvl="0">
              <a:lnSpc>
                <a:spcPts val="2525"/>
              </a:lnSpc>
            </a:pPr>
            <a:r>
              <a:rPr lang="en-US" sz="1803">
                <a:solidFill>
                  <a:srgbClr val="141414"/>
                </a:solidFill>
                <a:latin typeface="Proxima Nova Light"/>
                <a:ea typeface="Proxima Nova Light"/>
                <a:cs typeface="Proxima Nova Light"/>
                <a:sym typeface="Proxima Nova Light"/>
              </a:rPr>
              <a:t>• RMSE = 2.075066</a:t>
            </a:r>
          </a:p>
          <a:p>
            <a:pPr algn="l" marL="0" indent="0" lvl="0">
              <a:lnSpc>
                <a:spcPts val="2525"/>
              </a:lnSpc>
            </a:pPr>
            <a:r>
              <a:rPr lang="en-US" sz="1803">
                <a:solidFill>
                  <a:srgbClr val="141414"/>
                </a:solidFill>
                <a:latin typeface="Proxima Nova Light"/>
                <a:ea typeface="Proxima Nova Light"/>
                <a:cs typeface="Proxima Nova Light"/>
                <a:sym typeface="Proxima Nova Light"/>
              </a:rPr>
              <a:t>• R² = 0.988430</a:t>
            </a:r>
          </a:p>
          <a:p>
            <a:pPr algn="l" marL="0" indent="0" lvl="0">
              <a:lnSpc>
                <a:spcPts val="2525"/>
              </a:lnSpc>
            </a:pPr>
            <a:r>
              <a:rPr lang="en-US" sz="1803">
                <a:solidFill>
                  <a:srgbClr val="141414"/>
                </a:solidFill>
                <a:latin typeface="Proxima Nova Light"/>
                <a:ea typeface="Proxima Nova Light"/>
                <a:cs typeface="Proxima Nova Light"/>
                <a:sym typeface="Proxima Nova Light"/>
              </a:rPr>
              <a:t>• Mô hình tốt nhất trong 4 mô hình thử nghiệm</a:t>
            </a:r>
          </a:p>
        </p:txBody>
      </p:sp>
      <p:sp>
        <p:nvSpPr>
          <p:cNvPr name="TextBox 18" id="18"/>
          <p:cNvSpPr txBox="true"/>
          <p:nvPr/>
        </p:nvSpPr>
        <p:spPr>
          <a:xfrm rot="0">
            <a:off x="1028700" y="6555747"/>
            <a:ext cx="5787772"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Kết quả trên bộ dữ liệu Student Performance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28700" y="2100146"/>
            <a:ext cx="5609428" cy="1623944"/>
          </a:xfrm>
          <a:prstGeom prst="rect">
            <a:avLst/>
          </a:prstGeom>
        </p:spPr>
        <p:txBody>
          <a:bodyPr anchor="t" rtlCol="false" tIns="0" lIns="0" bIns="0" rIns="0">
            <a:spAutoFit/>
          </a:bodyPr>
          <a:lstStyle/>
          <a:p>
            <a:pPr algn="l" marL="0" indent="0" lvl="0">
              <a:lnSpc>
                <a:spcPts val="6492"/>
              </a:lnSpc>
            </a:pPr>
            <a:r>
              <a:rPr lang="en-US" sz="4994">
                <a:solidFill>
                  <a:srgbClr val="141414"/>
                </a:solidFill>
                <a:latin typeface="Pattanakarn SemiExpanded Light"/>
                <a:ea typeface="Pattanakarn SemiExpanded Light"/>
                <a:cs typeface="Pattanakarn SemiExpanded Light"/>
                <a:sym typeface="Pattanakarn SemiExpanded Light"/>
              </a:rPr>
              <a:t>DECISION</a:t>
            </a:r>
          </a:p>
          <a:p>
            <a:pPr algn="l" marL="0" indent="0" lvl="0">
              <a:lnSpc>
                <a:spcPts val="6492"/>
              </a:lnSpc>
            </a:pPr>
            <a:r>
              <a:rPr lang="en-US" sz="4994">
                <a:solidFill>
                  <a:srgbClr val="141414"/>
                </a:solidFill>
                <a:latin typeface="Pattanakarn SemiExpanded Light"/>
                <a:ea typeface="Pattanakarn SemiExpanded Light"/>
                <a:cs typeface="Pattanakarn SemiExpanded Light"/>
                <a:sym typeface="Pattanakarn SemiExpanded Light"/>
              </a:rPr>
              <a:t>TREE</a:t>
            </a:r>
          </a:p>
        </p:txBody>
      </p:sp>
      <p:sp>
        <p:nvSpPr>
          <p:cNvPr name="TextBox 4" id="4"/>
          <p:cNvSpPr txBox="true"/>
          <p:nvPr/>
        </p:nvSpPr>
        <p:spPr>
          <a:xfrm rot="0">
            <a:off x="1028700" y="3676420"/>
            <a:ext cx="5609428" cy="1623944"/>
          </a:xfrm>
          <a:prstGeom prst="rect">
            <a:avLst/>
          </a:prstGeom>
        </p:spPr>
        <p:txBody>
          <a:bodyPr anchor="t" rtlCol="false" tIns="0" lIns="0" bIns="0" rIns="0">
            <a:spAutoFit/>
          </a:bodyPr>
          <a:lstStyle/>
          <a:p>
            <a:pPr algn="l" marL="0" indent="0" lvl="0">
              <a:lnSpc>
                <a:spcPts val="6492"/>
              </a:lnSpc>
            </a:pPr>
            <a:r>
              <a:rPr lang="en-US" b="true" sz="4994">
                <a:solidFill>
                  <a:srgbClr val="141414"/>
                </a:solidFill>
                <a:latin typeface="Pattanakarn SemiExpanded Medium"/>
                <a:ea typeface="Pattanakarn SemiExpanded Medium"/>
                <a:cs typeface="Pattanakarn SemiExpanded Medium"/>
                <a:sym typeface="Pattanakarn SemiExpanded Medium"/>
              </a:rPr>
              <a:t>MÔ HÌNH PHI TUYẾN</a:t>
            </a:r>
          </a:p>
        </p:txBody>
      </p:sp>
      <p:grpSp>
        <p:nvGrpSpPr>
          <p:cNvPr name="Group 5" id="5"/>
          <p:cNvGrpSpPr/>
          <p:nvPr/>
        </p:nvGrpSpPr>
        <p:grpSpPr>
          <a:xfrm rot="0">
            <a:off x="7515507" y="2147771"/>
            <a:ext cx="7347839" cy="186928"/>
            <a:chOff x="0" y="0"/>
            <a:chExt cx="9797119" cy="249237"/>
          </a:xfrm>
        </p:grpSpPr>
        <p:grpSp>
          <p:nvGrpSpPr>
            <p:cNvPr name="Group 6" id="6"/>
            <p:cNvGrpSpPr/>
            <p:nvPr/>
          </p:nvGrpSpPr>
          <p:grpSpPr>
            <a:xfrm rot="0">
              <a:off x="66" y="0"/>
              <a:ext cx="1674460" cy="223837"/>
              <a:chOff x="0" y="0"/>
              <a:chExt cx="330758" cy="44215"/>
            </a:xfrm>
          </p:grpSpPr>
          <p:sp>
            <p:nvSpPr>
              <p:cNvPr name="Freeform 7" id="7"/>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8" id="8"/>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9" id="9"/>
            <p:cNvSpPr/>
            <p:nvPr/>
          </p:nvSpPr>
          <p:spPr>
            <a:xfrm>
              <a:off x="66" y="198437"/>
              <a:ext cx="9796987" cy="25400"/>
            </a:xfrm>
            <a:prstGeom prst="line">
              <a:avLst/>
            </a:prstGeom>
            <a:ln cap="flat" w="50800">
              <a:solidFill>
                <a:srgbClr val="141414"/>
              </a:solidFill>
              <a:prstDash val="solid"/>
              <a:headEnd type="none" len="sm" w="sm"/>
              <a:tailEnd type="none" len="sm" w="sm"/>
            </a:ln>
          </p:spPr>
        </p:sp>
      </p:grpSp>
      <p:sp>
        <p:nvSpPr>
          <p:cNvPr name="TextBox 10" id="10"/>
          <p:cNvSpPr txBox="true"/>
          <p:nvPr/>
        </p:nvSpPr>
        <p:spPr>
          <a:xfrm rot="0">
            <a:off x="7515556" y="2633020"/>
            <a:ext cx="9743744" cy="639242"/>
          </a:xfrm>
          <a:prstGeom prst="rect">
            <a:avLst/>
          </a:prstGeom>
        </p:spPr>
        <p:txBody>
          <a:bodyPr anchor="t" rtlCol="false" tIns="0" lIns="0" bIns="0" rIns="0">
            <a:spAutoFit/>
          </a:bodyPr>
          <a:lstStyle/>
          <a:p>
            <a:pPr algn="l" marL="0" indent="0" lvl="0">
              <a:lnSpc>
                <a:spcPts val="2566"/>
              </a:lnSpc>
            </a:pPr>
            <a:r>
              <a:rPr lang="en-US" sz="1833">
                <a:solidFill>
                  <a:srgbClr val="141414"/>
                </a:solidFill>
                <a:latin typeface="Proxima Nova Light"/>
                <a:ea typeface="Proxima Nova Light"/>
                <a:cs typeface="Proxima Nova Light"/>
                <a:sym typeface="Proxima Nova Light"/>
              </a:rPr>
              <a:t>Decision Tree chia dữ liệu theo các điều kiện dạng cây phân nhánh, có khả năng mô hình hóa quan hệ phi tuyến phức tạp và dễ trực quan hóa cấu trúc mô hình.</a:t>
            </a:r>
          </a:p>
        </p:txBody>
      </p:sp>
      <p:grpSp>
        <p:nvGrpSpPr>
          <p:cNvPr name="Group 11" id="11"/>
          <p:cNvGrpSpPr/>
          <p:nvPr/>
        </p:nvGrpSpPr>
        <p:grpSpPr>
          <a:xfrm rot="0">
            <a:off x="7515556" y="6555747"/>
            <a:ext cx="9743744" cy="2702553"/>
            <a:chOff x="0" y="0"/>
            <a:chExt cx="1509561" cy="418696"/>
          </a:xfrm>
        </p:grpSpPr>
        <p:sp>
          <p:nvSpPr>
            <p:cNvPr name="Freeform 12" id="12"/>
            <p:cNvSpPr/>
            <p:nvPr/>
          </p:nvSpPr>
          <p:spPr>
            <a:xfrm flipH="false" flipV="false" rot="0">
              <a:off x="0" y="0"/>
              <a:ext cx="1509561" cy="418696"/>
            </a:xfrm>
            <a:custGeom>
              <a:avLst/>
              <a:gdLst/>
              <a:ahLst/>
              <a:cxnLst/>
              <a:rect r="r" b="b" t="t" l="l"/>
              <a:pathLst>
                <a:path h="418696" w="1509561">
                  <a:moveTo>
                    <a:pt x="0" y="0"/>
                  </a:moveTo>
                  <a:lnTo>
                    <a:pt x="1509561" y="0"/>
                  </a:lnTo>
                  <a:lnTo>
                    <a:pt x="1509561" y="418696"/>
                  </a:lnTo>
                  <a:lnTo>
                    <a:pt x="0" y="418696"/>
                  </a:lnTo>
                  <a:close/>
                </a:path>
              </a:pathLst>
            </a:custGeom>
            <a:blipFill>
              <a:blip r:embed="rId3"/>
              <a:stretch>
                <a:fillRect l="0" t="-24" r="0" b="-24"/>
              </a:stretch>
            </a:blipFill>
          </p:spPr>
        </p:sp>
      </p:grpSp>
      <p:sp>
        <p:nvSpPr>
          <p:cNvPr name="TextBox 13" id="13"/>
          <p:cNvSpPr txBox="true"/>
          <p:nvPr/>
        </p:nvSpPr>
        <p:spPr>
          <a:xfrm rot="0">
            <a:off x="7515556" y="4903372"/>
            <a:ext cx="4654561" cy="1249582"/>
          </a:xfrm>
          <a:prstGeom prst="rect">
            <a:avLst/>
          </a:prstGeom>
        </p:spPr>
        <p:txBody>
          <a:bodyPr anchor="t" rtlCol="false" tIns="0" lIns="0" bIns="0" rIns="0">
            <a:spAutoFit/>
          </a:bodyPr>
          <a:lstStyle/>
          <a:p>
            <a:pPr algn="l" marL="0" indent="0" lvl="0">
              <a:lnSpc>
                <a:spcPts val="2525"/>
              </a:lnSpc>
            </a:pPr>
            <a:r>
              <a:rPr lang="en-US" sz="1803">
                <a:solidFill>
                  <a:srgbClr val="141414"/>
                </a:solidFill>
                <a:latin typeface="Proxima Nova Light"/>
                <a:ea typeface="Proxima Nova Light"/>
                <a:cs typeface="Proxima Nova Light"/>
                <a:sym typeface="Proxima Nova Light"/>
              </a:rPr>
              <a:t>• Mô hình hóa được quan hệ phi tuyến</a:t>
            </a:r>
          </a:p>
          <a:p>
            <a:pPr algn="l" marL="0" indent="0" lvl="0">
              <a:lnSpc>
                <a:spcPts val="2525"/>
              </a:lnSpc>
            </a:pPr>
            <a:r>
              <a:rPr lang="en-US" sz="1803">
                <a:solidFill>
                  <a:srgbClr val="141414"/>
                </a:solidFill>
                <a:latin typeface="Proxima Nova Light"/>
                <a:ea typeface="Proxima Nova Light"/>
                <a:cs typeface="Proxima Nova Light"/>
                <a:sym typeface="Proxima Nova Light"/>
              </a:rPr>
              <a:t>• Dễ hiểu và trực quan hóa</a:t>
            </a:r>
          </a:p>
          <a:p>
            <a:pPr algn="l" marL="0" indent="0" lvl="0">
              <a:lnSpc>
                <a:spcPts val="2525"/>
              </a:lnSpc>
            </a:pPr>
            <a:r>
              <a:rPr lang="en-US" sz="1803">
                <a:solidFill>
                  <a:srgbClr val="141414"/>
                </a:solidFill>
                <a:latin typeface="Proxima Nova Light"/>
                <a:ea typeface="Proxima Nova Light"/>
                <a:cs typeface="Proxima Nova Light"/>
                <a:sym typeface="Proxima Nova Light"/>
              </a:rPr>
              <a:t>• Không cần chuẩn hóa dữ liệu</a:t>
            </a:r>
          </a:p>
          <a:p>
            <a:pPr algn="l" marL="0" indent="0" lvl="0">
              <a:lnSpc>
                <a:spcPts val="2525"/>
              </a:lnSpc>
            </a:pPr>
            <a:r>
              <a:rPr lang="en-US" sz="1803">
                <a:solidFill>
                  <a:srgbClr val="141414"/>
                </a:solidFill>
                <a:latin typeface="Proxima Nova Light"/>
                <a:ea typeface="Proxima Nova Light"/>
                <a:cs typeface="Proxima Nova Light"/>
                <a:sym typeface="Proxima Nova Light"/>
              </a:rPr>
              <a:t>• Xử lý được cả biến số và biến phân loại</a:t>
            </a:r>
          </a:p>
        </p:txBody>
      </p:sp>
      <p:sp>
        <p:nvSpPr>
          <p:cNvPr name="TextBox 14" id="14"/>
          <p:cNvSpPr txBox="true"/>
          <p:nvPr/>
        </p:nvSpPr>
        <p:spPr>
          <a:xfrm rot="0">
            <a:off x="12604739" y="4903372"/>
            <a:ext cx="4654561" cy="1249582"/>
          </a:xfrm>
          <a:prstGeom prst="rect">
            <a:avLst/>
          </a:prstGeom>
        </p:spPr>
        <p:txBody>
          <a:bodyPr anchor="t" rtlCol="false" tIns="0" lIns="0" bIns="0" rIns="0">
            <a:spAutoFit/>
          </a:bodyPr>
          <a:lstStyle/>
          <a:p>
            <a:pPr algn="l" marL="0" indent="0" lvl="0">
              <a:lnSpc>
                <a:spcPts val="2525"/>
              </a:lnSpc>
            </a:pPr>
            <a:r>
              <a:rPr lang="en-US" sz="1803">
                <a:solidFill>
                  <a:srgbClr val="141414"/>
                </a:solidFill>
                <a:latin typeface="Proxima Nova Light"/>
                <a:ea typeface="Proxima Nova Light"/>
                <a:cs typeface="Proxima Nova Light"/>
                <a:sym typeface="Proxima Nova Light"/>
              </a:rPr>
              <a:t>• Dễ overfitting trên dữ liệu huấn luyện</a:t>
            </a:r>
          </a:p>
          <a:p>
            <a:pPr algn="l" marL="0" indent="0" lvl="0">
              <a:lnSpc>
                <a:spcPts val="2525"/>
              </a:lnSpc>
            </a:pPr>
            <a:r>
              <a:rPr lang="en-US" sz="1803">
                <a:solidFill>
                  <a:srgbClr val="141414"/>
                </a:solidFill>
                <a:latin typeface="Proxima Nova Light"/>
                <a:ea typeface="Proxima Nova Light"/>
                <a:cs typeface="Proxima Nova Light"/>
                <a:sym typeface="Proxima Nova Light"/>
              </a:rPr>
              <a:t>• Nhạy cảm với nhiễu và dữ liệu bất thường</a:t>
            </a:r>
          </a:p>
          <a:p>
            <a:pPr algn="l" marL="0" indent="0" lvl="0">
              <a:lnSpc>
                <a:spcPts val="2525"/>
              </a:lnSpc>
            </a:pPr>
            <a:r>
              <a:rPr lang="en-US" sz="1803">
                <a:solidFill>
                  <a:srgbClr val="141414"/>
                </a:solidFill>
                <a:latin typeface="Proxima Nova Light"/>
                <a:ea typeface="Proxima Nova Light"/>
                <a:cs typeface="Proxima Nova Light"/>
                <a:sym typeface="Proxima Nova Light"/>
              </a:rPr>
              <a:t>• Kém ổn định hơn ensemble methods</a:t>
            </a:r>
          </a:p>
          <a:p>
            <a:pPr algn="l" marL="0" indent="0" lvl="0">
              <a:lnSpc>
                <a:spcPts val="2525"/>
              </a:lnSpc>
            </a:pPr>
            <a:r>
              <a:rPr lang="en-US" sz="1803">
                <a:solidFill>
                  <a:srgbClr val="141414"/>
                </a:solidFill>
                <a:latin typeface="Proxima Nova Light"/>
                <a:ea typeface="Proxima Nova Light"/>
                <a:cs typeface="Proxima Nova Light"/>
                <a:sym typeface="Proxima Nova Light"/>
              </a:rPr>
              <a:t>• Cần kiểm soát độ sâu cây cẩn thận</a:t>
            </a:r>
          </a:p>
        </p:txBody>
      </p:sp>
      <p:sp>
        <p:nvSpPr>
          <p:cNvPr name="TextBox 15" id="15"/>
          <p:cNvSpPr txBox="true"/>
          <p:nvPr/>
        </p:nvSpPr>
        <p:spPr>
          <a:xfrm rot="0">
            <a:off x="7515556" y="4512182"/>
            <a:ext cx="4654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Ưu Điểm</a:t>
            </a:r>
          </a:p>
        </p:txBody>
      </p:sp>
      <p:sp>
        <p:nvSpPr>
          <p:cNvPr name="TextBox 16" id="16"/>
          <p:cNvSpPr txBox="true"/>
          <p:nvPr/>
        </p:nvSpPr>
        <p:spPr>
          <a:xfrm rot="0">
            <a:off x="12604739" y="4512182"/>
            <a:ext cx="4654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Nhược Điểm</a:t>
            </a:r>
          </a:p>
        </p:txBody>
      </p:sp>
      <p:sp>
        <p:nvSpPr>
          <p:cNvPr name="TextBox 17" id="17"/>
          <p:cNvSpPr txBox="true"/>
          <p:nvPr/>
        </p:nvSpPr>
        <p:spPr>
          <a:xfrm rot="0">
            <a:off x="1028700" y="6946937"/>
            <a:ext cx="5787772" cy="1563907"/>
          </a:xfrm>
          <a:prstGeom prst="rect">
            <a:avLst/>
          </a:prstGeom>
        </p:spPr>
        <p:txBody>
          <a:bodyPr anchor="t" rtlCol="false" tIns="0" lIns="0" bIns="0" rIns="0">
            <a:spAutoFit/>
          </a:bodyPr>
          <a:lstStyle/>
          <a:p>
            <a:pPr algn="l" marL="0" indent="0" lvl="0">
              <a:lnSpc>
                <a:spcPts val="2525"/>
              </a:lnSpc>
            </a:pPr>
            <a:r>
              <a:rPr lang="en-US" sz="1803">
                <a:solidFill>
                  <a:srgbClr val="141414"/>
                </a:solidFill>
                <a:latin typeface="Proxima Nova Light"/>
                <a:ea typeface="Proxima Nova Light"/>
                <a:cs typeface="Proxima Nova Light"/>
                <a:sym typeface="Proxima Nova Light"/>
              </a:rPr>
              <a:t>• Chia không gian đặc trưng theo từng điều kiện phân nhánh</a:t>
            </a:r>
          </a:p>
          <a:p>
            <a:pPr algn="l" marL="0" indent="0" lvl="0">
              <a:lnSpc>
                <a:spcPts val="2525"/>
              </a:lnSpc>
            </a:pPr>
            <a:r>
              <a:rPr lang="en-US" sz="1803">
                <a:solidFill>
                  <a:srgbClr val="141414"/>
                </a:solidFill>
                <a:latin typeface="Proxima Nova Light"/>
                <a:ea typeface="Proxima Nova Light"/>
                <a:cs typeface="Proxima Nova Light"/>
                <a:sym typeface="Proxima Nova Light"/>
              </a:rPr>
              <a:t>• Mỗi nút lá đưa ra giá trị dự đoán</a:t>
            </a:r>
          </a:p>
          <a:p>
            <a:pPr algn="l" marL="0" indent="0" lvl="0">
              <a:lnSpc>
                <a:spcPts val="2525"/>
              </a:lnSpc>
            </a:pPr>
            <a:r>
              <a:rPr lang="en-US" sz="1803">
                <a:solidFill>
                  <a:srgbClr val="141414"/>
                </a:solidFill>
                <a:latin typeface="Proxima Nova Light"/>
                <a:ea typeface="Proxima Nova Light"/>
                <a:cs typeface="Proxima Nova Light"/>
                <a:sym typeface="Proxima Nova Light"/>
              </a:rPr>
              <a:t>• Kết quả: MAE = 2.433, RMSE = 3.051, R² = 0.9750</a:t>
            </a:r>
          </a:p>
          <a:p>
            <a:pPr algn="l" marL="0" indent="0" lvl="0">
              <a:lnSpc>
                <a:spcPts val="2525"/>
              </a:lnSpc>
            </a:pPr>
            <a:r>
              <a:rPr lang="en-US" sz="1803">
                <a:solidFill>
                  <a:srgbClr val="141414"/>
                </a:solidFill>
                <a:latin typeface="Proxima Nova Light"/>
                <a:ea typeface="Proxima Nova Light"/>
                <a:cs typeface="Proxima Nova Light"/>
                <a:sym typeface="Proxima Nova Light"/>
              </a:rPr>
              <a:t>• Xếp hạng 3/4 mô hình thử nghiệm</a:t>
            </a:r>
          </a:p>
        </p:txBody>
      </p:sp>
      <p:sp>
        <p:nvSpPr>
          <p:cNvPr name="TextBox 18" id="18"/>
          <p:cNvSpPr txBox="true"/>
          <p:nvPr/>
        </p:nvSpPr>
        <p:spPr>
          <a:xfrm rot="0">
            <a:off x="1028700" y="6555747"/>
            <a:ext cx="5787772"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Nguyên Lý Hoạt Động</a:t>
            </a:r>
          </a:p>
        </p:txBody>
      </p:sp>
      <p:sp>
        <p:nvSpPr>
          <p:cNvPr name="Freeform 19" id="19"/>
          <p:cNvSpPr/>
          <p:nvPr/>
        </p:nvSpPr>
        <p:spPr>
          <a:xfrm flipH="false" flipV="false" rot="0">
            <a:off x="131811" y="9479917"/>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028700" y="2128721"/>
            <a:ext cx="10663774" cy="415628"/>
          </a:xfrm>
          <a:prstGeom prst="rect">
            <a:avLst/>
          </a:prstGeom>
        </p:spPr>
        <p:txBody>
          <a:bodyPr anchor="t" rtlCol="false" tIns="0" lIns="0" bIns="0" rIns="0">
            <a:spAutoFit/>
          </a:bodyPr>
          <a:lstStyle/>
          <a:p>
            <a:pPr algn="l" marL="0" indent="0" lvl="0">
              <a:lnSpc>
                <a:spcPts val="3397"/>
              </a:lnSpc>
            </a:pPr>
            <a:r>
              <a:rPr lang="en-US" sz="2613">
                <a:solidFill>
                  <a:srgbClr val="F8F7F6"/>
                </a:solidFill>
                <a:latin typeface="Pattanakarn SemiExpanded Light"/>
                <a:ea typeface="Pattanakarn SemiExpanded Light"/>
                <a:cs typeface="Pattanakarn SemiExpanded Light"/>
                <a:sym typeface="Pattanakarn SemiExpanded Light"/>
              </a:rPr>
              <a:t>MÔ HÌNH RANDOM FOREST</a:t>
            </a:r>
          </a:p>
        </p:txBody>
      </p:sp>
      <p:grpSp>
        <p:nvGrpSpPr>
          <p:cNvPr name="Group 3" id="3"/>
          <p:cNvGrpSpPr/>
          <p:nvPr/>
        </p:nvGrpSpPr>
        <p:grpSpPr>
          <a:xfrm rot="0">
            <a:off x="1028700" y="6456250"/>
            <a:ext cx="795315" cy="79531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6" id="6"/>
          <p:cNvGrpSpPr/>
          <p:nvPr/>
        </p:nvGrpSpPr>
        <p:grpSpPr>
          <a:xfrm rot="0">
            <a:off x="5189371" y="6456250"/>
            <a:ext cx="795315" cy="7953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9" id="9"/>
          <p:cNvGrpSpPr/>
          <p:nvPr/>
        </p:nvGrpSpPr>
        <p:grpSpPr>
          <a:xfrm rot="0">
            <a:off x="9350043" y="6456250"/>
            <a:ext cx="795315" cy="79531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2" id="12"/>
          <p:cNvGrpSpPr/>
          <p:nvPr/>
        </p:nvGrpSpPr>
        <p:grpSpPr>
          <a:xfrm rot="0">
            <a:off x="13510714" y="6456250"/>
            <a:ext cx="795315" cy="79531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sp>
        <p:nvSpPr>
          <p:cNvPr name="TextBox 15" id="15"/>
          <p:cNvSpPr txBox="true"/>
          <p:nvPr/>
        </p:nvSpPr>
        <p:spPr>
          <a:xfrm rot="0">
            <a:off x="1171597" y="6645310"/>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01</a:t>
            </a:r>
          </a:p>
        </p:txBody>
      </p:sp>
      <p:sp>
        <p:nvSpPr>
          <p:cNvPr name="TextBox 16" id="16"/>
          <p:cNvSpPr txBox="true"/>
          <p:nvPr/>
        </p:nvSpPr>
        <p:spPr>
          <a:xfrm rot="0">
            <a:off x="5332268" y="6645310"/>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02</a:t>
            </a:r>
          </a:p>
        </p:txBody>
      </p:sp>
      <p:sp>
        <p:nvSpPr>
          <p:cNvPr name="TextBox 17" id="17"/>
          <p:cNvSpPr txBox="true"/>
          <p:nvPr/>
        </p:nvSpPr>
        <p:spPr>
          <a:xfrm rot="0">
            <a:off x="9492939" y="6645310"/>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03</a:t>
            </a:r>
          </a:p>
        </p:txBody>
      </p:sp>
      <p:sp>
        <p:nvSpPr>
          <p:cNvPr name="TextBox 18" id="18"/>
          <p:cNvSpPr txBox="true"/>
          <p:nvPr/>
        </p:nvSpPr>
        <p:spPr>
          <a:xfrm rot="0">
            <a:off x="13653611" y="6645310"/>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04</a:t>
            </a:r>
          </a:p>
        </p:txBody>
      </p:sp>
      <p:sp>
        <p:nvSpPr>
          <p:cNvPr name="TextBox 19" id="19"/>
          <p:cNvSpPr txBox="true"/>
          <p:nvPr/>
        </p:nvSpPr>
        <p:spPr>
          <a:xfrm rot="0">
            <a:off x="1028700" y="2887766"/>
            <a:ext cx="10663774" cy="415628"/>
          </a:xfrm>
          <a:prstGeom prst="rect">
            <a:avLst/>
          </a:prstGeom>
        </p:spPr>
        <p:txBody>
          <a:bodyPr anchor="t" rtlCol="false" tIns="0" lIns="0" bIns="0" rIns="0">
            <a:spAutoFit/>
          </a:bodyPr>
          <a:lstStyle/>
          <a:p>
            <a:pPr algn="l" marL="0" indent="0" lvl="0">
              <a:lnSpc>
                <a:spcPts val="3397"/>
              </a:lnSpc>
            </a:pPr>
            <a:r>
              <a:rPr lang="en-US" b="true" sz="2613">
                <a:solidFill>
                  <a:srgbClr val="F8F7F6"/>
                </a:solidFill>
                <a:latin typeface="Pattanakarn SemiExpanded Medium"/>
                <a:ea typeface="Pattanakarn SemiExpanded Medium"/>
                <a:cs typeface="Pattanakarn SemiExpanded Medium"/>
                <a:sym typeface="Pattanakarn SemiExpanded Medium"/>
              </a:rPr>
              <a:t>ENSEMBLE LEARNING – KẾT HỢP NHIỀU CÂY QUYẾT ĐỊNH</a:t>
            </a:r>
          </a:p>
        </p:txBody>
      </p:sp>
      <p:grpSp>
        <p:nvGrpSpPr>
          <p:cNvPr name="Group 20" id="20"/>
          <p:cNvGrpSpPr/>
          <p:nvPr/>
        </p:nvGrpSpPr>
        <p:grpSpPr>
          <a:xfrm rot="0">
            <a:off x="11692474" y="2147771"/>
            <a:ext cx="5566826" cy="3227571"/>
            <a:chOff x="0" y="0"/>
            <a:chExt cx="862447" cy="500035"/>
          </a:xfrm>
        </p:grpSpPr>
        <p:sp>
          <p:nvSpPr>
            <p:cNvPr name="Freeform 21" id="21"/>
            <p:cNvSpPr/>
            <p:nvPr/>
          </p:nvSpPr>
          <p:spPr>
            <a:xfrm flipH="false" flipV="false" rot="0">
              <a:off x="0" y="0"/>
              <a:ext cx="862447" cy="500035"/>
            </a:xfrm>
            <a:custGeom>
              <a:avLst/>
              <a:gdLst/>
              <a:ahLst/>
              <a:cxnLst/>
              <a:rect r="r" b="b" t="t" l="l"/>
              <a:pathLst>
                <a:path h="500035" w="862447">
                  <a:moveTo>
                    <a:pt x="0" y="0"/>
                  </a:moveTo>
                  <a:lnTo>
                    <a:pt x="862447" y="0"/>
                  </a:lnTo>
                  <a:lnTo>
                    <a:pt x="862447" y="500035"/>
                  </a:lnTo>
                  <a:lnTo>
                    <a:pt x="0" y="500035"/>
                  </a:lnTo>
                  <a:close/>
                </a:path>
              </a:pathLst>
            </a:custGeom>
            <a:blipFill>
              <a:blip r:embed="rId2"/>
              <a:stretch>
                <a:fillRect l="-306" t="0" r="-306" b="0"/>
              </a:stretch>
            </a:blipFill>
          </p:spPr>
        </p:sp>
      </p:grpSp>
      <p:sp>
        <p:nvSpPr>
          <p:cNvPr name="TextBox 22" id="22"/>
          <p:cNvSpPr txBox="true"/>
          <p:nvPr/>
        </p:nvSpPr>
        <p:spPr>
          <a:xfrm rot="0">
            <a:off x="1028700" y="4140901"/>
            <a:ext cx="9438375" cy="1098309"/>
          </a:xfrm>
          <a:prstGeom prst="rect">
            <a:avLst/>
          </a:prstGeom>
        </p:spPr>
        <p:txBody>
          <a:bodyPr anchor="t" rtlCol="false" tIns="0" lIns="0" bIns="0" rIns="0">
            <a:spAutoFit/>
          </a:bodyPr>
          <a:lstStyle/>
          <a:p>
            <a:pPr algn="l" marL="0" indent="0" lvl="0">
              <a:lnSpc>
                <a:spcPts val="2988"/>
              </a:lnSpc>
            </a:pPr>
            <a:r>
              <a:rPr lang="en-US" sz="2134">
                <a:solidFill>
                  <a:srgbClr val="FFFFFF"/>
                </a:solidFill>
                <a:latin typeface="Proxima Nova Light"/>
                <a:ea typeface="Proxima Nova Light"/>
                <a:cs typeface="Proxima Nova Light"/>
                <a:sym typeface="Proxima Nova Light"/>
              </a:rPr>
              <a:t>Random Forest xây dựng nhiều Decision Tree độc lập trên các mẫu và đặc trưng ngẫu nhiên khác nhau, sau đó kết hợp kết quả để đưa ra dự đoán cuối cùng. Phương pháp ensemble này giúp tăng độ ổn định và chính xác so với cây đơn lẻ.</a:t>
            </a:r>
          </a:p>
        </p:txBody>
      </p:sp>
      <p:sp>
        <p:nvSpPr>
          <p:cNvPr name="TextBox 23" id="23"/>
          <p:cNvSpPr txBox="true"/>
          <p:nvPr/>
        </p:nvSpPr>
        <p:spPr>
          <a:xfrm rot="0">
            <a:off x="1028700" y="7416165"/>
            <a:ext cx="3732046" cy="1286061"/>
          </a:xfrm>
          <a:prstGeom prst="rect">
            <a:avLst/>
          </a:prstGeom>
        </p:spPr>
        <p:txBody>
          <a:bodyPr anchor="t" rtlCol="false" tIns="0" lIns="0" bIns="0" rIns="0">
            <a:spAutoFit/>
          </a:bodyPr>
          <a:lstStyle/>
          <a:p>
            <a:pPr algn="l" marL="0" indent="0" lvl="0">
              <a:lnSpc>
                <a:spcPts val="2614"/>
              </a:lnSpc>
            </a:pPr>
            <a:r>
              <a:rPr lang="en-US" sz="1867">
                <a:solidFill>
                  <a:srgbClr val="FFFFFF"/>
                </a:solidFill>
                <a:latin typeface="Proxima Nova Light"/>
                <a:ea typeface="Proxima Nova Light"/>
                <a:cs typeface="Proxima Nova Light"/>
                <a:sym typeface="Proxima Nova Light"/>
              </a:rPr>
              <a:t>Kết hợp nhiều Decision Tree với mẫu dữ liệu (bootstrap) và đặc trưng ngẫu nhiên khác nhau. Kết quả cuối là trung bình của tất cả các cây.</a:t>
            </a:r>
          </a:p>
        </p:txBody>
      </p:sp>
      <p:sp>
        <p:nvSpPr>
          <p:cNvPr name="TextBox 24" id="24"/>
          <p:cNvSpPr txBox="true"/>
          <p:nvPr/>
        </p:nvSpPr>
        <p:spPr>
          <a:xfrm rot="0">
            <a:off x="5189371" y="7416165"/>
            <a:ext cx="3732046" cy="1286061"/>
          </a:xfrm>
          <a:prstGeom prst="rect">
            <a:avLst/>
          </a:prstGeom>
        </p:spPr>
        <p:txBody>
          <a:bodyPr anchor="t" rtlCol="false" tIns="0" lIns="0" bIns="0" rIns="0">
            <a:spAutoFit/>
          </a:bodyPr>
          <a:lstStyle/>
          <a:p>
            <a:pPr algn="l" marL="0" indent="0" lvl="0">
              <a:lnSpc>
                <a:spcPts val="2614"/>
              </a:lnSpc>
            </a:pPr>
            <a:r>
              <a:rPr lang="en-US" sz="1867">
                <a:solidFill>
                  <a:srgbClr val="FFFFFF"/>
                </a:solidFill>
                <a:latin typeface="Proxima Nova Light"/>
                <a:ea typeface="Proxima Nova Light"/>
                <a:cs typeface="Proxima Nova Light"/>
                <a:sym typeface="Proxima Nova Light"/>
              </a:rPr>
              <a:t>Phương sai thấp hơn so với cây đơn. Ít bị ảnh hưởng bởi nhiễu và dữ liệu ngoại lai, cho kết quả nhất quán hơn.</a:t>
            </a:r>
          </a:p>
        </p:txBody>
      </p:sp>
      <p:sp>
        <p:nvSpPr>
          <p:cNvPr name="TextBox 25" id="25"/>
          <p:cNvSpPr txBox="true"/>
          <p:nvPr/>
        </p:nvSpPr>
        <p:spPr>
          <a:xfrm rot="0">
            <a:off x="9350043" y="7416165"/>
            <a:ext cx="3732046" cy="1286061"/>
          </a:xfrm>
          <a:prstGeom prst="rect">
            <a:avLst/>
          </a:prstGeom>
        </p:spPr>
        <p:txBody>
          <a:bodyPr anchor="t" rtlCol="false" tIns="0" lIns="0" bIns="0" rIns="0">
            <a:spAutoFit/>
          </a:bodyPr>
          <a:lstStyle/>
          <a:p>
            <a:pPr algn="l" marL="0" indent="0" lvl="0">
              <a:lnSpc>
                <a:spcPts val="2614"/>
              </a:lnSpc>
            </a:pPr>
            <a:r>
              <a:rPr lang="en-US" sz="1867">
                <a:solidFill>
                  <a:srgbClr val="FFFFFF"/>
                </a:solidFill>
                <a:latin typeface="Proxima Nova Light"/>
                <a:ea typeface="Proxima Nova Light"/>
                <a:cs typeface="Proxima Nova Light"/>
                <a:sym typeface="Proxima Nova Light"/>
              </a:rPr>
              <a:t>Tính ngẫu nhiên trong chọn mẫu và đặc trưng giúp các cây đa dạng, giảm overfitting đáng kể so với Decision Tree đơn lẻ.</a:t>
            </a:r>
          </a:p>
        </p:txBody>
      </p:sp>
      <p:sp>
        <p:nvSpPr>
          <p:cNvPr name="TextBox 26" id="26"/>
          <p:cNvSpPr txBox="true"/>
          <p:nvPr/>
        </p:nvSpPr>
        <p:spPr>
          <a:xfrm rot="0">
            <a:off x="13510714" y="7416165"/>
            <a:ext cx="3732046" cy="1286061"/>
          </a:xfrm>
          <a:prstGeom prst="rect">
            <a:avLst/>
          </a:prstGeom>
        </p:spPr>
        <p:txBody>
          <a:bodyPr anchor="t" rtlCol="false" tIns="0" lIns="0" bIns="0" rIns="0">
            <a:spAutoFit/>
          </a:bodyPr>
          <a:lstStyle/>
          <a:p>
            <a:pPr algn="l" marL="0" indent="0" lvl="0">
              <a:lnSpc>
                <a:spcPts val="2614"/>
              </a:lnSpc>
            </a:pPr>
            <a:r>
              <a:rPr lang="en-US" sz="1867">
                <a:solidFill>
                  <a:srgbClr val="FFFFFF"/>
                </a:solidFill>
                <a:latin typeface="Proxima Nova Light"/>
                <a:ea typeface="Proxima Nova Light"/>
                <a:cs typeface="Proxima Nova Light"/>
                <a:sym typeface="Proxima Nova Light"/>
              </a:rPr>
              <a:t>Mô hình lớn, tốn bộ nhớ và thời gian huấn luyện. Khó giải thích hơn Linear Regression; tài nguyên tính toán cao hơn.</a:t>
            </a:r>
          </a:p>
        </p:txBody>
      </p:sp>
      <p:sp>
        <p:nvSpPr>
          <p:cNvPr name="TextBox 27" id="27"/>
          <p:cNvSpPr txBox="true"/>
          <p:nvPr/>
        </p:nvSpPr>
        <p:spPr>
          <a:xfrm rot="0">
            <a:off x="2047622" y="6539582"/>
            <a:ext cx="2713124"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Nguyên lý Ensemble</a:t>
            </a:r>
          </a:p>
        </p:txBody>
      </p:sp>
      <p:sp>
        <p:nvSpPr>
          <p:cNvPr name="TextBox 28" id="28"/>
          <p:cNvSpPr txBox="true"/>
          <p:nvPr/>
        </p:nvSpPr>
        <p:spPr>
          <a:xfrm rot="0">
            <a:off x="6208293" y="6539582"/>
            <a:ext cx="2713124"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Độ Ổn Định Cao</a:t>
            </a:r>
          </a:p>
        </p:txBody>
      </p:sp>
      <p:sp>
        <p:nvSpPr>
          <p:cNvPr name="TextBox 29" id="29"/>
          <p:cNvSpPr txBox="true"/>
          <p:nvPr/>
        </p:nvSpPr>
        <p:spPr>
          <a:xfrm rot="0">
            <a:off x="10368965" y="6539582"/>
            <a:ext cx="1806937" cy="628650"/>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Giảm Overfitting</a:t>
            </a:r>
          </a:p>
        </p:txBody>
      </p:sp>
      <p:sp>
        <p:nvSpPr>
          <p:cNvPr name="TextBox 30" id="30"/>
          <p:cNvSpPr txBox="true"/>
          <p:nvPr/>
        </p:nvSpPr>
        <p:spPr>
          <a:xfrm rot="0">
            <a:off x="14529636" y="6539582"/>
            <a:ext cx="2332525"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Hạn Chế</a:t>
            </a:r>
          </a:p>
        </p:txBody>
      </p:sp>
      <p:grpSp>
        <p:nvGrpSpPr>
          <p:cNvPr name="Group 31" id="31"/>
          <p:cNvGrpSpPr/>
          <p:nvPr/>
        </p:nvGrpSpPr>
        <p:grpSpPr>
          <a:xfrm rot="0">
            <a:off x="1028700" y="5751905"/>
            <a:ext cx="9261420" cy="167878"/>
            <a:chOff x="0" y="0"/>
            <a:chExt cx="12348560" cy="223837"/>
          </a:xfrm>
        </p:grpSpPr>
        <p:grpSp>
          <p:nvGrpSpPr>
            <p:cNvPr name="Group 32" id="32"/>
            <p:cNvGrpSpPr/>
            <p:nvPr/>
          </p:nvGrpSpPr>
          <p:grpSpPr>
            <a:xfrm rot="0">
              <a:off x="0" y="0"/>
              <a:ext cx="1674460" cy="223837"/>
              <a:chOff x="0" y="0"/>
              <a:chExt cx="330758" cy="44215"/>
            </a:xfrm>
          </p:grpSpPr>
          <p:sp>
            <p:nvSpPr>
              <p:cNvPr name="Freeform 33" id="33"/>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F8F7F6"/>
              </a:solidFill>
            </p:spPr>
          </p:sp>
          <p:sp>
            <p:nvSpPr>
              <p:cNvPr name="TextBox 34" id="34"/>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35" id="35"/>
            <p:cNvSpPr/>
            <p:nvPr/>
          </p:nvSpPr>
          <p:spPr>
            <a:xfrm>
              <a:off x="0" y="198437"/>
              <a:ext cx="12348560" cy="0"/>
            </a:xfrm>
            <a:prstGeom prst="line">
              <a:avLst/>
            </a:prstGeom>
            <a:ln cap="flat" w="50800">
              <a:solidFill>
                <a:srgbClr val="F8F7F6"/>
              </a:solidFill>
              <a:prstDash val="solid"/>
              <a:headEnd type="none" len="sm" w="sm"/>
              <a:tailEnd type="none" len="sm" w="sm"/>
            </a:ln>
          </p:spPr>
        </p:sp>
      </p:grpSp>
      <p:sp>
        <p:nvSpPr>
          <p:cNvPr name="Freeform 36" id="36"/>
          <p:cNvSpPr/>
          <p:nvPr/>
        </p:nvSpPr>
        <p:spPr>
          <a:xfrm flipH="false" flipV="false" rot="0">
            <a:off x="10455808"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
        <p:nvSpPr>
          <p:cNvPr name="Freeform 37" id="37"/>
          <p:cNvSpPr/>
          <p:nvPr/>
        </p:nvSpPr>
        <p:spPr>
          <a:xfrm flipH="false" flipV="false" rot="0">
            <a:off x="189692" y="9458325"/>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28700" y="2109671"/>
            <a:ext cx="5609428" cy="525882"/>
          </a:xfrm>
          <a:prstGeom prst="rect">
            <a:avLst/>
          </a:prstGeom>
        </p:spPr>
        <p:txBody>
          <a:bodyPr anchor="t" rtlCol="false" tIns="0" lIns="0" bIns="0" rIns="0">
            <a:spAutoFit/>
          </a:bodyPr>
          <a:lstStyle/>
          <a:p>
            <a:pPr algn="l" marL="0" indent="0" lvl="0">
              <a:lnSpc>
                <a:spcPts val="4214"/>
              </a:lnSpc>
            </a:pPr>
            <a:r>
              <a:rPr lang="en-US" sz="3241">
                <a:solidFill>
                  <a:srgbClr val="141414"/>
                </a:solidFill>
                <a:latin typeface="Pattanakarn SemiExpanded Light"/>
                <a:ea typeface="Pattanakarn SemiExpanded Light"/>
                <a:cs typeface="Pattanakarn SemiExpanded Light"/>
                <a:sym typeface="Pattanakarn SemiExpanded Light"/>
              </a:rPr>
              <a:t>KNN</a:t>
            </a:r>
          </a:p>
        </p:txBody>
      </p:sp>
      <p:sp>
        <p:nvSpPr>
          <p:cNvPr name="TextBox 4" id="4"/>
          <p:cNvSpPr txBox="true"/>
          <p:nvPr/>
        </p:nvSpPr>
        <p:spPr>
          <a:xfrm rot="0">
            <a:off x="1028700" y="3685945"/>
            <a:ext cx="5609428" cy="1583784"/>
          </a:xfrm>
          <a:prstGeom prst="rect">
            <a:avLst/>
          </a:prstGeom>
        </p:spPr>
        <p:txBody>
          <a:bodyPr anchor="t" rtlCol="false" tIns="0" lIns="0" bIns="0" rIns="0">
            <a:spAutoFit/>
          </a:bodyPr>
          <a:lstStyle/>
          <a:p>
            <a:pPr algn="l" marL="0" indent="0" lvl="0">
              <a:lnSpc>
                <a:spcPts val="4214"/>
              </a:lnSpc>
            </a:pPr>
            <a:r>
              <a:rPr lang="en-US" b="true" sz="3241">
                <a:solidFill>
                  <a:srgbClr val="141414"/>
                </a:solidFill>
                <a:latin typeface="Pattanakarn SemiExpanded Medium"/>
                <a:ea typeface="Pattanakarn SemiExpanded Medium"/>
                <a:cs typeface="Pattanakarn SemiExpanded Medium"/>
                <a:sym typeface="Pattanakarn SemiExpanded Medium"/>
              </a:rPr>
              <a:t>K-NEAREST NEIGHBORS REGRESSION</a:t>
            </a:r>
          </a:p>
        </p:txBody>
      </p:sp>
      <p:grpSp>
        <p:nvGrpSpPr>
          <p:cNvPr name="Group 5" id="5"/>
          <p:cNvGrpSpPr/>
          <p:nvPr/>
        </p:nvGrpSpPr>
        <p:grpSpPr>
          <a:xfrm rot="0">
            <a:off x="7515507" y="2147771"/>
            <a:ext cx="7347839" cy="186928"/>
            <a:chOff x="0" y="0"/>
            <a:chExt cx="9797119" cy="249237"/>
          </a:xfrm>
        </p:grpSpPr>
        <p:grpSp>
          <p:nvGrpSpPr>
            <p:cNvPr name="Group 6" id="6"/>
            <p:cNvGrpSpPr/>
            <p:nvPr/>
          </p:nvGrpSpPr>
          <p:grpSpPr>
            <a:xfrm rot="0">
              <a:off x="66" y="0"/>
              <a:ext cx="1674460" cy="223837"/>
              <a:chOff x="0" y="0"/>
              <a:chExt cx="330758" cy="44215"/>
            </a:xfrm>
          </p:grpSpPr>
          <p:sp>
            <p:nvSpPr>
              <p:cNvPr name="Freeform 7" id="7"/>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8" id="8"/>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9" id="9"/>
            <p:cNvSpPr/>
            <p:nvPr/>
          </p:nvSpPr>
          <p:spPr>
            <a:xfrm>
              <a:off x="66" y="198437"/>
              <a:ext cx="9796987" cy="25400"/>
            </a:xfrm>
            <a:prstGeom prst="line">
              <a:avLst/>
            </a:prstGeom>
            <a:ln cap="flat" w="50800">
              <a:solidFill>
                <a:srgbClr val="141414"/>
              </a:solidFill>
              <a:prstDash val="solid"/>
              <a:headEnd type="none" len="sm" w="sm"/>
              <a:tailEnd type="none" len="sm" w="sm"/>
            </a:ln>
          </p:spPr>
        </p:sp>
      </p:grpSp>
      <p:sp>
        <p:nvSpPr>
          <p:cNvPr name="TextBox 10" id="10"/>
          <p:cNvSpPr txBox="true"/>
          <p:nvPr/>
        </p:nvSpPr>
        <p:spPr>
          <a:xfrm rot="0">
            <a:off x="7515556" y="2633020"/>
            <a:ext cx="9743744" cy="639242"/>
          </a:xfrm>
          <a:prstGeom prst="rect">
            <a:avLst/>
          </a:prstGeom>
        </p:spPr>
        <p:txBody>
          <a:bodyPr anchor="t" rtlCol="false" tIns="0" lIns="0" bIns="0" rIns="0">
            <a:spAutoFit/>
          </a:bodyPr>
          <a:lstStyle/>
          <a:p>
            <a:pPr algn="l" marL="0" indent="0" lvl="0">
              <a:lnSpc>
                <a:spcPts val="2566"/>
              </a:lnSpc>
            </a:pPr>
            <a:r>
              <a:rPr lang="en-US" sz="1833">
                <a:solidFill>
                  <a:srgbClr val="141414"/>
                </a:solidFill>
                <a:latin typeface="Proxima Nova Light"/>
                <a:ea typeface="Proxima Nova Light"/>
                <a:cs typeface="Proxima Nova Light"/>
                <a:sym typeface="Proxima Nova Light"/>
              </a:rPr>
              <a:t>Mô hình KNN dự đoán giá trị đầu ra dựa trên k mẫu gần nhất trong không gian đặc trưng. Không xây dựng công thức hồi quy trực tiếp mà tính trung bình giá trị của các láng giềng gần nhất.</a:t>
            </a:r>
          </a:p>
        </p:txBody>
      </p:sp>
      <p:grpSp>
        <p:nvGrpSpPr>
          <p:cNvPr name="Group 11" id="11"/>
          <p:cNvGrpSpPr/>
          <p:nvPr/>
        </p:nvGrpSpPr>
        <p:grpSpPr>
          <a:xfrm rot="0">
            <a:off x="7515556" y="6555747"/>
            <a:ext cx="9743744" cy="2702553"/>
            <a:chOff x="0" y="0"/>
            <a:chExt cx="1509561" cy="418696"/>
          </a:xfrm>
        </p:grpSpPr>
        <p:sp>
          <p:nvSpPr>
            <p:cNvPr name="Freeform 12" id="12"/>
            <p:cNvSpPr/>
            <p:nvPr/>
          </p:nvSpPr>
          <p:spPr>
            <a:xfrm flipH="false" flipV="false" rot="0">
              <a:off x="0" y="0"/>
              <a:ext cx="1509561" cy="418696"/>
            </a:xfrm>
            <a:custGeom>
              <a:avLst/>
              <a:gdLst/>
              <a:ahLst/>
              <a:cxnLst/>
              <a:rect r="r" b="b" t="t" l="l"/>
              <a:pathLst>
                <a:path h="418696" w="1509561">
                  <a:moveTo>
                    <a:pt x="0" y="0"/>
                  </a:moveTo>
                  <a:lnTo>
                    <a:pt x="1509561" y="0"/>
                  </a:lnTo>
                  <a:lnTo>
                    <a:pt x="1509561" y="418696"/>
                  </a:lnTo>
                  <a:lnTo>
                    <a:pt x="0" y="418696"/>
                  </a:lnTo>
                  <a:close/>
                </a:path>
              </a:pathLst>
            </a:custGeom>
            <a:blipFill>
              <a:blip r:embed="rId3"/>
              <a:stretch>
                <a:fillRect l="0" t="-24" r="0" b="-24"/>
              </a:stretch>
            </a:blipFill>
          </p:spPr>
        </p:sp>
      </p:grpSp>
      <p:sp>
        <p:nvSpPr>
          <p:cNvPr name="TextBox 13" id="13"/>
          <p:cNvSpPr txBox="true"/>
          <p:nvPr/>
        </p:nvSpPr>
        <p:spPr>
          <a:xfrm rot="0">
            <a:off x="7515556" y="4903372"/>
            <a:ext cx="4654561" cy="1249582"/>
          </a:xfrm>
          <a:prstGeom prst="rect">
            <a:avLst/>
          </a:prstGeom>
        </p:spPr>
        <p:txBody>
          <a:bodyPr anchor="t" rtlCol="false" tIns="0" lIns="0" bIns="0" rIns="0">
            <a:spAutoFit/>
          </a:bodyPr>
          <a:lstStyle/>
          <a:p>
            <a:pPr algn="l" marL="0" indent="0" lvl="0">
              <a:lnSpc>
                <a:spcPts val="2525"/>
              </a:lnSpc>
            </a:pPr>
            <a:r>
              <a:rPr lang="en-US" sz="1803">
                <a:solidFill>
                  <a:srgbClr val="141414"/>
                </a:solidFill>
                <a:latin typeface="Proxima Nova Light"/>
                <a:ea typeface="Proxima Nova Light"/>
                <a:cs typeface="Proxima Nova Light"/>
                <a:sym typeface="Proxima Nova Light"/>
              </a:rPr>
              <a:t>• Khác biệt về cách tiếp cận so với các mô hình tuyến tính</a:t>
            </a:r>
          </a:p>
          <a:p>
            <a:pPr algn="l" marL="0" indent="0" lvl="0">
              <a:lnSpc>
                <a:spcPts val="2525"/>
              </a:lnSpc>
            </a:pPr>
            <a:r>
              <a:rPr lang="en-US" sz="1803">
                <a:solidFill>
                  <a:srgbClr val="141414"/>
                </a:solidFill>
                <a:latin typeface="Proxima Nova Light"/>
                <a:ea typeface="Proxima Nova Light"/>
                <a:cs typeface="Proxima Nova Light"/>
                <a:sym typeface="Proxima Nova Light"/>
              </a:rPr>
              <a:t>• Có khả năng mô hình hóa quan hệ phi tuyến</a:t>
            </a:r>
          </a:p>
          <a:p>
            <a:pPr algn="l" marL="0" indent="0" lvl="0">
              <a:lnSpc>
                <a:spcPts val="2525"/>
              </a:lnSpc>
            </a:pPr>
            <a:r>
              <a:rPr lang="en-US" sz="1803">
                <a:solidFill>
                  <a:srgbClr val="141414"/>
                </a:solidFill>
                <a:latin typeface="Proxima Nova Light"/>
                <a:ea typeface="Proxima Nova Light"/>
                <a:cs typeface="Proxima Nova Light"/>
                <a:sym typeface="Proxima Nova Light"/>
              </a:rPr>
              <a:t>• Không cần giả định phân phối dữ liệu</a:t>
            </a:r>
          </a:p>
        </p:txBody>
      </p:sp>
      <p:sp>
        <p:nvSpPr>
          <p:cNvPr name="TextBox 14" id="14"/>
          <p:cNvSpPr txBox="true"/>
          <p:nvPr/>
        </p:nvSpPr>
        <p:spPr>
          <a:xfrm rot="0">
            <a:off x="12614264" y="4903372"/>
            <a:ext cx="4654561" cy="1249582"/>
          </a:xfrm>
          <a:prstGeom prst="rect">
            <a:avLst/>
          </a:prstGeom>
        </p:spPr>
        <p:txBody>
          <a:bodyPr anchor="t" rtlCol="false" tIns="0" lIns="0" bIns="0" rIns="0">
            <a:spAutoFit/>
          </a:bodyPr>
          <a:lstStyle/>
          <a:p>
            <a:pPr algn="l" marL="0" indent="0" lvl="0">
              <a:lnSpc>
                <a:spcPts val="2525"/>
              </a:lnSpc>
            </a:pPr>
            <a:r>
              <a:rPr lang="en-US" sz="1803">
                <a:solidFill>
                  <a:srgbClr val="141414"/>
                </a:solidFill>
                <a:latin typeface="Proxima Nova Light"/>
                <a:ea typeface="Proxima Nova Light"/>
                <a:cs typeface="Proxima Nova Light"/>
                <a:sym typeface="Proxima Nova Light"/>
              </a:rPr>
              <a:t>• Tốn thời gian dự đoán trên dữ liệu lớn</a:t>
            </a:r>
          </a:p>
          <a:p>
            <a:pPr algn="l" marL="0" indent="0" lvl="0">
              <a:lnSpc>
                <a:spcPts val="2525"/>
              </a:lnSpc>
            </a:pPr>
            <a:r>
              <a:rPr lang="en-US" sz="1803">
                <a:solidFill>
                  <a:srgbClr val="141414"/>
                </a:solidFill>
                <a:latin typeface="Proxima Nova Light"/>
                <a:ea typeface="Proxima Nova Light"/>
                <a:cs typeface="Proxima Nova Light"/>
                <a:sym typeface="Proxima Nova Light"/>
              </a:rPr>
              <a:t>• Nhạy cảm với nhiễu và dữ liệu không liên quan</a:t>
            </a:r>
          </a:p>
          <a:p>
            <a:pPr algn="l" marL="0" indent="0" lvl="0">
              <a:lnSpc>
                <a:spcPts val="2525"/>
              </a:lnSpc>
            </a:pPr>
            <a:r>
              <a:rPr lang="en-US" sz="1803">
                <a:solidFill>
                  <a:srgbClr val="141414"/>
                </a:solidFill>
                <a:latin typeface="Proxima Nova Light"/>
                <a:ea typeface="Proxima Nova Light"/>
                <a:cs typeface="Proxima Nova Light"/>
                <a:sym typeface="Proxima Nova Light"/>
              </a:rPr>
              <a:t>• Cần chuẩn hóa dữ liệu trước khi dùng</a:t>
            </a:r>
          </a:p>
        </p:txBody>
      </p:sp>
      <p:sp>
        <p:nvSpPr>
          <p:cNvPr name="TextBox 15" id="15"/>
          <p:cNvSpPr txBox="true"/>
          <p:nvPr/>
        </p:nvSpPr>
        <p:spPr>
          <a:xfrm rot="0">
            <a:off x="7515556" y="4512182"/>
            <a:ext cx="4654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Ưu điểm</a:t>
            </a:r>
          </a:p>
        </p:txBody>
      </p:sp>
      <p:sp>
        <p:nvSpPr>
          <p:cNvPr name="TextBox 16" id="16"/>
          <p:cNvSpPr txBox="true"/>
          <p:nvPr/>
        </p:nvSpPr>
        <p:spPr>
          <a:xfrm rot="0">
            <a:off x="12604739" y="4512182"/>
            <a:ext cx="4654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Nhược điểm</a:t>
            </a:r>
          </a:p>
        </p:txBody>
      </p:sp>
      <p:sp>
        <p:nvSpPr>
          <p:cNvPr name="TextBox 17" id="17"/>
          <p:cNvSpPr txBox="true"/>
          <p:nvPr/>
        </p:nvSpPr>
        <p:spPr>
          <a:xfrm rot="0">
            <a:off x="1028700" y="6946937"/>
            <a:ext cx="5787772" cy="1563907"/>
          </a:xfrm>
          <a:prstGeom prst="rect">
            <a:avLst/>
          </a:prstGeom>
        </p:spPr>
        <p:txBody>
          <a:bodyPr anchor="t" rtlCol="false" tIns="0" lIns="0" bIns="0" rIns="0">
            <a:spAutoFit/>
          </a:bodyPr>
          <a:lstStyle/>
          <a:p>
            <a:pPr algn="l" marL="0" indent="0" lvl="0">
              <a:lnSpc>
                <a:spcPts val="2525"/>
              </a:lnSpc>
            </a:pPr>
            <a:r>
              <a:rPr lang="en-US" sz="1803">
                <a:solidFill>
                  <a:srgbClr val="141414"/>
                </a:solidFill>
                <a:latin typeface="Proxima Nova Light"/>
                <a:ea typeface="Proxima Nova Light"/>
                <a:cs typeface="Proxima Nova Light"/>
                <a:sym typeface="Proxima Nova Light"/>
              </a:rPr>
              <a:t>• Tính khoảng cách từ điểm cần dự đoán đến tất cả mẫu huấn luyện</a:t>
            </a:r>
          </a:p>
          <a:p>
            <a:pPr algn="l" marL="0" indent="0" lvl="0">
              <a:lnSpc>
                <a:spcPts val="2525"/>
              </a:lnSpc>
            </a:pPr>
            <a:r>
              <a:rPr lang="en-US" sz="1803">
                <a:solidFill>
                  <a:srgbClr val="141414"/>
                </a:solidFill>
                <a:latin typeface="Proxima Nova Light"/>
                <a:ea typeface="Proxima Nova Light"/>
                <a:cs typeface="Proxima Nova Light"/>
                <a:sym typeface="Proxima Nova Light"/>
              </a:rPr>
              <a:t>• Chọn k mẫu có khoảng cách nhỏ nhất</a:t>
            </a:r>
          </a:p>
          <a:p>
            <a:pPr algn="l" marL="0" indent="0" lvl="0">
              <a:lnSpc>
                <a:spcPts val="2525"/>
              </a:lnSpc>
            </a:pPr>
            <a:r>
              <a:rPr lang="en-US" sz="1803">
                <a:solidFill>
                  <a:srgbClr val="141414"/>
                </a:solidFill>
                <a:latin typeface="Proxima Nova Light"/>
                <a:ea typeface="Proxima Nova Light"/>
                <a:cs typeface="Proxima Nova Light"/>
                <a:sym typeface="Proxima Nova Light"/>
              </a:rPr>
              <a:t>• Dự đoán = trung bình giá trị của k láng giềng</a:t>
            </a:r>
          </a:p>
          <a:p>
            <a:pPr algn="l" marL="0" indent="0" lvl="0">
              <a:lnSpc>
                <a:spcPts val="2525"/>
              </a:lnSpc>
            </a:pPr>
            <a:r>
              <a:rPr lang="en-US" sz="1803">
                <a:solidFill>
                  <a:srgbClr val="141414"/>
                </a:solidFill>
                <a:latin typeface="Proxima Nova Light"/>
                <a:ea typeface="Proxima Nova Light"/>
                <a:cs typeface="Proxima Nova Light"/>
                <a:sym typeface="Proxima Nova Light"/>
              </a:rPr>
              <a:t>• Tham số k ảnh hưởng lớn đến kết quả</a:t>
            </a:r>
          </a:p>
        </p:txBody>
      </p:sp>
      <p:sp>
        <p:nvSpPr>
          <p:cNvPr name="TextBox 18" id="18"/>
          <p:cNvSpPr txBox="true"/>
          <p:nvPr/>
        </p:nvSpPr>
        <p:spPr>
          <a:xfrm rot="0">
            <a:off x="1028700" y="6555747"/>
            <a:ext cx="5787772"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Nguyên lý hoạt động</a:t>
            </a:r>
          </a:p>
        </p:txBody>
      </p:sp>
      <p:sp>
        <p:nvSpPr>
          <p:cNvPr name="Freeform 19" id="19"/>
          <p:cNvSpPr/>
          <p:nvPr/>
        </p:nvSpPr>
        <p:spPr>
          <a:xfrm flipH="false" flipV="false" rot="0">
            <a:off x="10571093" y="635525"/>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
        <p:nvSpPr>
          <p:cNvPr name="Freeform 20" id="20"/>
          <p:cNvSpPr/>
          <p:nvPr/>
        </p:nvSpPr>
        <p:spPr>
          <a:xfrm flipH="false" flipV="false" rot="0">
            <a:off x="131811" y="9479917"/>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28700" y="5095875"/>
            <a:ext cx="7347740" cy="804070"/>
          </a:xfrm>
          <a:prstGeom prst="rect">
            <a:avLst/>
          </a:prstGeom>
        </p:spPr>
        <p:txBody>
          <a:bodyPr anchor="t" rtlCol="false" tIns="0" lIns="0" bIns="0" rIns="0">
            <a:spAutoFit/>
          </a:bodyPr>
          <a:lstStyle/>
          <a:p>
            <a:pPr algn="l" marL="0" indent="0" lvl="0">
              <a:lnSpc>
                <a:spcPts val="6492"/>
              </a:lnSpc>
            </a:pPr>
            <a:r>
              <a:rPr lang="en-US" sz="4994">
                <a:solidFill>
                  <a:srgbClr val="141414"/>
                </a:solidFill>
                <a:latin typeface="Pattanakarn SemiExpanded Light"/>
                <a:ea typeface="Pattanakarn SemiExpanded Light"/>
                <a:cs typeface="Pattanakarn SemiExpanded Light"/>
                <a:sym typeface="Pattanakarn SemiExpanded Light"/>
              </a:rPr>
              <a:t>SO SÁNH</a:t>
            </a:r>
          </a:p>
        </p:txBody>
      </p:sp>
      <p:sp>
        <p:nvSpPr>
          <p:cNvPr name="TextBox 4" id="4"/>
          <p:cNvSpPr txBox="true"/>
          <p:nvPr/>
        </p:nvSpPr>
        <p:spPr>
          <a:xfrm rot="0">
            <a:off x="1028700" y="5854920"/>
            <a:ext cx="7347740" cy="804070"/>
          </a:xfrm>
          <a:prstGeom prst="rect">
            <a:avLst/>
          </a:prstGeom>
        </p:spPr>
        <p:txBody>
          <a:bodyPr anchor="t" rtlCol="false" tIns="0" lIns="0" bIns="0" rIns="0">
            <a:spAutoFit/>
          </a:bodyPr>
          <a:lstStyle/>
          <a:p>
            <a:pPr algn="l" marL="0" indent="0" lvl="0">
              <a:lnSpc>
                <a:spcPts val="6492"/>
              </a:lnSpc>
            </a:pPr>
            <a:r>
              <a:rPr lang="en-US" b="true" sz="4994">
                <a:solidFill>
                  <a:srgbClr val="141414"/>
                </a:solidFill>
                <a:latin typeface="Pattanakarn SemiExpanded Medium"/>
                <a:ea typeface="Pattanakarn SemiExpanded Medium"/>
                <a:cs typeface="Pattanakarn SemiExpanded Medium"/>
                <a:sym typeface="Pattanakarn SemiExpanded Medium"/>
              </a:rPr>
              <a:t>4 MÔ HÌNH ML</a:t>
            </a:r>
          </a:p>
        </p:txBody>
      </p:sp>
      <p:grpSp>
        <p:nvGrpSpPr>
          <p:cNvPr name="Group 5" id="5"/>
          <p:cNvGrpSpPr/>
          <p:nvPr/>
        </p:nvGrpSpPr>
        <p:grpSpPr>
          <a:xfrm rot="0">
            <a:off x="8719167" y="2147771"/>
            <a:ext cx="795315" cy="7953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8" id="8"/>
          <p:cNvGrpSpPr/>
          <p:nvPr/>
        </p:nvGrpSpPr>
        <p:grpSpPr>
          <a:xfrm rot="0">
            <a:off x="13152846" y="2147771"/>
            <a:ext cx="795315" cy="79531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1" id="11"/>
          <p:cNvGrpSpPr/>
          <p:nvPr/>
        </p:nvGrpSpPr>
        <p:grpSpPr>
          <a:xfrm rot="0">
            <a:off x="8719167" y="5928221"/>
            <a:ext cx="795315" cy="79531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4" id="14"/>
          <p:cNvGrpSpPr/>
          <p:nvPr/>
        </p:nvGrpSpPr>
        <p:grpSpPr>
          <a:xfrm rot="0">
            <a:off x="13152846" y="5928221"/>
            <a:ext cx="795315" cy="79531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sp>
        <p:nvSpPr>
          <p:cNvPr name="TextBox 17" id="17"/>
          <p:cNvSpPr txBox="true"/>
          <p:nvPr/>
        </p:nvSpPr>
        <p:spPr>
          <a:xfrm rot="0">
            <a:off x="8862064" y="2336831"/>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01</a:t>
            </a:r>
          </a:p>
        </p:txBody>
      </p:sp>
      <p:sp>
        <p:nvSpPr>
          <p:cNvPr name="TextBox 18" id="18"/>
          <p:cNvSpPr txBox="true"/>
          <p:nvPr/>
        </p:nvSpPr>
        <p:spPr>
          <a:xfrm rot="0">
            <a:off x="13295743" y="2336831"/>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02</a:t>
            </a:r>
          </a:p>
        </p:txBody>
      </p:sp>
      <p:sp>
        <p:nvSpPr>
          <p:cNvPr name="TextBox 19" id="19"/>
          <p:cNvSpPr txBox="true"/>
          <p:nvPr/>
        </p:nvSpPr>
        <p:spPr>
          <a:xfrm rot="0">
            <a:off x="8862064"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03</a:t>
            </a:r>
          </a:p>
        </p:txBody>
      </p:sp>
      <p:sp>
        <p:nvSpPr>
          <p:cNvPr name="TextBox 20" id="20"/>
          <p:cNvSpPr txBox="true"/>
          <p:nvPr/>
        </p:nvSpPr>
        <p:spPr>
          <a:xfrm rot="0">
            <a:off x="13295743"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04</a:t>
            </a:r>
          </a:p>
        </p:txBody>
      </p:sp>
      <p:sp>
        <p:nvSpPr>
          <p:cNvPr name="TextBox 21" id="21"/>
          <p:cNvSpPr txBox="true"/>
          <p:nvPr/>
        </p:nvSpPr>
        <p:spPr>
          <a:xfrm rot="0">
            <a:off x="8719167" y="3886061"/>
            <a:ext cx="4106454" cy="1424716"/>
          </a:xfrm>
          <a:prstGeom prst="rect">
            <a:avLst/>
          </a:prstGeom>
        </p:spPr>
        <p:txBody>
          <a:bodyPr anchor="t" rtlCol="false" tIns="0" lIns="0" bIns="0" rIns="0">
            <a:spAutoFit/>
          </a:bodyPr>
          <a:lstStyle/>
          <a:p>
            <a:pPr algn="l" marL="0" indent="0" lvl="0">
              <a:lnSpc>
                <a:spcPts val="2322"/>
              </a:lnSpc>
            </a:pPr>
            <a:r>
              <a:rPr lang="en-US" sz="1658">
                <a:solidFill>
                  <a:srgbClr val="141414"/>
                </a:solidFill>
                <a:latin typeface="Proxima Nova Light"/>
                <a:ea typeface="Proxima Nova Light"/>
                <a:cs typeface="Proxima Nova Light"/>
                <a:sym typeface="Proxima Nova Light"/>
              </a:rPr>
              <a:t>MAE: 1.646970</a:t>
            </a:r>
          </a:p>
          <a:p>
            <a:pPr algn="l" marL="0" indent="0" lvl="0">
              <a:lnSpc>
                <a:spcPts val="2322"/>
              </a:lnSpc>
            </a:pPr>
            <a:r>
              <a:rPr lang="en-US" sz="1658">
                <a:solidFill>
                  <a:srgbClr val="141414"/>
                </a:solidFill>
                <a:latin typeface="Proxima Nova Light"/>
                <a:ea typeface="Proxima Nova Light"/>
                <a:cs typeface="Proxima Nova Light"/>
                <a:sym typeface="Proxima Nova Light"/>
              </a:rPr>
              <a:t>RMSE: 2.075066</a:t>
            </a:r>
          </a:p>
          <a:p>
            <a:pPr algn="l" marL="0" indent="0" lvl="0">
              <a:lnSpc>
                <a:spcPts val="2322"/>
              </a:lnSpc>
            </a:pPr>
            <a:r>
              <a:rPr lang="en-US" sz="1658">
                <a:solidFill>
                  <a:srgbClr val="141414"/>
                </a:solidFill>
                <a:latin typeface="Proxima Nova Light"/>
                <a:ea typeface="Proxima Nova Light"/>
                <a:cs typeface="Proxima Nova Light"/>
                <a:sym typeface="Proxima Nova Light"/>
              </a:rPr>
              <a:t>R²: 0.988430</a:t>
            </a:r>
          </a:p>
          <a:p>
            <a:pPr algn="l" marL="0" indent="0" lvl="0">
              <a:lnSpc>
                <a:spcPts val="2322"/>
              </a:lnSpc>
            </a:pPr>
            <a:r>
              <a:rPr lang="en-US" sz="1658">
                <a:solidFill>
                  <a:srgbClr val="141414"/>
                </a:solidFill>
                <a:latin typeface="Proxima Nova Light"/>
                <a:ea typeface="Proxima Nova Light"/>
                <a:cs typeface="Proxima Nova Light"/>
                <a:sym typeface="Proxima Nova Light"/>
              </a:rPr>
              <a:t>✅ Kết quả tốt nhất – sai số thấp nhất, R² cao nhất.</a:t>
            </a:r>
          </a:p>
        </p:txBody>
      </p:sp>
      <p:sp>
        <p:nvSpPr>
          <p:cNvPr name="TextBox 22" id="22"/>
          <p:cNvSpPr txBox="true"/>
          <p:nvPr/>
        </p:nvSpPr>
        <p:spPr>
          <a:xfrm rot="0">
            <a:off x="13152846" y="3886061"/>
            <a:ext cx="4106454" cy="1138966"/>
          </a:xfrm>
          <a:prstGeom prst="rect">
            <a:avLst/>
          </a:prstGeom>
        </p:spPr>
        <p:txBody>
          <a:bodyPr anchor="t" rtlCol="false" tIns="0" lIns="0" bIns="0" rIns="0">
            <a:spAutoFit/>
          </a:bodyPr>
          <a:lstStyle/>
          <a:p>
            <a:pPr algn="l" marL="0" indent="0" lvl="0">
              <a:lnSpc>
                <a:spcPts val="2322"/>
              </a:lnSpc>
            </a:pPr>
            <a:r>
              <a:rPr lang="en-US" sz="1658">
                <a:solidFill>
                  <a:srgbClr val="141414"/>
                </a:solidFill>
                <a:latin typeface="Proxima Nova Light"/>
                <a:ea typeface="Proxima Nova Light"/>
                <a:cs typeface="Proxima Nova Light"/>
                <a:sym typeface="Proxima Nova Light"/>
              </a:rPr>
              <a:t>MAE: 2.433249</a:t>
            </a:r>
          </a:p>
          <a:p>
            <a:pPr algn="l" marL="0" indent="0" lvl="0">
              <a:lnSpc>
                <a:spcPts val="2322"/>
              </a:lnSpc>
            </a:pPr>
            <a:r>
              <a:rPr lang="en-US" sz="1658">
                <a:solidFill>
                  <a:srgbClr val="141414"/>
                </a:solidFill>
                <a:latin typeface="Proxima Nova Light"/>
                <a:ea typeface="Proxima Nova Light"/>
                <a:cs typeface="Proxima Nova Light"/>
                <a:sym typeface="Proxima Nova Light"/>
              </a:rPr>
              <a:t>RMSE: 3.050595</a:t>
            </a:r>
          </a:p>
          <a:p>
            <a:pPr algn="l" marL="0" indent="0" lvl="0">
              <a:lnSpc>
                <a:spcPts val="2322"/>
              </a:lnSpc>
            </a:pPr>
            <a:r>
              <a:rPr lang="en-US" sz="1658">
                <a:solidFill>
                  <a:srgbClr val="141414"/>
                </a:solidFill>
                <a:latin typeface="Proxima Nova Light"/>
                <a:ea typeface="Proxima Nova Light"/>
                <a:cs typeface="Proxima Nova Light"/>
                <a:sym typeface="Proxima Nova Light"/>
              </a:rPr>
              <a:t>R²: 0.974995</a:t>
            </a:r>
          </a:p>
          <a:p>
            <a:pPr algn="l" marL="0" indent="0" lvl="0">
              <a:lnSpc>
                <a:spcPts val="2322"/>
              </a:lnSpc>
            </a:pPr>
            <a:r>
              <a:rPr lang="en-US" sz="1658">
                <a:solidFill>
                  <a:srgbClr val="141414"/>
                </a:solidFill>
                <a:latin typeface="Proxima Nova Light"/>
                <a:ea typeface="Proxima Nova Light"/>
                <a:cs typeface="Proxima Nova Light"/>
                <a:sym typeface="Proxima Nova Light"/>
              </a:rPr>
              <a:t>⚠ Sai số cao hơn, dễ overfitting.</a:t>
            </a:r>
          </a:p>
        </p:txBody>
      </p:sp>
      <p:sp>
        <p:nvSpPr>
          <p:cNvPr name="TextBox 23" id="23"/>
          <p:cNvSpPr txBox="true"/>
          <p:nvPr/>
        </p:nvSpPr>
        <p:spPr>
          <a:xfrm rot="0">
            <a:off x="8719167" y="7666512"/>
            <a:ext cx="4106454" cy="1138966"/>
          </a:xfrm>
          <a:prstGeom prst="rect">
            <a:avLst/>
          </a:prstGeom>
        </p:spPr>
        <p:txBody>
          <a:bodyPr anchor="t" rtlCol="false" tIns="0" lIns="0" bIns="0" rIns="0">
            <a:spAutoFit/>
          </a:bodyPr>
          <a:lstStyle/>
          <a:p>
            <a:pPr algn="l" marL="0" indent="0" lvl="0">
              <a:lnSpc>
                <a:spcPts val="2322"/>
              </a:lnSpc>
            </a:pPr>
            <a:r>
              <a:rPr lang="en-US" sz="1658">
                <a:solidFill>
                  <a:srgbClr val="141414"/>
                </a:solidFill>
                <a:latin typeface="Proxima Nova Light"/>
                <a:ea typeface="Proxima Nova Light"/>
                <a:cs typeface="Proxima Nova Light"/>
                <a:sym typeface="Proxima Nova Light"/>
              </a:rPr>
              <a:t>MAE: 1.895022</a:t>
            </a:r>
          </a:p>
          <a:p>
            <a:pPr algn="l" marL="0" indent="0" lvl="0">
              <a:lnSpc>
                <a:spcPts val="2322"/>
              </a:lnSpc>
            </a:pPr>
            <a:r>
              <a:rPr lang="en-US" sz="1658">
                <a:solidFill>
                  <a:srgbClr val="141414"/>
                </a:solidFill>
                <a:latin typeface="Proxima Nova Light"/>
                <a:ea typeface="Proxima Nova Light"/>
                <a:cs typeface="Proxima Nova Light"/>
                <a:sym typeface="Proxima Nova Light"/>
              </a:rPr>
              <a:t>RMSE: 2.369629</a:t>
            </a:r>
          </a:p>
          <a:p>
            <a:pPr algn="l" marL="0" indent="0" lvl="0">
              <a:lnSpc>
                <a:spcPts val="2322"/>
              </a:lnSpc>
            </a:pPr>
            <a:r>
              <a:rPr lang="en-US" sz="1658">
                <a:solidFill>
                  <a:srgbClr val="141414"/>
                </a:solidFill>
                <a:latin typeface="Proxima Nova Light"/>
                <a:ea typeface="Proxima Nova Light"/>
                <a:cs typeface="Proxima Nova Light"/>
                <a:sym typeface="Proxima Nova Light"/>
              </a:rPr>
              <a:t>R²: 0.984912</a:t>
            </a:r>
          </a:p>
          <a:p>
            <a:pPr algn="l" marL="0" indent="0" lvl="0">
              <a:lnSpc>
                <a:spcPts val="2322"/>
              </a:lnSpc>
            </a:pPr>
            <a:r>
              <a:rPr lang="en-US" sz="1658">
                <a:solidFill>
                  <a:srgbClr val="141414"/>
                </a:solidFill>
                <a:latin typeface="Proxima Nova Light"/>
                <a:ea typeface="Proxima Nova Light"/>
                <a:cs typeface="Proxima Nova Light"/>
                <a:sym typeface="Proxima Nova Light"/>
              </a:rPr>
              <a:t>🔹 Đứng thứ hai, ổn định hơn Decision Tree.</a:t>
            </a:r>
          </a:p>
        </p:txBody>
      </p:sp>
      <p:sp>
        <p:nvSpPr>
          <p:cNvPr name="TextBox 24" id="24"/>
          <p:cNvSpPr txBox="true"/>
          <p:nvPr/>
        </p:nvSpPr>
        <p:spPr>
          <a:xfrm rot="0">
            <a:off x="13152846" y="7666512"/>
            <a:ext cx="4106454" cy="1138966"/>
          </a:xfrm>
          <a:prstGeom prst="rect">
            <a:avLst/>
          </a:prstGeom>
        </p:spPr>
        <p:txBody>
          <a:bodyPr anchor="t" rtlCol="false" tIns="0" lIns="0" bIns="0" rIns="0">
            <a:spAutoFit/>
          </a:bodyPr>
          <a:lstStyle/>
          <a:p>
            <a:pPr algn="l" marL="0" indent="0" lvl="0">
              <a:lnSpc>
                <a:spcPts val="2322"/>
              </a:lnSpc>
            </a:pPr>
            <a:r>
              <a:rPr lang="en-US" sz="1658">
                <a:solidFill>
                  <a:srgbClr val="141414"/>
                </a:solidFill>
                <a:latin typeface="Proxima Nova Light"/>
                <a:ea typeface="Proxima Nova Light"/>
                <a:cs typeface="Proxima Nova Light"/>
                <a:sym typeface="Proxima Nova Light"/>
              </a:rPr>
              <a:t>MAE: 2.361418</a:t>
            </a:r>
          </a:p>
          <a:p>
            <a:pPr algn="l" marL="0" indent="0" lvl="0">
              <a:lnSpc>
                <a:spcPts val="2322"/>
              </a:lnSpc>
            </a:pPr>
            <a:r>
              <a:rPr lang="en-US" sz="1658">
                <a:solidFill>
                  <a:srgbClr val="141414"/>
                </a:solidFill>
                <a:latin typeface="Proxima Nova Light"/>
                <a:ea typeface="Proxima Nova Light"/>
                <a:cs typeface="Proxima Nova Light"/>
                <a:sym typeface="Proxima Nova Light"/>
              </a:rPr>
              <a:t>RMSE: 2.959169</a:t>
            </a:r>
          </a:p>
          <a:p>
            <a:pPr algn="l" marL="0" indent="0" lvl="0">
              <a:lnSpc>
                <a:spcPts val="2322"/>
              </a:lnSpc>
            </a:pPr>
            <a:r>
              <a:rPr lang="en-US" sz="1658">
                <a:solidFill>
                  <a:srgbClr val="141414"/>
                </a:solidFill>
                <a:latin typeface="Proxima Nova Light"/>
                <a:ea typeface="Proxima Nova Light"/>
                <a:cs typeface="Proxima Nova Light"/>
                <a:sym typeface="Proxima Nova Light"/>
              </a:rPr>
              <a:t>R²: 0.976471</a:t>
            </a:r>
          </a:p>
          <a:p>
            <a:pPr algn="l" marL="0" indent="0" lvl="0">
              <a:lnSpc>
                <a:spcPts val="2322"/>
              </a:lnSpc>
            </a:pPr>
            <a:r>
              <a:rPr lang="en-US" sz="1658">
                <a:solidFill>
                  <a:srgbClr val="141414"/>
                </a:solidFill>
                <a:latin typeface="Proxima Nova Light"/>
                <a:ea typeface="Proxima Nova Light"/>
                <a:cs typeface="Proxima Nova Light"/>
                <a:sym typeface="Proxima Nova Light"/>
              </a:rPr>
              <a:t>⚠ Sai số cao, tốn thời gian dự đoán.</a:t>
            </a:r>
          </a:p>
        </p:txBody>
      </p:sp>
      <p:sp>
        <p:nvSpPr>
          <p:cNvPr name="TextBox 25" id="25"/>
          <p:cNvSpPr txBox="true"/>
          <p:nvPr/>
        </p:nvSpPr>
        <p:spPr>
          <a:xfrm rot="0">
            <a:off x="8719167" y="3143111"/>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Linear Regression</a:t>
            </a:r>
          </a:p>
        </p:txBody>
      </p:sp>
      <p:sp>
        <p:nvSpPr>
          <p:cNvPr name="TextBox 26" id="26"/>
          <p:cNvSpPr txBox="true"/>
          <p:nvPr/>
        </p:nvSpPr>
        <p:spPr>
          <a:xfrm rot="0">
            <a:off x="13152846" y="3143111"/>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Decision Tree</a:t>
            </a:r>
          </a:p>
        </p:txBody>
      </p:sp>
      <p:sp>
        <p:nvSpPr>
          <p:cNvPr name="TextBox 27" id="27"/>
          <p:cNvSpPr txBox="true"/>
          <p:nvPr/>
        </p:nvSpPr>
        <p:spPr>
          <a:xfrm rot="0">
            <a:off x="8719167" y="6923562"/>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Random Forest</a:t>
            </a:r>
          </a:p>
        </p:txBody>
      </p:sp>
      <p:sp>
        <p:nvSpPr>
          <p:cNvPr name="TextBox 28" id="28"/>
          <p:cNvSpPr txBox="true"/>
          <p:nvPr/>
        </p:nvSpPr>
        <p:spPr>
          <a:xfrm rot="0">
            <a:off x="13152846" y="6923562"/>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KNN</a:t>
            </a:r>
          </a:p>
        </p:txBody>
      </p:sp>
      <p:sp>
        <p:nvSpPr>
          <p:cNvPr name="TextBox 29" id="29"/>
          <p:cNvSpPr txBox="true"/>
          <p:nvPr/>
        </p:nvSpPr>
        <p:spPr>
          <a:xfrm rot="0">
            <a:off x="1028700" y="7831815"/>
            <a:ext cx="6726333" cy="656696"/>
          </a:xfrm>
          <a:prstGeom prst="rect">
            <a:avLst/>
          </a:prstGeom>
        </p:spPr>
        <p:txBody>
          <a:bodyPr anchor="t" rtlCol="false" tIns="0" lIns="0" bIns="0" rIns="0">
            <a:spAutoFit/>
          </a:bodyPr>
          <a:lstStyle/>
          <a:p>
            <a:pPr algn="l" marL="0" indent="0" lvl="0">
              <a:lnSpc>
                <a:spcPts val="2654"/>
              </a:lnSpc>
            </a:pPr>
            <a:r>
              <a:rPr lang="en-US" sz="1895">
                <a:solidFill>
                  <a:srgbClr val="141414"/>
                </a:solidFill>
                <a:latin typeface="Proxima Nova Light"/>
                <a:ea typeface="Proxima Nova Light"/>
                <a:cs typeface="Proxima Nova Light"/>
                <a:sym typeface="Proxima Nova Light"/>
              </a:rPr>
              <a:t>Tất cả mô hình dùng cùng dataset, train/test split (80/20) và metric để đảm bảo so sánh công bằng.</a:t>
            </a:r>
          </a:p>
        </p:txBody>
      </p:sp>
      <p:grpSp>
        <p:nvGrpSpPr>
          <p:cNvPr name="Group 30" id="30"/>
          <p:cNvGrpSpPr/>
          <p:nvPr/>
        </p:nvGrpSpPr>
        <p:grpSpPr>
          <a:xfrm rot="0">
            <a:off x="1028700" y="2054760"/>
            <a:ext cx="6617824" cy="2660095"/>
            <a:chOff x="0" y="0"/>
            <a:chExt cx="1025274" cy="412118"/>
          </a:xfrm>
        </p:grpSpPr>
        <p:sp>
          <p:nvSpPr>
            <p:cNvPr name="Freeform 31" id="31"/>
            <p:cNvSpPr/>
            <p:nvPr/>
          </p:nvSpPr>
          <p:spPr>
            <a:xfrm flipH="false" flipV="false" rot="0">
              <a:off x="0" y="0"/>
              <a:ext cx="1025274" cy="412118"/>
            </a:xfrm>
            <a:custGeom>
              <a:avLst/>
              <a:gdLst/>
              <a:ahLst/>
              <a:cxnLst/>
              <a:rect r="r" b="b" t="t" l="l"/>
              <a:pathLst>
                <a:path h="412118" w="1025274">
                  <a:moveTo>
                    <a:pt x="0" y="0"/>
                  </a:moveTo>
                  <a:lnTo>
                    <a:pt x="1025274" y="0"/>
                  </a:lnTo>
                  <a:lnTo>
                    <a:pt x="1025274" y="412118"/>
                  </a:lnTo>
                  <a:lnTo>
                    <a:pt x="0" y="412118"/>
                  </a:lnTo>
                  <a:close/>
                </a:path>
              </a:pathLst>
            </a:custGeom>
            <a:blipFill>
              <a:blip r:embed="rId3"/>
              <a:stretch>
                <a:fillRect l="0" t="-378" r="0" b="-378"/>
              </a:stretch>
            </a:blipFill>
          </p:spPr>
        </p:sp>
      </p:grpSp>
      <p:grpSp>
        <p:nvGrpSpPr>
          <p:cNvPr name="Group 32" id="32"/>
          <p:cNvGrpSpPr/>
          <p:nvPr/>
        </p:nvGrpSpPr>
        <p:grpSpPr>
          <a:xfrm rot="0">
            <a:off x="1047528" y="4546977"/>
            <a:ext cx="6598996" cy="167878"/>
            <a:chOff x="0" y="0"/>
            <a:chExt cx="8798662" cy="223837"/>
          </a:xfrm>
        </p:grpSpPr>
        <p:grpSp>
          <p:nvGrpSpPr>
            <p:cNvPr name="Group 33" id="33"/>
            <p:cNvGrpSpPr/>
            <p:nvPr/>
          </p:nvGrpSpPr>
          <p:grpSpPr>
            <a:xfrm rot="0">
              <a:off x="0" y="0"/>
              <a:ext cx="1674460" cy="223837"/>
              <a:chOff x="0" y="0"/>
              <a:chExt cx="330758" cy="44215"/>
            </a:xfrm>
          </p:grpSpPr>
          <p:sp>
            <p:nvSpPr>
              <p:cNvPr name="Freeform 34" id="34"/>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35" id="35"/>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36" id="36"/>
            <p:cNvSpPr/>
            <p:nvPr/>
          </p:nvSpPr>
          <p:spPr>
            <a:xfrm>
              <a:off x="0" y="198437"/>
              <a:ext cx="8798662" cy="0"/>
            </a:xfrm>
            <a:prstGeom prst="line">
              <a:avLst/>
            </a:prstGeom>
            <a:ln cap="flat" w="50800">
              <a:solidFill>
                <a:srgbClr val="141414"/>
              </a:solidFill>
              <a:prstDash val="solid"/>
              <a:headEnd type="none" len="sm" w="sm"/>
              <a:tailEnd type="none" len="sm" w="sm"/>
            </a:ln>
          </p:spPr>
        </p:sp>
      </p:grpSp>
      <p:sp>
        <p:nvSpPr>
          <p:cNvPr name="Freeform 37" id="37"/>
          <p:cNvSpPr/>
          <p:nvPr/>
        </p:nvSpPr>
        <p:spPr>
          <a:xfrm flipH="false" flipV="false" rot="0">
            <a:off x="8719167"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
        <p:nvSpPr>
          <p:cNvPr name="Freeform 38" id="38"/>
          <p:cNvSpPr/>
          <p:nvPr/>
        </p:nvSpPr>
        <p:spPr>
          <a:xfrm flipH="false" flipV="false" rot="0">
            <a:off x="16920165" y="9505139"/>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
        <p:nvSpPr>
          <p:cNvPr name="Freeform 39" id="39"/>
          <p:cNvSpPr/>
          <p:nvPr/>
        </p:nvSpPr>
        <p:spPr>
          <a:xfrm flipH="false" flipV="false" rot="0">
            <a:off x="171405" y="9505139"/>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028700" y="2109671"/>
            <a:ext cx="6232030" cy="684743"/>
          </a:xfrm>
          <a:prstGeom prst="rect">
            <a:avLst/>
          </a:prstGeom>
        </p:spPr>
        <p:txBody>
          <a:bodyPr anchor="t" rtlCol="false" tIns="0" lIns="0" bIns="0" rIns="0">
            <a:spAutoFit/>
          </a:bodyPr>
          <a:lstStyle/>
          <a:p>
            <a:pPr algn="l" marL="0" indent="0" lvl="0">
              <a:lnSpc>
                <a:spcPts val="5549"/>
              </a:lnSpc>
            </a:pPr>
            <a:r>
              <a:rPr lang="en-US" sz="4269">
                <a:solidFill>
                  <a:srgbClr val="F8F7F6"/>
                </a:solidFill>
                <a:latin typeface="Pattanakarn SemiExpanded Light"/>
                <a:ea typeface="Pattanakarn SemiExpanded Light"/>
                <a:cs typeface="Pattanakarn SemiExpanded Light"/>
                <a:sym typeface="Pattanakarn SemiExpanded Light"/>
              </a:rPr>
              <a:t>BASELINE</a:t>
            </a:r>
          </a:p>
        </p:txBody>
      </p:sp>
      <p:sp>
        <p:nvSpPr>
          <p:cNvPr name="TextBox 3" id="3"/>
          <p:cNvSpPr txBox="true"/>
          <p:nvPr/>
        </p:nvSpPr>
        <p:spPr>
          <a:xfrm rot="0">
            <a:off x="1028700" y="2868716"/>
            <a:ext cx="6232030" cy="684743"/>
          </a:xfrm>
          <a:prstGeom prst="rect">
            <a:avLst/>
          </a:prstGeom>
        </p:spPr>
        <p:txBody>
          <a:bodyPr anchor="t" rtlCol="false" tIns="0" lIns="0" bIns="0" rIns="0">
            <a:spAutoFit/>
          </a:bodyPr>
          <a:lstStyle/>
          <a:p>
            <a:pPr algn="l" marL="0" indent="0" lvl="0">
              <a:lnSpc>
                <a:spcPts val="5549"/>
              </a:lnSpc>
            </a:pPr>
            <a:r>
              <a:rPr lang="en-US" b="true" sz="4269">
                <a:solidFill>
                  <a:srgbClr val="F8F7F6"/>
                </a:solidFill>
                <a:latin typeface="Pattanakarn SemiExpanded Medium"/>
                <a:ea typeface="Pattanakarn SemiExpanded Medium"/>
                <a:cs typeface="Pattanakarn SemiExpanded Medium"/>
                <a:sym typeface="Pattanakarn SemiExpanded Medium"/>
              </a:rPr>
              <a:t>DUMMYREGRESSOR</a:t>
            </a:r>
          </a:p>
        </p:txBody>
      </p:sp>
      <p:grpSp>
        <p:nvGrpSpPr>
          <p:cNvPr name="Group 4" id="4"/>
          <p:cNvGrpSpPr/>
          <p:nvPr/>
        </p:nvGrpSpPr>
        <p:grpSpPr>
          <a:xfrm rot="0">
            <a:off x="8376440" y="2147771"/>
            <a:ext cx="795315" cy="79531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7" id="7"/>
          <p:cNvGrpSpPr/>
          <p:nvPr/>
        </p:nvGrpSpPr>
        <p:grpSpPr>
          <a:xfrm rot="0">
            <a:off x="13039574" y="2147771"/>
            <a:ext cx="795315" cy="79531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0" id="10"/>
          <p:cNvGrpSpPr/>
          <p:nvPr/>
        </p:nvGrpSpPr>
        <p:grpSpPr>
          <a:xfrm rot="0">
            <a:off x="8376440" y="5928221"/>
            <a:ext cx="795315" cy="79531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3" id="13"/>
          <p:cNvGrpSpPr/>
          <p:nvPr/>
        </p:nvGrpSpPr>
        <p:grpSpPr>
          <a:xfrm rot="0">
            <a:off x="13039574" y="5928221"/>
            <a:ext cx="795315" cy="79531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sp>
        <p:nvSpPr>
          <p:cNvPr name="TextBox 16" id="16"/>
          <p:cNvSpPr txBox="true"/>
          <p:nvPr/>
        </p:nvSpPr>
        <p:spPr>
          <a:xfrm rot="0">
            <a:off x="8519337" y="233683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01</a:t>
            </a:r>
          </a:p>
        </p:txBody>
      </p:sp>
      <p:sp>
        <p:nvSpPr>
          <p:cNvPr name="TextBox 17" id="17"/>
          <p:cNvSpPr txBox="true"/>
          <p:nvPr/>
        </p:nvSpPr>
        <p:spPr>
          <a:xfrm rot="0">
            <a:off x="13182470" y="233683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02</a:t>
            </a:r>
          </a:p>
        </p:txBody>
      </p:sp>
      <p:sp>
        <p:nvSpPr>
          <p:cNvPr name="TextBox 18" id="18"/>
          <p:cNvSpPr txBox="true"/>
          <p:nvPr/>
        </p:nvSpPr>
        <p:spPr>
          <a:xfrm rot="0">
            <a:off x="8519337"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03</a:t>
            </a:r>
          </a:p>
        </p:txBody>
      </p:sp>
      <p:sp>
        <p:nvSpPr>
          <p:cNvPr name="TextBox 19" id="19"/>
          <p:cNvSpPr txBox="true"/>
          <p:nvPr/>
        </p:nvSpPr>
        <p:spPr>
          <a:xfrm rot="0">
            <a:off x="13182470"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04</a:t>
            </a:r>
          </a:p>
        </p:txBody>
      </p:sp>
      <p:sp>
        <p:nvSpPr>
          <p:cNvPr name="TextBox 20" id="20"/>
          <p:cNvSpPr txBox="true"/>
          <p:nvPr/>
        </p:nvSpPr>
        <p:spPr>
          <a:xfrm rot="0">
            <a:off x="8376440" y="3886061"/>
            <a:ext cx="4219726" cy="1249609"/>
          </a:xfrm>
          <a:prstGeom prst="rect">
            <a:avLst/>
          </a:prstGeom>
        </p:spPr>
        <p:txBody>
          <a:bodyPr anchor="t" rtlCol="false" tIns="0" lIns="0" bIns="0" rIns="0">
            <a:spAutoFit/>
          </a:bodyPr>
          <a:lstStyle/>
          <a:p>
            <a:pPr algn="l" marL="0" indent="0" lvl="0">
              <a:lnSpc>
                <a:spcPts val="2523"/>
              </a:lnSpc>
            </a:pPr>
            <a:r>
              <a:rPr lang="en-US" sz="1802">
                <a:solidFill>
                  <a:srgbClr val="FFFFFF"/>
                </a:solidFill>
                <a:latin typeface="Proxima Nova Light"/>
                <a:ea typeface="Proxima Nova Light"/>
                <a:cs typeface="Proxima Nova Light"/>
                <a:sym typeface="Proxima Nova Light"/>
              </a:rPr>
              <a:t>16.252553</a:t>
            </a:r>
          </a:p>
          <a:p>
            <a:pPr algn="l" marL="0" indent="0" lvl="0">
              <a:lnSpc>
                <a:spcPts val="2523"/>
              </a:lnSpc>
            </a:pPr>
            <a:r>
              <a:rPr lang="en-US" sz="1802">
                <a:solidFill>
                  <a:srgbClr val="FFFFFF"/>
                </a:solidFill>
                <a:latin typeface="Proxima Nova Light"/>
                <a:ea typeface="Proxima Nova Light"/>
                <a:cs typeface="Proxima Nova Light"/>
                <a:sym typeface="Proxima Nova Light"/>
              </a:rPr>
              <a:t>Baseline dự đoán bằng giá trị trung bình, sai số tuyệt đối trung bình rất cao so với các mô hình ML.</a:t>
            </a:r>
          </a:p>
        </p:txBody>
      </p:sp>
      <p:sp>
        <p:nvSpPr>
          <p:cNvPr name="TextBox 21" id="21"/>
          <p:cNvSpPr txBox="true"/>
          <p:nvPr/>
        </p:nvSpPr>
        <p:spPr>
          <a:xfrm rot="0">
            <a:off x="13039574" y="3886061"/>
            <a:ext cx="4219726" cy="1249609"/>
          </a:xfrm>
          <a:prstGeom prst="rect">
            <a:avLst/>
          </a:prstGeom>
        </p:spPr>
        <p:txBody>
          <a:bodyPr anchor="t" rtlCol="false" tIns="0" lIns="0" bIns="0" rIns="0">
            <a:spAutoFit/>
          </a:bodyPr>
          <a:lstStyle/>
          <a:p>
            <a:pPr algn="l" marL="0" indent="0" lvl="0">
              <a:lnSpc>
                <a:spcPts val="2523"/>
              </a:lnSpc>
            </a:pPr>
            <a:r>
              <a:rPr lang="en-US" sz="1802">
                <a:solidFill>
                  <a:srgbClr val="FFFFFF"/>
                </a:solidFill>
                <a:latin typeface="Proxima Nova Light"/>
                <a:ea typeface="Proxima Nova Light"/>
                <a:cs typeface="Proxima Nova Light"/>
                <a:sym typeface="Proxima Nova Light"/>
              </a:rPr>
              <a:t>19.301002</a:t>
            </a:r>
          </a:p>
          <a:p>
            <a:pPr algn="l" marL="0" indent="0" lvl="0">
              <a:lnSpc>
                <a:spcPts val="2523"/>
              </a:lnSpc>
            </a:pPr>
            <a:r>
              <a:rPr lang="en-US" sz="1802">
                <a:solidFill>
                  <a:srgbClr val="FFFFFF"/>
                </a:solidFill>
                <a:latin typeface="Proxima Nova Light"/>
                <a:ea typeface="Proxima Nova Light"/>
                <a:cs typeface="Proxima Nova Light"/>
                <a:sym typeface="Proxima Nova Light"/>
              </a:rPr>
              <a:t>Sai số bình phương trung bình gốc rất lớn, cho thấy baseline không có khả năng dự đoán chính xác.</a:t>
            </a:r>
          </a:p>
        </p:txBody>
      </p:sp>
      <p:sp>
        <p:nvSpPr>
          <p:cNvPr name="TextBox 22" id="22"/>
          <p:cNvSpPr txBox="true"/>
          <p:nvPr/>
        </p:nvSpPr>
        <p:spPr>
          <a:xfrm rot="0">
            <a:off x="8376440" y="7666512"/>
            <a:ext cx="4219726" cy="1249609"/>
          </a:xfrm>
          <a:prstGeom prst="rect">
            <a:avLst/>
          </a:prstGeom>
        </p:spPr>
        <p:txBody>
          <a:bodyPr anchor="t" rtlCol="false" tIns="0" lIns="0" bIns="0" rIns="0">
            <a:spAutoFit/>
          </a:bodyPr>
          <a:lstStyle/>
          <a:p>
            <a:pPr algn="l" marL="0" indent="0" lvl="0">
              <a:lnSpc>
                <a:spcPts val="2523"/>
              </a:lnSpc>
            </a:pPr>
            <a:r>
              <a:rPr lang="en-US" sz="1802">
                <a:solidFill>
                  <a:srgbClr val="FFFFFF"/>
                </a:solidFill>
                <a:latin typeface="Proxima Nova Light"/>
                <a:ea typeface="Proxima Nova Light"/>
                <a:cs typeface="Proxima Nova Light"/>
                <a:sym typeface="Proxima Nova Light"/>
              </a:rPr>
              <a:t>-0.000978</a:t>
            </a:r>
          </a:p>
          <a:p>
            <a:pPr algn="l" marL="0" indent="0" lvl="0">
              <a:lnSpc>
                <a:spcPts val="2523"/>
              </a:lnSpc>
            </a:pPr>
            <a:r>
              <a:rPr lang="en-US" sz="1802">
                <a:solidFill>
                  <a:srgbClr val="FFFFFF"/>
                </a:solidFill>
                <a:latin typeface="Proxima Nova Light"/>
                <a:ea typeface="Proxima Nova Light"/>
                <a:cs typeface="Proxima Nova Light"/>
                <a:sym typeface="Proxima Nova Light"/>
              </a:rPr>
              <a:t>R² âm cho thấy mô hình baseline không giải thích được biến động dữ liệu – tệ hơn cả dự đoán trung bình.</a:t>
            </a:r>
          </a:p>
        </p:txBody>
      </p:sp>
      <p:sp>
        <p:nvSpPr>
          <p:cNvPr name="TextBox 23" id="23"/>
          <p:cNvSpPr txBox="true"/>
          <p:nvPr/>
        </p:nvSpPr>
        <p:spPr>
          <a:xfrm rot="0">
            <a:off x="13039574" y="7666512"/>
            <a:ext cx="4219726" cy="935284"/>
          </a:xfrm>
          <a:prstGeom prst="rect">
            <a:avLst/>
          </a:prstGeom>
        </p:spPr>
        <p:txBody>
          <a:bodyPr anchor="t" rtlCol="false" tIns="0" lIns="0" bIns="0" rIns="0">
            <a:spAutoFit/>
          </a:bodyPr>
          <a:lstStyle/>
          <a:p>
            <a:pPr algn="l" marL="0" indent="0" lvl="0">
              <a:lnSpc>
                <a:spcPts val="2523"/>
              </a:lnSpc>
            </a:pPr>
            <a:r>
              <a:rPr lang="en-US" sz="1802">
                <a:solidFill>
                  <a:srgbClr val="FFFFFF"/>
                </a:solidFill>
                <a:latin typeface="Proxima Nova Light"/>
                <a:ea typeface="Proxima Nova Light"/>
                <a:cs typeface="Proxima Nova Light"/>
                <a:sym typeface="Proxima Nova Light"/>
              </a:rPr>
              <a:t>Baseline là mốc tham chiếu tối thiểu. Mọi mô hình ML cần vượt qua baseline để chứng minh giá trị thực sự.</a:t>
            </a:r>
          </a:p>
        </p:txBody>
      </p:sp>
      <p:sp>
        <p:nvSpPr>
          <p:cNvPr name="TextBox 24" id="24"/>
          <p:cNvSpPr txBox="true"/>
          <p:nvPr/>
        </p:nvSpPr>
        <p:spPr>
          <a:xfrm rot="0">
            <a:off x="8376440" y="3143111"/>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MAE (Mean Absolute Error)</a:t>
            </a:r>
          </a:p>
        </p:txBody>
      </p:sp>
      <p:sp>
        <p:nvSpPr>
          <p:cNvPr name="TextBox 25" id="25"/>
          <p:cNvSpPr txBox="true"/>
          <p:nvPr/>
        </p:nvSpPr>
        <p:spPr>
          <a:xfrm rot="0">
            <a:off x="13039574" y="3143111"/>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RMSE (Root Mean Square Error)</a:t>
            </a:r>
          </a:p>
        </p:txBody>
      </p:sp>
      <p:sp>
        <p:nvSpPr>
          <p:cNvPr name="TextBox 26" id="26"/>
          <p:cNvSpPr txBox="true"/>
          <p:nvPr/>
        </p:nvSpPr>
        <p:spPr>
          <a:xfrm rot="0">
            <a:off x="8376440" y="6923562"/>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R² (Hệ số xác định)</a:t>
            </a:r>
          </a:p>
        </p:txBody>
      </p:sp>
      <p:sp>
        <p:nvSpPr>
          <p:cNvPr name="TextBox 27" id="27"/>
          <p:cNvSpPr txBox="true"/>
          <p:nvPr/>
        </p:nvSpPr>
        <p:spPr>
          <a:xfrm rot="0">
            <a:off x="13039574" y="6923562"/>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Vai trò của Baseline</a:t>
            </a:r>
          </a:p>
        </p:txBody>
      </p:sp>
      <p:grpSp>
        <p:nvGrpSpPr>
          <p:cNvPr name="Group 28" id="28"/>
          <p:cNvGrpSpPr/>
          <p:nvPr/>
        </p:nvGrpSpPr>
        <p:grpSpPr>
          <a:xfrm rot="0">
            <a:off x="1028700" y="4892116"/>
            <a:ext cx="6232030" cy="2660095"/>
            <a:chOff x="0" y="0"/>
            <a:chExt cx="965505" cy="412118"/>
          </a:xfrm>
        </p:grpSpPr>
        <p:sp>
          <p:nvSpPr>
            <p:cNvPr name="Freeform 29" id="29"/>
            <p:cNvSpPr/>
            <p:nvPr/>
          </p:nvSpPr>
          <p:spPr>
            <a:xfrm flipH="false" flipV="false" rot="0">
              <a:off x="0" y="0"/>
              <a:ext cx="965505" cy="412118"/>
            </a:xfrm>
            <a:custGeom>
              <a:avLst/>
              <a:gdLst/>
              <a:ahLst/>
              <a:cxnLst/>
              <a:rect r="r" b="b" t="t" l="l"/>
              <a:pathLst>
                <a:path h="412118" w="965505">
                  <a:moveTo>
                    <a:pt x="0" y="0"/>
                  </a:moveTo>
                  <a:lnTo>
                    <a:pt x="965505" y="0"/>
                  </a:lnTo>
                  <a:lnTo>
                    <a:pt x="965505" y="412118"/>
                  </a:lnTo>
                  <a:lnTo>
                    <a:pt x="0" y="412118"/>
                  </a:lnTo>
                  <a:close/>
                </a:path>
              </a:pathLst>
            </a:custGeom>
            <a:blipFill>
              <a:blip r:embed="rId2"/>
              <a:stretch>
                <a:fillRect l="0" t="-77" r="0" b="-77"/>
              </a:stretch>
            </a:blipFill>
          </p:spPr>
        </p:sp>
      </p:grpSp>
      <p:sp>
        <p:nvSpPr>
          <p:cNvPr name="TextBox 30" id="30"/>
          <p:cNvSpPr txBox="true"/>
          <p:nvPr/>
        </p:nvSpPr>
        <p:spPr>
          <a:xfrm rot="0">
            <a:off x="1028700" y="7893207"/>
            <a:ext cx="6232030" cy="1369795"/>
          </a:xfrm>
          <a:prstGeom prst="rect">
            <a:avLst/>
          </a:prstGeom>
        </p:spPr>
        <p:txBody>
          <a:bodyPr anchor="t" rtlCol="false" tIns="0" lIns="0" bIns="0" rIns="0">
            <a:spAutoFit/>
          </a:bodyPr>
          <a:lstStyle/>
          <a:p>
            <a:pPr algn="l" marL="0" indent="0" lvl="0">
              <a:lnSpc>
                <a:spcPts val="2724"/>
              </a:lnSpc>
            </a:pPr>
            <a:r>
              <a:rPr lang="en-US" sz="1946">
                <a:solidFill>
                  <a:srgbClr val="FFFFFF"/>
                </a:solidFill>
                <a:latin typeface="Proxima Nova Light"/>
                <a:ea typeface="Proxima Nova Light"/>
                <a:cs typeface="Proxima Nova Light"/>
                <a:sym typeface="Proxima Nova Light"/>
              </a:rPr>
              <a:t>DummyRegressor dự đoán bằng giá trị trung bình của tập train. Kết quả baseline rất kém (R² ≈ 0), xác nhận rằng các mô hình ML (Linear Regression, Decision Tree, Random Forest, KNN) đều mang lại cải thiện đáng kể.</a:t>
            </a:r>
          </a:p>
        </p:txBody>
      </p:sp>
      <p:grpSp>
        <p:nvGrpSpPr>
          <p:cNvPr name="Group 31" id="31"/>
          <p:cNvGrpSpPr/>
          <p:nvPr/>
        </p:nvGrpSpPr>
        <p:grpSpPr>
          <a:xfrm rot="0">
            <a:off x="1028700" y="7384334"/>
            <a:ext cx="6226832" cy="167878"/>
            <a:chOff x="0" y="0"/>
            <a:chExt cx="8302442" cy="223837"/>
          </a:xfrm>
        </p:grpSpPr>
        <p:grpSp>
          <p:nvGrpSpPr>
            <p:cNvPr name="Group 32" id="32"/>
            <p:cNvGrpSpPr/>
            <p:nvPr/>
          </p:nvGrpSpPr>
          <p:grpSpPr>
            <a:xfrm rot="0">
              <a:off x="0" y="0"/>
              <a:ext cx="1674460" cy="223837"/>
              <a:chOff x="0" y="0"/>
              <a:chExt cx="330758" cy="44215"/>
            </a:xfrm>
          </p:grpSpPr>
          <p:sp>
            <p:nvSpPr>
              <p:cNvPr name="Freeform 33" id="33"/>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F8F7F6"/>
              </a:solidFill>
            </p:spPr>
          </p:sp>
          <p:sp>
            <p:nvSpPr>
              <p:cNvPr name="TextBox 34" id="34"/>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35" id="35"/>
            <p:cNvSpPr/>
            <p:nvPr/>
          </p:nvSpPr>
          <p:spPr>
            <a:xfrm>
              <a:off x="0" y="198437"/>
              <a:ext cx="8302442" cy="0"/>
            </a:xfrm>
            <a:prstGeom prst="line">
              <a:avLst/>
            </a:prstGeom>
            <a:ln cap="flat" w="50800">
              <a:solidFill>
                <a:srgbClr val="F8F7F6"/>
              </a:solidFill>
              <a:prstDash val="solid"/>
              <a:headEnd type="none" len="sm" w="sm"/>
              <a:tailEnd type="none" len="sm" w="sm"/>
            </a:ln>
          </p:spPr>
        </p:sp>
      </p:grpSp>
      <p:sp>
        <p:nvSpPr>
          <p:cNvPr name="Freeform 36" id="36"/>
          <p:cNvSpPr/>
          <p:nvPr/>
        </p:nvSpPr>
        <p:spPr>
          <a:xfrm flipH="false" flipV="false" rot="0">
            <a:off x="16914174" y="9458325"/>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
        <p:nvSpPr>
          <p:cNvPr name="Freeform 37" id="37"/>
          <p:cNvSpPr/>
          <p:nvPr/>
        </p:nvSpPr>
        <p:spPr>
          <a:xfrm flipH="false" flipV="false" rot="0">
            <a:off x="6490014"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28700" y="2100146"/>
            <a:ext cx="5564307" cy="804070"/>
          </a:xfrm>
          <a:prstGeom prst="rect">
            <a:avLst/>
          </a:prstGeom>
        </p:spPr>
        <p:txBody>
          <a:bodyPr anchor="t" rtlCol="false" tIns="0" lIns="0" bIns="0" rIns="0">
            <a:spAutoFit/>
          </a:bodyPr>
          <a:lstStyle/>
          <a:p>
            <a:pPr algn="l" marL="0" indent="0" lvl="0">
              <a:lnSpc>
                <a:spcPts val="6492"/>
              </a:lnSpc>
            </a:pPr>
            <a:r>
              <a:rPr lang="en-US" sz="4994">
                <a:solidFill>
                  <a:srgbClr val="141414"/>
                </a:solidFill>
                <a:latin typeface="Pattanakarn SemiExpanded Light"/>
                <a:ea typeface="Pattanakarn SemiExpanded Light"/>
                <a:cs typeface="Pattanakarn SemiExpanded Light"/>
                <a:sym typeface="Pattanakarn SemiExpanded Light"/>
              </a:rPr>
              <a:t>PHÂN TÍCH</a:t>
            </a:r>
          </a:p>
        </p:txBody>
      </p:sp>
      <p:sp>
        <p:nvSpPr>
          <p:cNvPr name="TextBox 4" id="4"/>
          <p:cNvSpPr txBox="true"/>
          <p:nvPr/>
        </p:nvSpPr>
        <p:spPr>
          <a:xfrm rot="0">
            <a:off x="1028700" y="2859191"/>
            <a:ext cx="7347740" cy="804070"/>
          </a:xfrm>
          <a:prstGeom prst="rect">
            <a:avLst/>
          </a:prstGeom>
        </p:spPr>
        <p:txBody>
          <a:bodyPr anchor="t" rtlCol="false" tIns="0" lIns="0" bIns="0" rIns="0">
            <a:spAutoFit/>
          </a:bodyPr>
          <a:lstStyle/>
          <a:p>
            <a:pPr algn="l" marL="0" indent="0" lvl="0">
              <a:lnSpc>
                <a:spcPts val="6492"/>
              </a:lnSpc>
            </a:pPr>
            <a:r>
              <a:rPr lang="en-US" b="true" sz="4994">
                <a:solidFill>
                  <a:srgbClr val="141414"/>
                </a:solidFill>
                <a:latin typeface="Pattanakarn SemiExpanded Medium"/>
                <a:ea typeface="Pattanakarn SemiExpanded Medium"/>
                <a:cs typeface="Pattanakarn SemiExpanded Medium"/>
                <a:sym typeface="Pattanakarn SemiExpanded Medium"/>
              </a:rPr>
              <a:t>KẾT QUẢ MÔ HÌNH</a:t>
            </a:r>
          </a:p>
        </p:txBody>
      </p:sp>
      <p:sp>
        <p:nvSpPr>
          <p:cNvPr name="Freeform 5" id="5"/>
          <p:cNvSpPr/>
          <p:nvPr/>
        </p:nvSpPr>
        <p:spPr>
          <a:xfrm flipH="false" flipV="false" rot="0">
            <a:off x="9440480" y="2245306"/>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9440480" y="4202672"/>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440480" y="6159772"/>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9440480" y="8116872"/>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0482903" y="2287549"/>
            <a:ext cx="6776397" cy="1099223"/>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MAE thấp nhất: 1.6470 | RMSE thấp nhất: 2.0751 | R² cao nhất: 0.9884. Mô hình đơn giản nhưng phù hợp nhất với xu hướng tuyến tính trong dữ liệu.</a:t>
            </a:r>
          </a:p>
        </p:txBody>
      </p:sp>
      <p:sp>
        <p:nvSpPr>
          <p:cNvPr name="TextBox 10" id="10"/>
          <p:cNvSpPr txBox="true"/>
          <p:nvPr/>
        </p:nvSpPr>
        <p:spPr>
          <a:xfrm rot="0">
            <a:off x="10482903" y="1896359"/>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Linear Regression – Tốt nhất</a:t>
            </a:r>
          </a:p>
        </p:txBody>
      </p:sp>
      <p:sp>
        <p:nvSpPr>
          <p:cNvPr name="TextBox 11" id="11"/>
          <p:cNvSpPr txBox="true"/>
          <p:nvPr/>
        </p:nvSpPr>
        <p:spPr>
          <a:xfrm rot="0">
            <a:off x="10482903" y="4244914"/>
            <a:ext cx="6776397" cy="1099223"/>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MAE: 1.8950 | RMSE: 2.3696 | R²: 0.9849. Ensemble nhiều cây cho kết quả ổn định, nhưng không vượt qua Linear Regression trên dataset này.</a:t>
            </a:r>
          </a:p>
        </p:txBody>
      </p:sp>
      <p:sp>
        <p:nvSpPr>
          <p:cNvPr name="TextBox 12" id="12"/>
          <p:cNvSpPr txBox="true"/>
          <p:nvPr/>
        </p:nvSpPr>
        <p:spPr>
          <a:xfrm rot="0">
            <a:off x="10482903" y="3853724"/>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Random Forest – Xếp thứ hai</a:t>
            </a:r>
          </a:p>
        </p:txBody>
      </p:sp>
      <p:sp>
        <p:nvSpPr>
          <p:cNvPr name="TextBox 13" id="13"/>
          <p:cNvSpPr txBox="true"/>
          <p:nvPr/>
        </p:nvSpPr>
        <p:spPr>
          <a:xfrm rot="0">
            <a:off x="10482903" y="6202015"/>
            <a:ext cx="6776397" cy="1099223"/>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MAE: 2.3614 | RMSE: 2.9592 | R²: 0.9765. Cách tiếp cận khác biệt nhưng sai số lớn hơn, tốn thời gian dự đoán trên dữ liệu lớn.</a:t>
            </a:r>
          </a:p>
        </p:txBody>
      </p:sp>
      <p:sp>
        <p:nvSpPr>
          <p:cNvPr name="TextBox 14" id="14"/>
          <p:cNvSpPr txBox="true"/>
          <p:nvPr/>
        </p:nvSpPr>
        <p:spPr>
          <a:xfrm rot="0">
            <a:off x="10482903" y="5810824"/>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KNN – Sai số cao hơn</a:t>
            </a:r>
          </a:p>
        </p:txBody>
      </p:sp>
      <p:sp>
        <p:nvSpPr>
          <p:cNvPr name="TextBox 15" id="15"/>
          <p:cNvSpPr txBox="true"/>
          <p:nvPr/>
        </p:nvSpPr>
        <p:spPr>
          <a:xfrm rot="0">
            <a:off x="10482903" y="8159115"/>
            <a:ext cx="6776397" cy="1099223"/>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MAE: 2.4332 | RMSE: 3.0506 | R²: 0.9750. Dễ overfitting, sai số cao nhất trong 4 mô hình. Mô hình phức tạp hơn không đồng nghĩa kết quả tốt hơn.</a:t>
            </a:r>
          </a:p>
        </p:txBody>
      </p:sp>
      <p:sp>
        <p:nvSpPr>
          <p:cNvPr name="TextBox 16" id="16"/>
          <p:cNvSpPr txBox="true"/>
          <p:nvPr/>
        </p:nvSpPr>
        <p:spPr>
          <a:xfrm rot="0">
            <a:off x="10482903" y="7767925"/>
            <a:ext cx="538924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Decision Tree – Sai số cao nhất</a:t>
            </a:r>
          </a:p>
        </p:txBody>
      </p:sp>
      <p:grpSp>
        <p:nvGrpSpPr>
          <p:cNvPr name="Group 17" id="17"/>
          <p:cNvGrpSpPr/>
          <p:nvPr/>
        </p:nvGrpSpPr>
        <p:grpSpPr>
          <a:xfrm rot="0">
            <a:off x="1028700" y="6598205"/>
            <a:ext cx="7347740" cy="2660095"/>
            <a:chOff x="0" y="0"/>
            <a:chExt cx="1138357" cy="412118"/>
          </a:xfrm>
        </p:grpSpPr>
        <p:sp>
          <p:nvSpPr>
            <p:cNvPr name="Freeform 18" id="18"/>
            <p:cNvSpPr/>
            <p:nvPr/>
          </p:nvSpPr>
          <p:spPr>
            <a:xfrm flipH="false" flipV="false" rot="0">
              <a:off x="0" y="0"/>
              <a:ext cx="1138357" cy="412118"/>
            </a:xfrm>
            <a:custGeom>
              <a:avLst/>
              <a:gdLst/>
              <a:ahLst/>
              <a:cxnLst/>
              <a:rect r="r" b="b" t="t" l="l"/>
              <a:pathLst>
                <a:path h="412118" w="1138357">
                  <a:moveTo>
                    <a:pt x="0" y="0"/>
                  </a:moveTo>
                  <a:lnTo>
                    <a:pt x="1138357" y="0"/>
                  </a:lnTo>
                  <a:lnTo>
                    <a:pt x="1138357" y="412118"/>
                  </a:lnTo>
                  <a:lnTo>
                    <a:pt x="0" y="412118"/>
                  </a:lnTo>
                  <a:close/>
                </a:path>
              </a:pathLst>
            </a:custGeom>
            <a:blipFill>
              <a:blip r:embed="rId5"/>
              <a:stretch>
                <a:fillRect l="0" t="-237" r="0" b="-237"/>
              </a:stretch>
            </a:blipFill>
          </p:spPr>
        </p:sp>
      </p:grpSp>
      <p:sp>
        <p:nvSpPr>
          <p:cNvPr name="TextBox 19" id="19"/>
          <p:cNvSpPr txBox="true"/>
          <p:nvPr/>
        </p:nvSpPr>
        <p:spPr>
          <a:xfrm rot="0">
            <a:off x="1028700" y="4775457"/>
            <a:ext cx="7347740" cy="1234483"/>
          </a:xfrm>
          <a:prstGeom prst="rect">
            <a:avLst/>
          </a:prstGeom>
        </p:spPr>
        <p:txBody>
          <a:bodyPr anchor="t" rtlCol="false" tIns="0" lIns="0" bIns="0" rIns="0">
            <a:spAutoFit/>
          </a:bodyPr>
          <a:lstStyle/>
          <a:p>
            <a:pPr algn="l" marL="0" indent="0" lvl="0">
              <a:lnSpc>
                <a:spcPts val="3357"/>
              </a:lnSpc>
            </a:pPr>
            <a:r>
              <a:rPr lang="en-US" sz="2398">
                <a:solidFill>
                  <a:srgbClr val="141414"/>
                </a:solidFill>
                <a:latin typeface="Proxima Nova Light"/>
                <a:ea typeface="Proxima Nova Light"/>
                <a:cs typeface="Proxima Nova Light"/>
                <a:sym typeface="Proxima Nova Light"/>
              </a:rPr>
              <a:t>So sánh hiệu năng 4 mô hình trên cùng tập dữ liệu, cùng train/test split và cùng metric đánh giá. Mô hình đơn giản không nhất thiết kém hơn mô hình phức tạp.</a:t>
            </a:r>
          </a:p>
        </p:txBody>
      </p:sp>
      <p:grpSp>
        <p:nvGrpSpPr>
          <p:cNvPr name="Group 20" id="20"/>
          <p:cNvGrpSpPr/>
          <p:nvPr/>
        </p:nvGrpSpPr>
        <p:grpSpPr>
          <a:xfrm rot="0">
            <a:off x="1028700" y="6430326"/>
            <a:ext cx="7338422" cy="167878"/>
            <a:chOff x="0" y="0"/>
            <a:chExt cx="9784563" cy="223837"/>
          </a:xfrm>
        </p:grpSpPr>
        <p:grpSp>
          <p:nvGrpSpPr>
            <p:cNvPr name="Group 21" id="21"/>
            <p:cNvGrpSpPr/>
            <p:nvPr/>
          </p:nvGrpSpPr>
          <p:grpSpPr>
            <a:xfrm rot="0">
              <a:off x="0" y="0"/>
              <a:ext cx="1674460" cy="223837"/>
              <a:chOff x="0" y="0"/>
              <a:chExt cx="330758" cy="44215"/>
            </a:xfrm>
          </p:grpSpPr>
          <p:sp>
            <p:nvSpPr>
              <p:cNvPr name="Freeform 22" id="22"/>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23" id="23"/>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24" id="24"/>
            <p:cNvSpPr/>
            <p:nvPr/>
          </p:nvSpPr>
          <p:spPr>
            <a:xfrm>
              <a:off x="0" y="198437"/>
              <a:ext cx="9784563" cy="0"/>
            </a:xfrm>
            <a:prstGeom prst="line">
              <a:avLst/>
            </a:prstGeom>
            <a:ln cap="flat" w="50800">
              <a:solidFill>
                <a:srgbClr val="141414"/>
              </a:solidFill>
              <a:prstDash val="solid"/>
              <a:headEnd type="none" len="sm" w="sm"/>
              <a:tailEnd type="none" len="sm" w="sm"/>
            </a:ln>
          </p:spPr>
        </p:sp>
      </p:grpSp>
      <p:sp>
        <p:nvSpPr>
          <p:cNvPr name="Freeform 25" id="25"/>
          <p:cNvSpPr/>
          <p:nvPr/>
        </p:nvSpPr>
        <p:spPr>
          <a:xfrm flipH="false" flipV="false" rot="0">
            <a:off x="16932531" y="9479917"/>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6">
              <a:extLst>
                <a:ext uri="{96DAC541-7B7A-43D3-8B79-37D633B846F1}">
                  <asvg:svgBlip xmlns:asvg="http://schemas.microsoft.com/office/drawing/2016/SVG/main" r:embed="rId7"/>
                </a:ext>
              </a:extLst>
            </a:blip>
            <a:stretch>
              <a:fillRect l="0" t="0" r="-116058" b="-123249"/>
            </a:stretch>
          </a:blipFill>
        </p:spPr>
      </p:sp>
      <p:sp>
        <p:nvSpPr>
          <p:cNvPr name="Freeform 26" id="26"/>
          <p:cNvSpPr/>
          <p:nvPr/>
        </p:nvSpPr>
        <p:spPr>
          <a:xfrm flipH="false" flipV="false" rot="0">
            <a:off x="6928219"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6">
              <a:extLst>
                <a:ext uri="{96DAC541-7B7A-43D3-8B79-37D633B846F1}">
                  <asvg:svgBlip xmlns:asvg="http://schemas.microsoft.com/office/drawing/2016/SVG/main" r:embed="rId7"/>
                </a:ext>
              </a:extLst>
            </a:blip>
            <a:stretch>
              <a:fillRect l="0" t="0" r="-116058" b="-123249"/>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28700" y="5105400"/>
            <a:ext cx="7347740" cy="782650"/>
          </a:xfrm>
          <a:prstGeom prst="rect">
            <a:avLst/>
          </a:prstGeom>
        </p:spPr>
        <p:txBody>
          <a:bodyPr anchor="t" rtlCol="false" tIns="0" lIns="0" bIns="0" rIns="0">
            <a:spAutoFit/>
          </a:bodyPr>
          <a:lstStyle/>
          <a:p>
            <a:pPr algn="l" marL="0" indent="0" lvl="0">
              <a:lnSpc>
                <a:spcPts val="6356"/>
              </a:lnSpc>
            </a:pPr>
            <a:r>
              <a:rPr lang="en-US" sz="4889">
                <a:solidFill>
                  <a:srgbClr val="141414"/>
                </a:solidFill>
                <a:latin typeface="Pattanakarn SemiExpanded Light"/>
                <a:ea typeface="Pattanakarn SemiExpanded Light"/>
                <a:cs typeface="Pattanakarn SemiExpanded Light"/>
                <a:sym typeface="Pattanakarn SemiExpanded Light"/>
              </a:rPr>
              <a:t>MODEL ĐƯỢC</a:t>
            </a:r>
          </a:p>
        </p:txBody>
      </p:sp>
      <p:sp>
        <p:nvSpPr>
          <p:cNvPr name="TextBox 4" id="4"/>
          <p:cNvSpPr txBox="true"/>
          <p:nvPr/>
        </p:nvSpPr>
        <p:spPr>
          <a:xfrm rot="0">
            <a:off x="1028700" y="5864445"/>
            <a:ext cx="7347740" cy="1589300"/>
          </a:xfrm>
          <a:prstGeom prst="rect">
            <a:avLst/>
          </a:prstGeom>
        </p:spPr>
        <p:txBody>
          <a:bodyPr anchor="t" rtlCol="false" tIns="0" lIns="0" bIns="0" rIns="0">
            <a:spAutoFit/>
          </a:bodyPr>
          <a:lstStyle/>
          <a:p>
            <a:pPr algn="l" marL="0" indent="0" lvl="0">
              <a:lnSpc>
                <a:spcPts val="6356"/>
              </a:lnSpc>
            </a:pPr>
            <a:r>
              <a:rPr lang="en-US" b="true" sz="4889">
                <a:solidFill>
                  <a:srgbClr val="141414"/>
                </a:solidFill>
                <a:latin typeface="Pattanakarn SemiExpanded Medium"/>
                <a:ea typeface="Pattanakarn SemiExpanded Medium"/>
                <a:cs typeface="Pattanakarn SemiExpanded Medium"/>
                <a:sym typeface="Pattanakarn SemiExpanded Medium"/>
              </a:rPr>
              <a:t>LỰA CHỌN:</a:t>
            </a:r>
          </a:p>
          <a:p>
            <a:pPr algn="l" marL="0" indent="0" lvl="0">
              <a:lnSpc>
                <a:spcPts val="6356"/>
              </a:lnSpc>
            </a:pPr>
            <a:r>
              <a:rPr lang="en-US" b="true" sz="4889">
                <a:solidFill>
                  <a:srgbClr val="141414"/>
                </a:solidFill>
                <a:latin typeface="Pattanakarn SemiExpanded Medium"/>
                <a:ea typeface="Pattanakarn SemiExpanded Medium"/>
                <a:cs typeface="Pattanakarn SemiExpanded Medium"/>
                <a:sym typeface="Pattanakarn SemiExpanded Medium"/>
              </a:rPr>
              <a:t>LINEAR REGRESSION</a:t>
            </a:r>
          </a:p>
        </p:txBody>
      </p:sp>
      <p:grpSp>
        <p:nvGrpSpPr>
          <p:cNvPr name="Group 5" id="5"/>
          <p:cNvGrpSpPr/>
          <p:nvPr/>
        </p:nvGrpSpPr>
        <p:grpSpPr>
          <a:xfrm rot="0">
            <a:off x="8719167" y="2147771"/>
            <a:ext cx="795315" cy="7953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8" id="8"/>
          <p:cNvGrpSpPr/>
          <p:nvPr/>
        </p:nvGrpSpPr>
        <p:grpSpPr>
          <a:xfrm rot="0">
            <a:off x="13152846" y="2147771"/>
            <a:ext cx="795315" cy="79531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1" id="11"/>
          <p:cNvGrpSpPr/>
          <p:nvPr/>
        </p:nvGrpSpPr>
        <p:grpSpPr>
          <a:xfrm rot="0">
            <a:off x="8719167" y="5928221"/>
            <a:ext cx="795315" cy="79531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4" id="14"/>
          <p:cNvGrpSpPr/>
          <p:nvPr/>
        </p:nvGrpSpPr>
        <p:grpSpPr>
          <a:xfrm rot="0">
            <a:off x="13152846" y="5928221"/>
            <a:ext cx="795315" cy="79531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sp>
        <p:nvSpPr>
          <p:cNvPr name="TextBox 17" id="17"/>
          <p:cNvSpPr txBox="true"/>
          <p:nvPr/>
        </p:nvSpPr>
        <p:spPr>
          <a:xfrm rot="0">
            <a:off x="8862064" y="2336831"/>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01</a:t>
            </a:r>
          </a:p>
        </p:txBody>
      </p:sp>
      <p:sp>
        <p:nvSpPr>
          <p:cNvPr name="TextBox 18" id="18"/>
          <p:cNvSpPr txBox="true"/>
          <p:nvPr/>
        </p:nvSpPr>
        <p:spPr>
          <a:xfrm rot="0">
            <a:off x="13295743" y="2336831"/>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02</a:t>
            </a:r>
          </a:p>
        </p:txBody>
      </p:sp>
      <p:sp>
        <p:nvSpPr>
          <p:cNvPr name="TextBox 19" id="19"/>
          <p:cNvSpPr txBox="true"/>
          <p:nvPr/>
        </p:nvSpPr>
        <p:spPr>
          <a:xfrm rot="0">
            <a:off x="8862064"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03</a:t>
            </a:r>
          </a:p>
        </p:txBody>
      </p:sp>
      <p:sp>
        <p:nvSpPr>
          <p:cNvPr name="TextBox 20" id="20"/>
          <p:cNvSpPr txBox="true"/>
          <p:nvPr/>
        </p:nvSpPr>
        <p:spPr>
          <a:xfrm rot="0">
            <a:off x="13295743"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04</a:t>
            </a:r>
          </a:p>
        </p:txBody>
      </p:sp>
      <p:sp>
        <p:nvSpPr>
          <p:cNvPr name="TextBox 21" id="21"/>
          <p:cNvSpPr txBox="true"/>
          <p:nvPr/>
        </p:nvSpPr>
        <p:spPr>
          <a:xfrm rot="0">
            <a:off x="8719167" y="3886061"/>
            <a:ext cx="4106454" cy="1433435"/>
          </a:xfrm>
          <a:prstGeom prst="rect">
            <a:avLst/>
          </a:prstGeom>
        </p:spPr>
        <p:txBody>
          <a:bodyPr anchor="t" rtlCol="false" tIns="0" lIns="0" bIns="0" rIns="0">
            <a:spAutoFit/>
          </a:bodyPr>
          <a:lstStyle/>
          <a:p>
            <a:pPr algn="l" marL="0" indent="0" lvl="0">
              <a:lnSpc>
                <a:spcPts val="2891"/>
              </a:lnSpc>
            </a:pPr>
            <a:r>
              <a:rPr lang="en-US" sz="2065">
                <a:solidFill>
                  <a:srgbClr val="141414"/>
                </a:solidFill>
                <a:latin typeface="Proxima Nova Light"/>
                <a:ea typeface="Proxima Nova Light"/>
                <a:cs typeface="Proxima Nova Light"/>
                <a:sym typeface="Proxima Nova Light"/>
              </a:rPr>
              <a:t>MAE = 1.646970, RMSE = 2.075066, R² = 0.988430. Thấp hơn Decision Tree, Random Forest và KNN trên cùng tập test.</a:t>
            </a:r>
          </a:p>
        </p:txBody>
      </p:sp>
      <p:sp>
        <p:nvSpPr>
          <p:cNvPr name="TextBox 22" id="22"/>
          <p:cNvSpPr txBox="true"/>
          <p:nvPr/>
        </p:nvSpPr>
        <p:spPr>
          <a:xfrm rot="0">
            <a:off x="13152846" y="3886061"/>
            <a:ext cx="4106454" cy="1433435"/>
          </a:xfrm>
          <a:prstGeom prst="rect">
            <a:avLst/>
          </a:prstGeom>
        </p:spPr>
        <p:txBody>
          <a:bodyPr anchor="t" rtlCol="false" tIns="0" lIns="0" bIns="0" rIns="0">
            <a:spAutoFit/>
          </a:bodyPr>
          <a:lstStyle/>
          <a:p>
            <a:pPr algn="l" marL="0" indent="0" lvl="0">
              <a:lnSpc>
                <a:spcPts val="2891"/>
              </a:lnSpc>
            </a:pPr>
            <a:r>
              <a:rPr lang="en-US" sz="2065">
                <a:solidFill>
                  <a:srgbClr val="141414"/>
                </a:solidFill>
                <a:latin typeface="Proxima Nova Light"/>
                <a:ea typeface="Proxima Nova Light"/>
                <a:cs typeface="Proxima Nova Light"/>
                <a:sym typeface="Proxima Nova Light"/>
              </a:rPr>
              <a:t>EDA cho thấy Previous Scores và Hours Studied có tương quan tuyến tính rõ với Performance Index. Linear Regression phù hợp tự nhiên.</a:t>
            </a:r>
          </a:p>
        </p:txBody>
      </p:sp>
      <p:sp>
        <p:nvSpPr>
          <p:cNvPr name="TextBox 23" id="23"/>
          <p:cNvSpPr txBox="true"/>
          <p:nvPr/>
        </p:nvSpPr>
        <p:spPr>
          <a:xfrm rot="0">
            <a:off x="8719167" y="7666512"/>
            <a:ext cx="4106454" cy="1071485"/>
          </a:xfrm>
          <a:prstGeom prst="rect">
            <a:avLst/>
          </a:prstGeom>
        </p:spPr>
        <p:txBody>
          <a:bodyPr anchor="t" rtlCol="false" tIns="0" lIns="0" bIns="0" rIns="0">
            <a:spAutoFit/>
          </a:bodyPr>
          <a:lstStyle/>
          <a:p>
            <a:pPr algn="l" marL="0" indent="0" lvl="0">
              <a:lnSpc>
                <a:spcPts val="2891"/>
              </a:lnSpc>
            </a:pPr>
            <a:r>
              <a:rPr lang="en-US" sz="2065">
                <a:solidFill>
                  <a:srgbClr val="141414"/>
                </a:solidFill>
                <a:latin typeface="Proxima Nova Light"/>
                <a:ea typeface="Proxima Nova Light"/>
                <a:cs typeface="Proxima Nova Light"/>
                <a:sym typeface="Proxima Nova Light"/>
              </a:rPr>
              <a:t>Thời gian huấn luyện nhanh, hệ số hồi quy dễ diễn giải, phù hợp trình bày và kiểm tra kết quả.</a:t>
            </a:r>
          </a:p>
        </p:txBody>
      </p:sp>
      <p:sp>
        <p:nvSpPr>
          <p:cNvPr name="TextBox 24" id="24"/>
          <p:cNvSpPr txBox="true"/>
          <p:nvPr/>
        </p:nvSpPr>
        <p:spPr>
          <a:xfrm rot="0">
            <a:off x="13152846" y="7666512"/>
            <a:ext cx="4106454" cy="1433435"/>
          </a:xfrm>
          <a:prstGeom prst="rect">
            <a:avLst/>
          </a:prstGeom>
        </p:spPr>
        <p:txBody>
          <a:bodyPr anchor="t" rtlCol="false" tIns="0" lIns="0" bIns="0" rIns="0">
            <a:spAutoFit/>
          </a:bodyPr>
          <a:lstStyle/>
          <a:p>
            <a:pPr algn="l" marL="0" indent="0" lvl="0">
              <a:lnSpc>
                <a:spcPts val="2891"/>
              </a:lnSpc>
            </a:pPr>
            <a:r>
              <a:rPr lang="en-US" sz="2065">
                <a:solidFill>
                  <a:srgbClr val="141414"/>
                </a:solidFill>
                <a:latin typeface="Proxima Nova Light"/>
                <a:ea typeface="Proxima Nova Light"/>
                <a:cs typeface="Proxima Nova Light"/>
                <a:sym typeface="Proxima Nova Light"/>
              </a:rPr>
              <a:t>Dễ đóng gói qua FastAPI, tích hợp với Next.js frontend và Node.js backend, triển khai nhẹ trên môi trường web.</a:t>
            </a:r>
          </a:p>
        </p:txBody>
      </p:sp>
      <p:sp>
        <p:nvSpPr>
          <p:cNvPr name="TextBox 25" id="25"/>
          <p:cNvSpPr txBox="true"/>
          <p:nvPr/>
        </p:nvSpPr>
        <p:spPr>
          <a:xfrm rot="0">
            <a:off x="8719167" y="3143111"/>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Sai Số Thấp Nhất</a:t>
            </a:r>
          </a:p>
        </p:txBody>
      </p:sp>
      <p:sp>
        <p:nvSpPr>
          <p:cNvPr name="TextBox 26" id="26"/>
          <p:cNvSpPr txBox="true"/>
          <p:nvPr/>
        </p:nvSpPr>
        <p:spPr>
          <a:xfrm rot="0">
            <a:off x="13152846" y="3143111"/>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Phù Hợp Xu Hướng Tuyến Tính</a:t>
            </a:r>
          </a:p>
        </p:txBody>
      </p:sp>
      <p:sp>
        <p:nvSpPr>
          <p:cNvPr name="TextBox 27" id="27"/>
          <p:cNvSpPr txBox="true"/>
          <p:nvPr/>
        </p:nvSpPr>
        <p:spPr>
          <a:xfrm rot="0">
            <a:off x="8719167" y="6923562"/>
            <a:ext cx="4106454" cy="628650"/>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Huấn Luyện Nhanh &amp; Dễ Giải Thích</a:t>
            </a:r>
          </a:p>
        </p:txBody>
      </p:sp>
      <p:sp>
        <p:nvSpPr>
          <p:cNvPr name="TextBox 28" id="28"/>
          <p:cNvSpPr txBox="true"/>
          <p:nvPr/>
        </p:nvSpPr>
        <p:spPr>
          <a:xfrm rot="0">
            <a:off x="13152846" y="6923562"/>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Phù Hợp Tích Hợp Web</a:t>
            </a:r>
          </a:p>
        </p:txBody>
      </p:sp>
      <p:sp>
        <p:nvSpPr>
          <p:cNvPr name="TextBox 29" id="29"/>
          <p:cNvSpPr txBox="true"/>
          <p:nvPr/>
        </p:nvSpPr>
        <p:spPr>
          <a:xfrm rot="0">
            <a:off x="1028700" y="7822290"/>
            <a:ext cx="6726333" cy="825865"/>
          </a:xfrm>
          <a:prstGeom prst="rect">
            <a:avLst/>
          </a:prstGeom>
        </p:spPr>
        <p:txBody>
          <a:bodyPr anchor="t" rtlCol="false" tIns="0" lIns="0" bIns="0" rIns="0">
            <a:spAutoFit/>
          </a:bodyPr>
          <a:lstStyle/>
          <a:p>
            <a:pPr algn="l" marL="0" indent="0" lvl="0">
              <a:lnSpc>
                <a:spcPts val="3304"/>
              </a:lnSpc>
            </a:pPr>
            <a:r>
              <a:rPr lang="en-US" sz="2360">
                <a:solidFill>
                  <a:srgbClr val="141414"/>
                </a:solidFill>
                <a:latin typeface="Proxima Nova Light"/>
                <a:ea typeface="Proxima Nova Light"/>
                <a:cs typeface="Proxima Nova Light"/>
                <a:sym typeface="Proxima Nova Light"/>
              </a:rPr>
              <a:t>MAE = 1.646970 | RMSE = 2.075066 | R² = 0.988430</a:t>
            </a:r>
          </a:p>
          <a:p>
            <a:pPr algn="l" marL="0" indent="0" lvl="0">
              <a:lnSpc>
                <a:spcPts val="3304"/>
              </a:lnSpc>
            </a:pPr>
            <a:r>
              <a:rPr lang="en-US" sz="2360">
                <a:solidFill>
                  <a:srgbClr val="141414"/>
                </a:solidFill>
                <a:latin typeface="Proxima Nova Light"/>
                <a:ea typeface="Proxima Nova Light"/>
                <a:cs typeface="Proxima Nova Light"/>
                <a:sym typeface="Proxima Nova Light"/>
              </a:rPr>
              <a:t>Hiệu năng tốt nhất trong 4 mô hình thử nghiệm.</a:t>
            </a:r>
          </a:p>
        </p:txBody>
      </p:sp>
      <p:grpSp>
        <p:nvGrpSpPr>
          <p:cNvPr name="Group 30" id="30"/>
          <p:cNvGrpSpPr/>
          <p:nvPr/>
        </p:nvGrpSpPr>
        <p:grpSpPr>
          <a:xfrm rot="0">
            <a:off x="1028700" y="2054760"/>
            <a:ext cx="6617824" cy="2660095"/>
            <a:chOff x="0" y="0"/>
            <a:chExt cx="1025274" cy="412118"/>
          </a:xfrm>
        </p:grpSpPr>
        <p:sp>
          <p:nvSpPr>
            <p:cNvPr name="Freeform 31" id="31"/>
            <p:cNvSpPr/>
            <p:nvPr/>
          </p:nvSpPr>
          <p:spPr>
            <a:xfrm flipH="false" flipV="false" rot="0">
              <a:off x="0" y="0"/>
              <a:ext cx="1025274" cy="412118"/>
            </a:xfrm>
            <a:custGeom>
              <a:avLst/>
              <a:gdLst/>
              <a:ahLst/>
              <a:cxnLst/>
              <a:rect r="r" b="b" t="t" l="l"/>
              <a:pathLst>
                <a:path h="412118" w="1025274">
                  <a:moveTo>
                    <a:pt x="0" y="0"/>
                  </a:moveTo>
                  <a:lnTo>
                    <a:pt x="1025274" y="0"/>
                  </a:lnTo>
                  <a:lnTo>
                    <a:pt x="1025274" y="412118"/>
                  </a:lnTo>
                  <a:lnTo>
                    <a:pt x="0" y="412118"/>
                  </a:lnTo>
                  <a:close/>
                </a:path>
              </a:pathLst>
            </a:custGeom>
            <a:blipFill>
              <a:blip r:embed="rId3"/>
              <a:stretch>
                <a:fillRect l="0" t="-378" r="0" b="-378"/>
              </a:stretch>
            </a:blipFill>
          </p:spPr>
        </p:sp>
      </p:grpSp>
      <p:grpSp>
        <p:nvGrpSpPr>
          <p:cNvPr name="Group 32" id="32"/>
          <p:cNvGrpSpPr/>
          <p:nvPr/>
        </p:nvGrpSpPr>
        <p:grpSpPr>
          <a:xfrm rot="0">
            <a:off x="1047528" y="4546977"/>
            <a:ext cx="6598996" cy="167878"/>
            <a:chOff x="0" y="0"/>
            <a:chExt cx="8798662" cy="223837"/>
          </a:xfrm>
        </p:grpSpPr>
        <p:grpSp>
          <p:nvGrpSpPr>
            <p:cNvPr name="Group 33" id="33"/>
            <p:cNvGrpSpPr/>
            <p:nvPr/>
          </p:nvGrpSpPr>
          <p:grpSpPr>
            <a:xfrm rot="0">
              <a:off x="0" y="0"/>
              <a:ext cx="1674460" cy="223837"/>
              <a:chOff x="0" y="0"/>
              <a:chExt cx="330758" cy="44215"/>
            </a:xfrm>
          </p:grpSpPr>
          <p:sp>
            <p:nvSpPr>
              <p:cNvPr name="Freeform 34" id="34"/>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35" id="35"/>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36" id="36"/>
            <p:cNvSpPr/>
            <p:nvPr/>
          </p:nvSpPr>
          <p:spPr>
            <a:xfrm>
              <a:off x="0" y="198437"/>
              <a:ext cx="8798662" cy="0"/>
            </a:xfrm>
            <a:prstGeom prst="line">
              <a:avLst/>
            </a:prstGeom>
            <a:ln cap="flat" w="50800">
              <a:solidFill>
                <a:srgbClr val="141414"/>
              </a:solidFill>
              <a:prstDash val="solid"/>
              <a:headEnd type="none" len="sm" w="sm"/>
              <a:tailEnd type="none" len="sm" w="sm"/>
            </a:ln>
          </p:spPr>
        </p:sp>
      </p:grpSp>
      <p:sp>
        <p:nvSpPr>
          <p:cNvPr name="Freeform 37" id="37"/>
          <p:cNvSpPr/>
          <p:nvPr/>
        </p:nvSpPr>
        <p:spPr>
          <a:xfrm flipH="false" flipV="false" rot="0">
            <a:off x="8719167"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
        <p:nvSpPr>
          <p:cNvPr name="Freeform 38" id="38"/>
          <p:cNvSpPr/>
          <p:nvPr/>
        </p:nvSpPr>
        <p:spPr>
          <a:xfrm flipH="false" flipV="false" rot="0">
            <a:off x="16920165" y="9505139"/>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
        <p:nvSpPr>
          <p:cNvPr name="Freeform 39" id="39"/>
          <p:cNvSpPr/>
          <p:nvPr/>
        </p:nvSpPr>
        <p:spPr>
          <a:xfrm flipH="false" flipV="false" rot="0">
            <a:off x="171405" y="9505139"/>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028700" y="2100146"/>
            <a:ext cx="6232030" cy="804070"/>
          </a:xfrm>
          <a:prstGeom prst="rect">
            <a:avLst/>
          </a:prstGeom>
        </p:spPr>
        <p:txBody>
          <a:bodyPr anchor="t" rtlCol="false" tIns="0" lIns="0" bIns="0" rIns="0">
            <a:spAutoFit/>
          </a:bodyPr>
          <a:lstStyle/>
          <a:p>
            <a:pPr algn="l" marL="0" indent="0" lvl="0">
              <a:lnSpc>
                <a:spcPts val="6492"/>
              </a:lnSpc>
            </a:pPr>
            <a:r>
              <a:rPr lang="en-US" sz="4994">
                <a:solidFill>
                  <a:srgbClr val="F8F7F6"/>
                </a:solidFill>
                <a:latin typeface="Pattanakarn SemiExpanded Light"/>
                <a:ea typeface="Pattanakarn SemiExpanded Light"/>
                <a:cs typeface="Pattanakarn SemiExpanded Light"/>
                <a:sym typeface="Pattanakarn SemiExpanded Light"/>
              </a:rPr>
              <a:t>KIỂM TRA</a:t>
            </a:r>
          </a:p>
        </p:txBody>
      </p:sp>
      <p:sp>
        <p:nvSpPr>
          <p:cNvPr name="TextBox 3" id="3"/>
          <p:cNvSpPr txBox="true"/>
          <p:nvPr/>
        </p:nvSpPr>
        <p:spPr>
          <a:xfrm rot="0">
            <a:off x="1028700" y="2859191"/>
            <a:ext cx="6232030" cy="1623944"/>
          </a:xfrm>
          <a:prstGeom prst="rect">
            <a:avLst/>
          </a:prstGeom>
        </p:spPr>
        <p:txBody>
          <a:bodyPr anchor="t" rtlCol="false" tIns="0" lIns="0" bIns="0" rIns="0">
            <a:spAutoFit/>
          </a:bodyPr>
          <a:lstStyle/>
          <a:p>
            <a:pPr algn="l" marL="0" indent="0" lvl="0">
              <a:lnSpc>
                <a:spcPts val="6492"/>
              </a:lnSpc>
            </a:pPr>
            <a:r>
              <a:rPr lang="en-US" b="true" sz="4994">
                <a:solidFill>
                  <a:srgbClr val="F8F7F6"/>
                </a:solidFill>
                <a:latin typeface="Pattanakarn SemiExpanded Medium"/>
                <a:ea typeface="Pattanakarn SemiExpanded Medium"/>
                <a:cs typeface="Pattanakarn SemiExpanded Medium"/>
                <a:sym typeface="Pattanakarn SemiExpanded Medium"/>
              </a:rPr>
              <a:t>KHẢ NĂNG TỔNG QUÁT HÓA</a:t>
            </a:r>
          </a:p>
        </p:txBody>
      </p:sp>
      <p:grpSp>
        <p:nvGrpSpPr>
          <p:cNvPr name="Group 4" id="4"/>
          <p:cNvGrpSpPr/>
          <p:nvPr/>
        </p:nvGrpSpPr>
        <p:grpSpPr>
          <a:xfrm rot="0">
            <a:off x="8376440" y="2147771"/>
            <a:ext cx="795315" cy="79531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7" id="7"/>
          <p:cNvGrpSpPr/>
          <p:nvPr/>
        </p:nvGrpSpPr>
        <p:grpSpPr>
          <a:xfrm rot="0">
            <a:off x="13039574" y="2147771"/>
            <a:ext cx="795315" cy="79531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0" id="10"/>
          <p:cNvGrpSpPr/>
          <p:nvPr/>
        </p:nvGrpSpPr>
        <p:grpSpPr>
          <a:xfrm rot="0">
            <a:off x="8376440" y="5928221"/>
            <a:ext cx="795315" cy="79531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3" id="13"/>
          <p:cNvGrpSpPr/>
          <p:nvPr/>
        </p:nvGrpSpPr>
        <p:grpSpPr>
          <a:xfrm rot="0">
            <a:off x="13039574" y="5928221"/>
            <a:ext cx="795315" cy="79531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sp>
        <p:nvSpPr>
          <p:cNvPr name="TextBox 16" id="16"/>
          <p:cNvSpPr txBox="true"/>
          <p:nvPr/>
        </p:nvSpPr>
        <p:spPr>
          <a:xfrm rot="0">
            <a:off x="8519337" y="233683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01</a:t>
            </a:r>
          </a:p>
        </p:txBody>
      </p:sp>
      <p:sp>
        <p:nvSpPr>
          <p:cNvPr name="TextBox 17" id="17"/>
          <p:cNvSpPr txBox="true"/>
          <p:nvPr/>
        </p:nvSpPr>
        <p:spPr>
          <a:xfrm rot="0">
            <a:off x="13182470" y="233683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02</a:t>
            </a:r>
          </a:p>
        </p:txBody>
      </p:sp>
      <p:sp>
        <p:nvSpPr>
          <p:cNvPr name="TextBox 18" id="18"/>
          <p:cNvSpPr txBox="true"/>
          <p:nvPr/>
        </p:nvSpPr>
        <p:spPr>
          <a:xfrm rot="0">
            <a:off x="8519337"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03</a:t>
            </a:r>
          </a:p>
        </p:txBody>
      </p:sp>
      <p:sp>
        <p:nvSpPr>
          <p:cNvPr name="TextBox 19" id="19"/>
          <p:cNvSpPr txBox="true"/>
          <p:nvPr/>
        </p:nvSpPr>
        <p:spPr>
          <a:xfrm rot="0">
            <a:off x="13182470"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04</a:t>
            </a:r>
          </a:p>
        </p:txBody>
      </p:sp>
      <p:sp>
        <p:nvSpPr>
          <p:cNvPr name="TextBox 20" id="20"/>
          <p:cNvSpPr txBox="true"/>
          <p:nvPr/>
        </p:nvSpPr>
        <p:spPr>
          <a:xfrm rot="0">
            <a:off x="8376440" y="3886061"/>
            <a:ext cx="4219726" cy="1470698"/>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Train R² = 0.988739</a:t>
            </a:r>
          </a:p>
          <a:p>
            <a:pPr algn="l" marL="0" indent="0" lvl="0">
              <a:lnSpc>
                <a:spcPts val="2937"/>
              </a:lnSpc>
            </a:pPr>
            <a:r>
              <a:rPr lang="en-US" sz="2098">
                <a:solidFill>
                  <a:srgbClr val="FFFFFF"/>
                </a:solidFill>
                <a:latin typeface="Proxima Nova Light"/>
                <a:ea typeface="Proxima Nova Light"/>
                <a:cs typeface="Proxima Nova Light"/>
                <a:sym typeface="Proxima Nova Light"/>
              </a:rPr>
              <a:t>Mô hình học tốt trên tập huấn luyện, giải thích được ~98.87% phương sai của Performance Index.</a:t>
            </a:r>
          </a:p>
        </p:txBody>
      </p:sp>
      <p:sp>
        <p:nvSpPr>
          <p:cNvPr name="TextBox 21" id="21"/>
          <p:cNvSpPr txBox="true"/>
          <p:nvPr/>
        </p:nvSpPr>
        <p:spPr>
          <a:xfrm rot="0">
            <a:off x="13039574" y="3886061"/>
            <a:ext cx="4219726" cy="1099223"/>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Test R² = 0.988430</a:t>
            </a:r>
          </a:p>
          <a:p>
            <a:pPr algn="l" marL="0" indent="0" lvl="0">
              <a:lnSpc>
                <a:spcPts val="2937"/>
              </a:lnSpc>
            </a:pPr>
            <a:r>
              <a:rPr lang="en-US" sz="2098">
                <a:solidFill>
                  <a:srgbClr val="FFFFFF"/>
                </a:solidFill>
                <a:latin typeface="Proxima Nova Light"/>
                <a:ea typeface="Proxima Nova Light"/>
                <a:cs typeface="Proxima Nova Light"/>
                <a:sym typeface="Proxima Nova Light"/>
              </a:rPr>
              <a:t>Mô hình duy trì hiệu suất cao trên dữ liệu chưa thấy, tổng quát hóa tốt.</a:t>
            </a:r>
          </a:p>
        </p:txBody>
      </p:sp>
      <p:sp>
        <p:nvSpPr>
          <p:cNvPr name="TextBox 22" id="22"/>
          <p:cNvSpPr txBox="true"/>
          <p:nvPr/>
        </p:nvSpPr>
        <p:spPr>
          <a:xfrm rot="0">
            <a:off x="8376440" y="7666512"/>
            <a:ext cx="4219726" cy="1470698"/>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Chênh lệch = 0.000309</a:t>
            </a:r>
          </a:p>
          <a:p>
            <a:pPr algn="l" marL="0" indent="0" lvl="0">
              <a:lnSpc>
                <a:spcPts val="2937"/>
              </a:lnSpc>
            </a:pPr>
            <a:r>
              <a:rPr lang="en-US" sz="2098">
                <a:solidFill>
                  <a:srgbClr val="FFFFFF"/>
                </a:solidFill>
                <a:latin typeface="Proxima Nova Light"/>
                <a:ea typeface="Proxima Nova Light"/>
                <a:cs typeface="Proxima Nova Light"/>
                <a:sym typeface="Proxima Nova Light"/>
              </a:rPr>
              <a:t>Rất nhỏ, cho thấy mô hình không bị overfitting đáng kể trên tập dữ liệu này.</a:t>
            </a:r>
          </a:p>
        </p:txBody>
      </p:sp>
      <p:sp>
        <p:nvSpPr>
          <p:cNvPr name="TextBox 23" id="23"/>
          <p:cNvSpPr txBox="true"/>
          <p:nvPr/>
        </p:nvSpPr>
        <p:spPr>
          <a:xfrm rot="0">
            <a:off x="13039574" y="7666512"/>
            <a:ext cx="4219726" cy="1470698"/>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Không phát hiện dấu hiệu overfitting đáng kể dựa trên R² train/test. Linear Regression phù hợp để triển khai thực tế.</a:t>
            </a:r>
          </a:p>
        </p:txBody>
      </p:sp>
      <p:sp>
        <p:nvSpPr>
          <p:cNvPr name="TextBox 24" id="24"/>
          <p:cNvSpPr txBox="true"/>
          <p:nvPr/>
        </p:nvSpPr>
        <p:spPr>
          <a:xfrm rot="0">
            <a:off x="8376440" y="3143111"/>
            <a:ext cx="4219726" cy="628650"/>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Train R² – Hiệu suất tập huấn luyện</a:t>
            </a:r>
          </a:p>
        </p:txBody>
      </p:sp>
      <p:sp>
        <p:nvSpPr>
          <p:cNvPr name="TextBox 25" id="25"/>
          <p:cNvSpPr txBox="true"/>
          <p:nvPr/>
        </p:nvSpPr>
        <p:spPr>
          <a:xfrm rot="0">
            <a:off x="13039574" y="3143111"/>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Test R² – Hiệu suất tập kiểm thử</a:t>
            </a:r>
          </a:p>
        </p:txBody>
      </p:sp>
      <p:sp>
        <p:nvSpPr>
          <p:cNvPr name="TextBox 26" id="26"/>
          <p:cNvSpPr txBox="true"/>
          <p:nvPr/>
        </p:nvSpPr>
        <p:spPr>
          <a:xfrm rot="0">
            <a:off x="8376440" y="6923562"/>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Chênh lệch Train/Test R²</a:t>
            </a:r>
          </a:p>
        </p:txBody>
      </p:sp>
      <p:sp>
        <p:nvSpPr>
          <p:cNvPr name="TextBox 27" id="27"/>
          <p:cNvSpPr txBox="true"/>
          <p:nvPr/>
        </p:nvSpPr>
        <p:spPr>
          <a:xfrm rot="0">
            <a:off x="13039574" y="6923562"/>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Nhận xét về Overfitting</a:t>
            </a:r>
          </a:p>
        </p:txBody>
      </p:sp>
      <p:grpSp>
        <p:nvGrpSpPr>
          <p:cNvPr name="Group 28" id="28"/>
          <p:cNvGrpSpPr/>
          <p:nvPr/>
        </p:nvGrpSpPr>
        <p:grpSpPr>
          <a:xfrm rot="0">
            <a:off x="1028700" y="4892116"/>
            <a:ext cx="6232030" cy="2660095"/>
            <a:chOff x="0" y="0"/>
            <a:chExt cx="965505" cy="412118"/>
          </a:xfrm>
        </p:grpSpPr>
        <p:sp>
          <p:nvSpPr>
            <p:cNvPr name="Freeform 29" id="29"/>
            <p:cNvSpPr/>
            <p:nvPr/>
          </p:nvSpPr>
          <p:spPr>
            <a:xfrm flipH="false" flipV="false" rot="0">
              <a:off x="0" y="0"/>
              <a:ext cx="965505" cy="412118"/>
            </a:xfrm>
            <a:custGeom>
              <a:avLst/>
              <a:gdLst/>
              <a:ahLst/>
              <a:cxnLst/>
              <a:rect r="r" b="b" t="t" l="l"/>
              <a:pathLst>
                <a:path h="412118" w="965505">
                  <a:moveTo>
                    <a:pt x="0" y="0"/>
                  </a:moveTo>
                  <a:lnTo>
                    <a:pt x="965505" y="0"/>
                  </a:lnTo>
                  <a:lnTo>
                    <a:pt x="965505" y="412118"/>
                  </a:lnTo>
                  <a:lnTo>
                    <a:pt x="0" y="412118"/>
                  </a:lnTo>
                  <a:close/>
                </a:path>
              </a:pathLst>
            </a:custGeom>
            <a:blipFill>
              <a:blip r:embed="rId2"/>
              <a:stretch>
                <a:fillRect l="0" t="-77" r="0" b="-77"/>
              </a:stretch>
            </a:blipFill>
          </p:spPr>
        </p:sp>
      </p:grpSp>
      <p:sp>
        <p:nvSpPr>
          <p:cNvPr name="TextBox 30" id="30"/>
          <p:cNvSpPr txBox="true"/>
          <p:nvPr/>
        </p:nvSpPr>
        <p:spPr>
          <a:xfrm rot="0">
            <a:off x="1028700" y="7902732"/>
            <a:ext cx="6232030" cy="815383"/>
          </a:xfrm>
          <a:prstGeom prst="rect">
            <a:avLst/>
          </a:prstGeom>
        </p:spPr>
        <p:txBody>
          <a:bodyPr anchor="t" rtlCol="false" tIns="0" lIns="0" bIns="0" rIns="0">
            <a:spAutoFit/>
          </a:bodyPr>
          <a:lstStyle/>
          <a:p>
            <a:pPr algn="l" marL="0" indent="0" lvl="0">
              <a:lnSpc>
                <a:spcPts val="3357"/>
              </a:lnSpc>
            </a:pPr>
            <a:r>
              <a:rPr lang="en-US" sz="2398">
                <a:solidFill>
                  <a:srgbClr val="FFFFFF"/>
                </a:solidFill>
                <a:latin typeface="Proxima Nova Light"/>
                <a:ea typeface="Proxima Nova Light"/>
                <a:cs typeface="Proxima Nova Light"/>
                <a:sym typeface="Proxima Nova Light"/>
              </a:rPr>
              <a:t>So sánh R² train và test xác nhận mô hình tổng quát hóa tốt, chênh lệch chỉ 0.000309.</a:t>
            </a:r>
          </a:p>
        </p:txBody>
      </p:sp>
      <p:grpSp>
        <p:nvGrpSpPr>
          <p:cNvPr name="Group 31" id="31"/>
          <p:cNvGrpSpPr/>
          <p:nvPr/>
        </p:nvGrpSpPr>
        <p:grpSpPr>
          <a:xfrm rot="0">
            <a:off x="1028700" y="7384334"/>
            <a:ext cx="6226832" cy="167878"/>
            <a:chOff x="0" y="0"/>
            <a:chExt cx="8302442" cy="223837"/>
          </a:xfrm>
        </p:grpSpPr>
        <p:grpSp>
          <p:nvGrpSpPr>
            <p:cNvPr name="Group 32" id="32"/>
            <p:cNvGrpSpPr/>
            <p:nvPr/>
          </p:nvGrpSpPr>
          <p:grpSpPr>
            <a:xfrm rot="0">
              <a:off x="0" y="0"/>
              <a:ext cx="1674460" cy="223837"/>
              <a:chOff x="0" y="0"/>
              <a:chExt cx="330758" cy="44215"/>
            </a:xfrm>
          </p:grpSpPr>
          <p:sp>
            <p:nvSpPr>
              <p:cNvPr name="Freeform 33" id="33"/>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F8F7F6"/>
              </a:solidFill>
            </p:spPr>
          </p:sp>
          <p:sp>
            <p:nvSpPr>
              <p:cNvPr name="TextBox 34" id="34"/>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35" id="35"/>
            <p:cNvSpPr/>
            <p:nvPr/>
          </p:nvSpPr>
          <p:spPr>
            <a:xfrm>
              <a:off x="0" y="198437"/>
              <a:ext cx="8302442" cy="0"/>
            </a:xfrm>
            <a:prstGeom prst="line">
              <a:avLst/>
            </a:prstGeom>
            <a:ln cap="flat" w="50800">
              <a:solidFill>
                <a:srgbClr val="F8F7F6"/>
              </a:solidFill>
              <a:prstDash val="solid"/>
              <a:headEnd type="none" len="sm" w="sm"/>
              <a:tailEnd type="none" len="sm" w="sm"/>
            </a:ln>
          </p:spPr>
        </p:sp>
      </p:grpSp>
      <p:sp>
        <p:nvSpPr>
          <p:cNvPr name="Freeform 36" id="36"/>
          <p:cNvSpPr/>
          <p:nvPr/>
        </p:nvSpPr>
        <p:spPr>
          <a:xfrm flipH="false" flipV="false" rot="0">
            <a:off x="16914174" y="9458325"/>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
        <p:nvSpPr>
          <p:cNvPr name="Freeform 37" id="37"/>
          <p:cNvSpPr/>
          <p:nvPr/>
        </p:nvSpPr>
        <p:spPr>
          <a:xfrm flipH="false" flipV="false" rot="0">
            <a:off x="6490014"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028700" y="2100146"/>
            <a:ext cx="8171776" cy="804070"/>
          </a:xfrm>
          <a:prstGeom prst="rect">
            <a:avLst/>
          </a:prstGeom>
        </p:spPr>
        <p:txBody>
          <a:bodyPr anchor="t" rtlCol="false" tIns="0" lIns="0" bIns="0" rIns="0">
            <a:spAutoFit/>
          </a:bodyPr>
          <a:lstStyle/>
          <a:p>
            <a:pPr algn="l" marL="0" indent="0" lvl="0">
              <a:lnSpc>
                <a:spcPts val="6492"/>
              </a:lnSpc>
            </a:pPr>
            <a:r>
              <a:rPr lang="en-US" sz="4994">
                <a:solidFill>
                  <a:srgbClr val="FFFFFF"/>
                </a:solidFill>
                <a:latin typeface="Pattanakarn SemiExpanded Light"/>
                <a:ea typeface="Pattanakarn SemiExpanded Light"/>
                <a:cs typeface="Pattanakarn SemiExpanded Light"/>
                <a:sym typeface="Pattanakarn SemiExpanded Light"/>
              </a:rPr>
              <a:t>KIẾN TRÚC</a:t>
            </a:r>
          </a:p>
        </p:txBody>
      </p:sp>
      <p:sp>
        <p:nvSpPr>
          <p:cNvPr name="TextBox 3" id="3"/>
          <p:cNvSpPr txBox="true"/>
          <p:nvPr/>
        </p:nvSpPr>
        <p:spPr>
          <a:xfrm rot="0">
            <a:off x="1028700" y="2859191"/>
            <a:ext cx="8115300" cy="804070"/>
          </a:xfrm>
          <a:prstGeom prst="rect">
            <a:avLst/>
          </a:prstGeom>
        </p:spPr>
        <p:txBody>
          <a:bodyPr anchor="t" rtlCol="false" tIns="0" lIns="0" bIns="0" rIns="0">
            <a:spAutoFit/>
          </a:bodyPr>
          <a:lstStyle/>
          <a:p>
            <a:pPr algn="l" marL="0" indent="0" lvl="0">
              <a:lnSpc>
                <a:spcPts val="6492"/>
              </a:lnSpc>
            </a:pPr>
            <a:r>
              <a:rPr lang="en-US" b="true" sz="4994">
                <a:solidFill>
                  <a:srgbClr val="FFFFFF"/>
                </a:solidFill>
                <a:latin typeface="Pattanakarn SemiExpanded Medium"/>
                <a:ea typeface="Pattanakarn SemiExpanded Medium"/>
                <a:cs typeface="Pattanakarn SemiExpanded Medium"/>
                <a:sym typeface="Pattanakarn SemiExpanded Medium"/>
              </a:rPr>
              <a:t>HỆ THỐNG</a:t>
            </a:r>
          </a:p>
        </p:txBody>
      </p:sp>
      <p:grpSp>
        <p:nvGrpSpPr>
          <p:cNvPr name="Group 4" id="4"/>
          <p:cNvGrpSpPr/>
          <p:nvPr/>
        </p:nvGrpSpPr>
        <p:grpSpPr>
          <a:xfrm rot="0">
            <a:off x="9780976" y="2147771"/>
            <a:ext cx="5639491" cy="186928"/>
            <a:chOff x="0" y="0"/>
            <a:chExt cx="7519321" cy="249237"/>
          </a:xfrm>
        </p:grpSpPr>
        <p:grpSp>
          <p:nvGrpSpPr>
            <p:cNvPr name="Group 5" id="5"/>
            <p:cNvGrpSpPr/>
            <p:nvPr/>
          </p:nvGrpSpPr>
          <p:grpSpPr>
            <a:xfrm rot="0">
              <a:off x="86" y="0"/>
              <a:ext cx="1285142" cy="223837"/>
              <a:chOff x="0" y="0"/>
              <a:chExt cx="253855" cy="44215"/>
            </a:xfrm>
          </p:grpSpPr>
          <p:sp>
            <p:nvSpPr>
              <p:cNvPr name="Freeform 6" id="6"/>
              <p:cNvSpPr/>
              <p:nvPr/>
            </p:nvSpPr>
            <p:spPr>
              <a:xfrm flipH="false" flipV="false" rot="0">
                <a:off x="0" y="0"/>
                <a:ext cx="253855" cy="44215"/>
              </a:xfrm>
              <a:custGeom>
                <a:avLst/>
                <a:gdLst/>
                <a:ahLst/>
                <a:cxnLst/>
                <a:rect r="r" b="b" t="t" l="l"/>
                <a:pathLst>
                  <a:path h="44215" w="253855">
                    <a:moveTo>
                      <a:pt x="0" y="0"/>
                    </a:moveTo>
                    <a:lnTo>
                      <a:pt x="253855" y="0"/>
                    </a:lnTo>
                    <a:lnTo>
                      <a:pt x="253855" y="44215"/>
                    </a:lnTo>
                    <a:lnTo>
                      <a:pt x="0" y="44215"/>
                    </a:lnTo>
                    <a:close/>
                  </a:path>
                </a:pathLst>
              </a:custGeom>
              <a:solidFill>
                <a:srgbClr val="F8F7F6"/>
              </a:solidFill>
            </p:spPr>
          </p:sp>
          <p:sp>
            <p:nvSpPr>
              <p:cNvPr name="TextBox 7" id="7"/>
              <p:cNvSpPr txBox="true"/>
              <p:nvPr/>
            </p:nvSpPr>
            <p:spPr>
              <a:xfrm>
                <a:off x="0" y="-38100"/>
                <a:ext cx="253855" cy="82315"/>
              </a:xfrm>
              <a:prstGeom prst="rect">
                <a:avLst/>
              </a:prstGeom>
            </p:spPr>
            <p:txBody>
              <a:bodyPr anchor="ctr" rtlCol="false" tIns="50800" lIns="50800" bIns="50800" rIns="50800"/>
              <a:lstStyle/>
              <a:p>
                <a:pPr algn="ctr" marL="0" indent="0" lvl="0">
                  <a:lnSpc>
                    <a:spcPts val="3359"/>
                  </a:lnSpc>
                </a:pPr>
              </a:p>
            </p:txBody>
          </p:sp>
        </p:grpSp>
        <p:sp>
          <p:nvSpPr>
            <p:cNvPr name="AutoShape 8" id="8"/>
            <p:cNvSpPr/>
            <p:nvPr/>
          </p:nvSpPr>
          <p:spPr>
            <a:xfrm>
              <a:off x="86" y="198437"/>
              <a:ext cx="7519150" cy="25400"/>
            </a:xfrm>
            <a:prstGeom prst="line">
              <a:avLst/>
            </a:prstGeom>
            <a:ln cap="flat" w="50800">
              <a:solidFill>
                <a:srgbClr val="F8F7F6"/>
              </a:solidFill>
              <a:prstDash val="solid"/>
              <a:headEnd type="none" len="sm" w="sm"/>
              <a:tailEnd type="none" len="sm" w="sm"/>
            </a:ln>
          </p:spPr>
        </p:sp>
      </p:grpSp>
      <p:sp>
        <p:nvSpPr>
          <p:cNvPr name="TextBox 9" id="9"/>
          <p:cNvSpPr txBox="true"/>
          <p:nvPr/>
        </p:nvSpPr>
        <p:spPr>
          <a:xfrm rot="0">
            <a:off x="9781014" y="2623495"/>
            <a:ext cx="7478286" cy="1626284"/>
          </a:xfrm>
          <a:prstGeom prst="rect">
            <a:avLst/>
          </a:prstGeom>
        </p:spPr>
        <p:txBody>
          <a:bodyPr anchor="t" rtlCol="false" tIns="0" lIns="0" bIns="0" rIns="0">
            <a:spAutoFit/>
          </a:bodyPr>
          <a:lstStyle/>
          <a:p>
            <a:pPr algn="l" marL="0" indent="0" lvl="0">
              <a:lnSpc>
                <a:spcPts val="3287"/>
              </a:lnSpc>
            </a:pPr>
            <a:r>
              <a:rPr lang="en-US" sz="2348">
                <a:solidFill>
                  <a:srgbClr val="F8F7F6"/>
                </a:solidFill>
                <a:latin typeface="Proxima Nova Light"/>
                <a:ea typeface="Proxima Nova Light"/>
                <a:cs typeface="Proxima Nova Light"/>
                <a:sym typeface="Proxima Nova Light"/>
              </a:rPr>
              <a:t>Luồng xử lý tổng quan:</a:t>
            </a:r>
          </a:p>
          <a:p>
            <a:pPr algn="l" marL="0" indent="0" lvl="0">
              <a:lnSpc>
                <a:spcPts val="3287"/>
              </a:lnSpc>
            </a:pPr>
            <a:r>
              <a:rPr lang="en-US" sz="2348">
                <a:solidFill>
                  <a:srgbClr val="F8F7F6"/>
                </a:solidFill>
                <a:latin typeface="Proxima Nova Light"/>
                <a:ea typeface="Proxima Nova Light"/>
                <a:cs typeface="Proxima Nova Light"/>
                <a:sym typeface="Proxima Nova Light"/>
              </a:rPr>
              <a:t>User → Next.js Frontend → Node.js/Express Backend → FastAPI AI Service → Linear Regression → Prediction → MongoDB → Frontend</a:t>
            </a:r>
          </a:p>
        </p:txBody>
      </p:sp>
      <p:sp>
        <p:nvSpPr>
          <p:cNvPr name="TextBox 10" id="10"/>
          <p:cNvSpPr txBox="true"/>
          <p:nvPr/>
        </p:nvSpPr>
        <p:spPr>
          <a:xfrm rot="0">
            <a:off x="9781014" y="5775960"/>
            <a:ext cx="7478286" cy="1071764"/>
          </a:xfrm>
          <a:prstGeom prst="rect">
            <a:avLst/>
          </a:prstGeom>
        </p:spPr>
        <p:txBody>
          <a:bodyPr anchor="t" rtlCol="false" tIns="0" lIns="0" bIns="0" rIns="0">
            <a:spAutoFit/>
          </a:bodyPr>
          <a:lstStyle/>
          <a:p>
            <a:pPr algn="l" marL="0" indent="0" lvl="0">
              <a:lnSpc>
                <a:spcPts val="2876"/>
              </a:lnSpc>
            </a:pPr>
            <a:r>
              <a:rPr lang="en-US" sz="2054">
                <a:solidFill>
                  <a:srgbClr val="F8F7F6"/>
                </a:solidFill>
                <a:latin typeface="Proxima Nova Light"/>
                <a:ea typeface="Proxima Nova Light"/>
                <a:cs typeface="Proxima Nova Light"/>
                <a:sym typeface="Proxima Nova Light"/>
              </a:rPr>
              <a:t>• Next.js Frontend: Giao diện nhập liệu và hiển thị kết quả dự đoán</a:t>
            </a:r>
          </a:p>
          <a:p>
            <a:pPr algn="l" marL="0" indent="0" lvl="0">
              <a:lnSpc>
                <a:spcPts val="2876"/>
              </a:lnSpc>
            </a:pPr>
            <a:r>
              <a:rPr lang="en-US" sz="2054">
                <a:solidFill>
                  <a:srgbClr val="F8F7F6"/>
                </a:solidFill>
                <a:latin typeface="Proxima Nova Light"/>
                <a:ea typeface="Proxima Nova Light"/>
                <a:cs typeface="Proxima Nova Light"/>
                <a:sym typeface="Proxima Nova Light"/>
              </a:rPr>
              <a:t>• Node.js/Express Backend: Xử lý logic, validate dữ liệu, lưu lịch sử</a:t>
            </a:r>
          </a:p>
          <a:p>
            <a:pPr algn="l" marL="0" indent="0" lvl="0">
              <a:lnSpc>
                <a:spcPts val="2876"/>
              </a:lnSpc>
            </a:pPr>
            <a:r>
              <a:rPr lang="en-US" sz="2054">
                <a:solidFill>
                  <a:srgbClr val="F8F7F6"/>
                </a:solidFill>
                <a:latin typeface="Proxima Nova Light"/>
                <a:ea typeface="Proxima Nova Light"/>
                <a:cs typeface="Proxima Nova Light"/>
                <a:sym typeface="Proxima Nova Light"/>
              </a:rPr>
              <a:t>• FastAPI AI Service: Tiền xử lý dữ liệu và chạy mô hình dự đoán</a:t>
            </a:r>
          </a:p>
        </p:txBody>
      </p:sp>
      <p:sp>
        <p:nvSpPr>
          <p:cNvPr name="TextBox 11" id="11"/>
          <p:cNvSpPr txBox="true"/>
          <p:nvPr/>
        </p:nvSpPr>
        <p:spPr>
          <a:xfrm rot="0">
            <a:off x="9781014" y="7787640"/>
            <a:ext cx="7478286" cy="1433714"/>
          </a:xfrm>
          <a:prstGeom prst="rect">
            <a:avLst/>
          </a:prstGeom>
        </p:spPr>
        <p:txBody>
          <a:bodyPr anchor="t" rtlCol="false" tIns="0" lIns="0" bIns="0" rIns="0">
            <a:spAutoFit/>
          </a:bodyPr>
          <a:lstStyle/>
          <a:p>
            <a:pPr algn="l" marL="0" indent="0" lvl="0">
              <a:lnSpc>
                <a:spcPts val="2876"/>
              </a:lnSpc>
            </a:pPr>
            <a:r>
              <a:rPr lang="en-US" sz="2054">
                <a:solidFill>
                  <a:srgbClr val="F8F7F6"/>
                </a:solidFill>
                <a:latin typeface="Proxima Nova Light"/>
                <a:ea typeface="Proxima Nova Light"/>
                <a:cs typeface="Proxima Nova Light"/>
                <a:sym typeface="Proxima Nova Light"/>
              </a:rPr>
              <a:t>• Linear Regression Model: Dự đoán Performance Index từ 6 đặc trưng đầu vào</a:t>
            </a:r>
          </a:p>
          <a:p>
            <a:pPr algn="l" marL="0" indent="0" lvl="0">
              <a:lnSpc>
                <a:spcPts val="2876"/>
              </a:lnSpc>
            </a:pPr>
            <a:r>
              <a:rPr lang="en-US" sz="2054">
                <a:solidFill>
                  <a:srgbClr val="F8F7F6"/>
                </a:solidFill>
                <a:latin typeface="Proxima Nova Light"/>
                <a:ea typeface="Proxima Nova Light"/>
                <a:cs typeface="Proxima Nova Light"/>
                <a:sym typeface="Proxima Nova Light"/>
              </a:rPr>
              <a:t>• MongoDB: Lưu trữ lịch sử các kết quả dự đoán</a:t>
            </a:r>
          </a:p>
          <a:p>
            <a:pPr algn="l" marL="0" indent="0" lvl="0">
              <a:lnSpc>
                <a:spcPts val="2876"/>
              </a:lnSpc>
            </a:pPr>
            <a:r>
              <a:rPr lang="en-US" sz="2054">
                <a:solidFill>
                  <a:srgbClr val="F8F7F6"/>
                </a:solidFill>
                <a:latin typeface="Proxima Nova Light"/>
                <a:ea typeface="Proxima Nova Light"/>
                <a:cs typeface="Proxima Nova Light"/>
                <a:sym typeface="Proxima Nova Light"/>
              </a:rPr>
              <a:t>• Kết quả trả về Frontend để hiển thị cho người dùng</a:t>
            </a:r>
          </a:p>
        </p:txBody>
      </p:sp>
      <p:sp>
        <p:nvSpPr>
          <p:cNvPr name="TextBox 12" id="12"/>
          <p:cNvSpPr txBox="true"/>
          <p:nvPr/>
        </p:nvSpPr>
        <p:spPr>
          <a:xfrm rot="0">
            <a:off x="9781014" y="5384770"/>
            <a:ext cx="6468121"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Các Thành Phần Chính</a:t>
            </a:r>
          </a:p>
        </p:txBody>
      </p:sp>
      <p:sp>
        <p:nvSpPr>
          <p:cNvPr name="TextBox 13" id="13"/>
          <p:cNvSpPr txBox="true"/>
          <p:nvPr/>
        </p:nvSpPr>
        <p:spPr>
          <a:xfrm rot="0">
            <a:off x="9781014" y="7396450"/>
            <a:ext cx="6280309"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Lưu Trữ &amp; Kết Quả</a:t>
            </a:r>
          </a:p>
        </p:txBody>
      </p:sp>
      <p:grpSp>
        <p:nvGrpSpPr>
          <p:cNvPr name="Group 14" id="14"/>
          <p:cNvGrpSpPr/>
          <p:nvPr/>
        </p:nvGrpSpPr>
        <p:grpSpPr>
          <a:xfrm rot="0">
            <a:off x="1028700" y="4893517"/>
            <a:ext cx="7593184" cy="2502933"/>
            <a:chOff x="0" y="0"/>
            <a:chExt cx="1176383" cy="387770"/>
          </a:xfrm>
        </p:grpSpPr>
        <p:sp>
          <p:nvSpPr>
            <p:cNvPr name="Freeform 15" id="15"/>
            <p:cNvSpPr/>
            <p:nvPr/>
          </p:nvSpPr>
          <p:spPr>
            <a:xfrm flipH="false" flipV="false" rot="0">
              <a:off x="0" y="0"/>
              <a:ext cx="1176383" cy="387770"/>
            </a:xfrm>
            <a:custGeom>
              <a:avLst/>
              <a:gdLst/>
              <a:ahLst/>
              <a:cxnLst/>
              <a:rect r="r" b="b" t="t" l="l"/>
              <a:pathLst>
                <a:path h="387770" w="1176383">
                  <a:moveTo>
                    <a:pt x="0" y="0"/>
                  </a:moveTo>
                  <a:lnTo>
                    <a:pt x="1176383" y="0"/>
                  </a:lnTo>
                  <a:lnTo>
                    <a:pt x="1176383" y="387770"/>
                  </a:lnTo>
                  <a:lnTo>
                    <a:pt x="0" y="387770"/>
                  </a:lnTo>
                  <a:close/>
                </a:path>
              </a:pathLst>
            </a:custGeom>
            <a:blipFill>
              <a:blip r:embed="rId2"/>
              <a:stretch>
                <a:fillRect l="0" t="-56" r="0" b="-56"/>
              </a:stretch>
            </a:blipFill>
          </p:spPr>
        </p:sp>
      </p:grpSp>
      <p:sp>
        <p:nvSpPr>
          <p:cNvPr name="TextBox 16" id="16"/>
          <p:cNvSpPr txBox="true"/>
          <p:nvPr/>
        </p:nvSpPr>
        <p:spPr>
          <a:xfrm rot="0">
            <a:off x="1028700" y="7778115"/>
            <a:ext cx="7593184" cy="1216709"/>
          </a:xfrm>
          <a:prstGeom prst="rect">
            <a:avLst/>
          </a:prstGeom>
        </p:spPr>
        <p:txBody>
          <a:bodyPr anchor="t" rtlCol="false" tIns="0" lIns="0" bIns="0" rIns="0">
            <a:spAutoFit/>
          </a:bodyPr>
          <a:lstStyle/>
          <a:p>
            <a:pPr algn="l" marL="0" indent="0" lvl="0">
              <a:lnSpc>
                <a:spcPts val="3287"/>
              </a:lnSpc>
            </a:pPr>
            <a:r>
              <a:rPr lang="en-US" sz="2348">
                <a:solidFill>
                  <a:srgbClr val="FFFFFF"/>
                </a:solidFill>
                <a:latin typeface="Proxima Nova Light"/>
                <a:ea typeface="Proxima Nova Light"/>
                <a:cs typeface="Proxima Nova Light"/>
                <a:sym typeface="Proxima Nova Light"/>
              </a:rPr>
              <a:t>Kiến trúc microservice đảm bảo tách biệt rõ ràng giữa giao diện, logic nghiệp vụ và dịch vụ AI. Mỗi thành phần có thể triển khai và mở rộng độc lập.</a:t>
            </a:r>
          </a:p>
        </p:txBody>
      </p:sp>
      <p:sp>
        <p:nvSpPr>
          <p:cNvPr name="Freeform 17" id="17"/>
          <p:cNvSpPr/>
          <p:nvPr/>
        </p:nvSpPr>
        <p:spPr>
          <a:xfrm flipH="false" flipV="false" rot="0">
            <a:off x="16898043" y="9496425"/>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
        <p:nvSpPr>
          <p:cNvPr name="Freeform 18" id="18"/>
          <p:cNvSpPr/>
          <p:nvPr/>
        </p:nvSpPr>
        <p:spPr>
          <a:xfrm flipH="false" flipV="false" rot="0">
            <a:off x="6809163"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028700" y="2100146"/>
            <a:ext cx="6232030" cy="804070"/>
          </a:xfrm>
          <a:prstGeom prst="rect">
            <a:avLst/>
          </a:prstGeom>
        </p:spPr>
        <p:txBody>
          <a:bodyPr anchor="t" rtlCol="false" tIns="0" lIns="0" bIns="0" rIns="0">
            <a:spAutoFit/>
          </a:bodyPr>
          <a:lstStyle/>
          <a:p>
            <a:pPr algn="l" marL="0" indent="0" lvl="0">
              <a:lnSpc>
                <a:spcPts val="6492"/>
              </a:lnSpc>
            </a:pPr>
            <a:r>
              <a:rPr lang="en-US" sz="4994">
                <a:solidFill>
                  <a:srgbClr val="F8F7F6"/>
                </a:solidFill>
                <a:latin typeface="Pattanakarn SemiExpanded Light"/>
                <a:ea typeface="Pattanakarn SemiExpanded Light"/>
                <a:cs typeface="Pattanakarn SemiExpanded Light"/>
                <a:sym typeface="Pattanakarn SemiExpanded Light"/>
              </a:rPr>
              <a:t>LUỒNG</a:t>
            </a:r>
          </a:p>
        </p:txBody>
      </p:sp>
      <p:sp>
        <p:nvSpPr>
          <p:cNvPr name="TextBox 3" id="3"/>
          <p:cNvSpPr txBox="true"/>
          <p:nvPr/>
        </p:nvSpPr>
        <p:spPr>
          <a:xfrm rot="0">
            <a:off x="1028700" y="2859191"/>
            <a:ext cx="6232030" cy="804070"/>
          </a:xfrm>
          <a:prstGeom prst="rect">
            <a:avLst/>
          </a:prstGeom>
        </p:spPr>
        <p:txBody>
          <a:bodyPr anchor="t" rtlCol="false" tIns="0" lIns="0" bIns="0" rIns="0">
            <a:spAutoFit/>
          </a:bodyPr>
          <a:lstStyle/>
          <a:p>
            <a:pPr algn="l" marL="0" indent="0" lvl="0">
              <a:lnSpc>
                <a:spcPts val="6492"/>
              </a:lnSpc>
            </a:pPr>
            <a:r>
              <a:rPr lang="en-US" b="true" sz="4994">
                <a:solidFill>
                  <a:srgbClr val="F8F7F6"/>
                </a:solidFill>
                <a:latin typeface="Pattanakarn SemiExpanded Medium"/>
                <a:ea typeface="Pattanakarn SemiExpanded Medium"/>
                <a:cs typeface="Pattanakarn SemiExpanded Medium"/>
                <a:sym typeface="Pattanakarn SemiExpanded Medium"/>
              </a:rPr>
              <a:t>DỰ ĐOÁN</a:t>
            </a:r>
          </a:p>
        </p:txBody>
      </p:sp>
      <p:grpSp>
        <p:nvGrpSpPr>
          <p:cNvPr name="Group 4" id="4"/>
          <p:cNvGrpSpPr/>
          <p:nvPr/>
        </p:nvGrpSpPr>
        <p:grpSpPr>
          <a:xfrm rot="0">
            <a:off x="8376440" y="2147771"/>
            <a:ext cx="795315" cy="79531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7" id="7"/>
          <p:cNvGrpSpPr/>
          <p:nvPr/>
        </p:nvGrpSpPr>
        <p:grpSpPr>
          <a:xfrm rot="0">
            <a:off x="13039574" y="2147771"/>
            <a:ext cx="795315" cy="79531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0" id="10"/>
          <p:cNvGrpSpPr/>
          <p:nvPr/>
        </p:nvGrpSpPr>
        <p:grpSpPr>
          <a:xfrm rot="0">
            <a:off x="8376440" y="5928221"/>
            <a:ext cx="795315" cy="79531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3" id="13"/>
          <p:cNvGrpSpPr/>
          <p:nvPr/>
        </p:nvGrpSpPr>
        <p:grpSpPr>
          <a:xfrm rot="0">
            <a:off x="13039574" y="5928221"/>
            <a:ext cx="795315" cy="79531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sp>
        <p:nvSpPr>
          <p:cNvPr name="TextBox 16" id="16"/>
          <p:cNvSpPr txBox="true"/>
          <p:nvPr/>
        </p:nvSpPr>
        <p:spPr>
          <a:xfrm rot="0">
            <a:off x="8519337" y="233683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01</a:t>
            </a:r>
          </a:p>
        </p:txBody>
      </p:sp>
      <p:sp>
        <p:nvSpPr>
          <p:cNvPr name="TextBox 17" id="17"/>
          <p:cNvSpPr txBox="true"/>
          <p:nvPr/>
        </p:nvSpPr>
        <p:spPr>
          <a:xfrm rot="0">
            <a:off x="13182470" y="233683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02</a:t>
            </a:r>
          </a:p>
        </p:txBody>
      </p:sp>
      <p:sp>
        <p:nvSpPr>
          <p:cNvPr name="TextBox 18" id="18"/>
          <p:cNvSpPr txBox="true"/>
          <p:nvPr/>
        </p:nvSpPr>
        <p:spPr>
          <a:xfrm rot="0">
            <a:off x="8519337"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03</a:t>
            </a:r>
          </a:p>
        </p:txBody>
      </p:sp>
      <p:sp>
        <p:nvSpPr>
          <p:cNvPr name="TextBox 19" id="19"/>
          <p:cNvSpPr txBox="true"/>
          <p:nvPr/>
        </p:nvSpPr>
        <p:spPr>
          <a:xfrm rot="0">
            <a:off x="13182470"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04</a:t>
            </a:r>
          </a:p>
        </p:txBody>
      </p:sp>
      <p:sp>
        <p:nvSpPr>
          <p:cNvPr name="TextBox 20" id="20"/>
          <p:cNvSpPr txBox="true"/>
          <p:nvPr/>
        </p:nvSpPr>
        <p:spPr>
          <a:xfrm rot="0">
            <a:off x="8376440" y="3886061"/>
            <a:ext cx="4219726" cy="1934490"/>
          </a:xfrm>
          <a:prstGeom prst="rect">
            <a:avLst/>
          </a:prstGeom>
        </p:spPr>
        <p:txBody>
          <a:bodyPr anchor="t" rtlCol="false" tIns="0" lIns="0" bIns="0" rIns="0">
            <a:spAutoFit/>
          </a:bodyPr>
          <a:lstStyle/>
          <a:p>
            <a:pPr algn="l" marL="0" indent="0" lvl="0">
              <a:lnSpc>
                <a:spcPts val="2574"/>
              </a:lnSpc>
            </a:pPr>
            <a:r>
              <a:rPr lang="en-US" sz="1838">
                <a:solidFill>
                  <a:srgbClr val="FFFFFF"/>
                </a:solidFill>
                <a:latin typeface="Proxima Nova Light"/>
                <a:ea typeface="Proxima Nova Light"/>
                <a:cs typeface="Proxima Nova Light"/>
                <a:sym typeface="Proxima Nova Light"/>
              </a:rPr>
              <a:t>Bước 1: Người dùng nhập thông tin học sinh trên giao diện web.</a:t>
            </a:r>
          </a:p>
          <a:p>
            <a:pPr algn="l" marL="0" indent="0" lvl="0">
              <a:lnSpc>
                <a:spcPts val="2574"/>
              </a:lnSpc>
            </a:pPr>
            <a:r>
              <a:rPr lang="en-US" sz="1838">
                <a:solidFill>
                  <a:srgbClr val="FFFFFF"/>
                </a:solidFill>
                <a:latin typeface="Proxima Nova Light"/>
                <a:ea typeface="Proxima Nova Light"/>
                <a:cs typeface="Proxima Nova Light"/>
                <a:sym typeface="Proxima Nova Light"/>
              </a:rPr>
              <a:t>Bước 2: Frontend gửi request đến Node.js/Express Backend.</a:t>
            </a:r>
          </a:p>
          <a:p>
            <a:pPr algn="l" marL="0" indent="0" lvl="0">
              <a:lnSpc>
                <a:spcPts val="2574"/>
              </a:lnSpc>
            </a:pPr>
            <a:r>
              <a:rPr lang="en-US" sz="1838">
                <a:solidFill>
                  <a:srgbClr val="FFFFFF"/>
                </a:solidFill>
                <a:latin typeface="Proxima Nova Light"/>
                <a:ea typeface="Proxima Nova Light"/>
                <a:cs typeface="Proxima Nova Light"/>
                <a:sym typeface="Proxima Nova Light"/>
              </a:rPr>
              <a:t>Bước 3: Backend kiểm tra và validate dữ liệu đầu vào.</a:t>
            </a:r>
          </a:p>
        </p:txBody>
      </p:sp>
      <p:sp>
        <p:nvSpPr>
          <p:cNvPr name="TextBox 21" id="21"/>
          <p:cNvSpPr txBox="true"/>
          <p:nvPr/>
        </p:nvSpPr>
        <p:spPr>
          <a:xfrm rot="0">
            <a:off x="13039574" y="3886061"/>
            <a:ext cx="4219726" cy="1610640"/>
          </a:xfrm>
          <a:prstGeom prst="rect">
            <a:avLst/>
          </a:prstGeom>
        </p:spPr>
        <p:txBody>
          <a:bodyPr anchor="t" rtlCol="false" tIns="0" lIns="0" bIns="0" rIns="0">
            <a:spAutoFit/>
          </a:bodyPr>
          <a:lstStyle/>
          <a:p>
            <a:pPr algn="l" marL="0" indent="0" lvl="0">
              <a:lnSpc>
                <a:spcPts val="2574"/>
              </a:lnSpc>
            </a:pPr>
            <a:r>
              <a:rPr lang="en-US" sz="1838">
                <a:solidFill>
                  <a:srgbClr val="FFFFFF"/>
                </a:solidFill>
                <a:latin typeface="Proxima Nova Light"/>
                <a:ea typeface="Proxima Nova Light"/>
                <a:cs typeface="Proxima Nova Light"/>
                <a:sym typeface="Proxima Nova Light"/>
              </a:rPr>
              <a:t>Bước 4: Backend gọi FastAPI AI Service.</a:t>
            </a:r>
          </a:p>
          <a:p>
            <a:pPr algn="l" marL="0" indent="0" lvl="0">
              <a:lnSpc>
                <a:spcPts val="2574"/>
              </a:lnSpc>
            </a:pPr>
            <a:r>
              <a:rPr lang="en-US" sz="1838">
                <a:solidFill>
                  <a:srgbClr val="FFFFFF"/>
                </a:solidFill>
                <a:latin typeface="Proxima Nova Light"/>
                <a:ea typeface="Proxima Nova Light"/>
                <a:cs typeface="Proxima Nova Light"/>
                <a:sym typeface="Proxima Nova Light"/>
              </a:rPr>
              <a:t>Bước 5: AI Service tiền xử lý dữ liệu (StandardScaler, OneHotEncoder).</a:t>
            </a:r>
          </a:p>
          <a:p>
            <a:pPr algn="l" marL="0" indent="0" lvl="0">
              <a:lnSpc>
                <a:spcPts val="2574"/>
              </a:lnSpc>
            </a:pPr>
            <a:r>
              <a:rPr lang="en-US" sz="1838">
                <a:solidFill>
                  <a:srgbClr val="FFFFFF"/>
                </a:solidFill>
                <a:latin typeface="Proxima Nova Light"/>
                <a:ea typeface="Proxima Nova Light"/>
                <a:cs typeface="Proxima Nova Light"/>
                <a:sym typeface="Proxima Nova Light"/>
              </a:rPr>
              <a:t>Bước 6: Linear Regression dự đoán Performance Index.</a:t>
            </a:r>
          </a:p>
        </p:txBody>
      </p:sp>
      <p:sp>
        <p:nvSpPr>
          <p:cNvPr name="TextBox 22" id="22"/>
          <p:cNvSpPr txBox="true"/>
          <p:nvPr/>
        </p:nvSpPr>
        <p:spPr>
          <a:xfrm rot="0">
            <a:off x="8376440" y="7666512"/>
            <a:ext cx="4219726" cy="1610640"/>
          </a:xfrm>
          <a:prstGeom prst="rect">
            <a:avLst/>
          </a:prstGeom>
        </p:spPr>
        <p:txBody>
          <a:bodyPr anchor="t" rtlCol="false" tIns="0" lIns="0" bIns="0" rIns="0">
            <a:spAutoFit/>
          </a:bodyPr>
          <a:lstStyle/>
          <a:p>
            <a:pPr algn="l" marL="0" indent="0" lvl="0">
              <a:lnSpc>
                <a:spcPts val="2574"/>
              </a:lnSpc>
            </a:pPr>
            <a:r>
              <a:rPr lang="en-US" sz="1838">
                <a:solidFill>
                  <a:srgbClr val="FFFFFF"/>
                </a:solidFill>
                <a:latin typeface="Proxima Nova Light"/>
                <a:ea typeface="Proxima Nova Light"/>
                <a:cs typeface="Proxima Nova Light"/>
                <a:sym typeface="Proxima Nova Light"/>
              </a:rPr>
              <a:t>Bước 7: Kết quả dự đoán trả về Backend.</a:t>
            </a:r>
          </a:p>
          <a:p>
            <a:pPr algn="l" marL="0" indent="0" lvl="0">
              <a:lnSpc>
                <a:spcPts val="2574"/>
              </a:lnSpc>
            </a:pPr>
            <a:r>
              <a:rPr lang="en-US" sz="1838">
                <a:solidFill>
                  <a:srgbClr val="FFFFFF"/>
                </a:solidFill>
                <a:latin typeface="Proxima Nova Light"/>
                <a:ea typeface="Proxima Nova Light"/>
                <a:cs typeface="Proxima Nova Light"/>
                <a:sym typeface="Proxima Nova Light"/>
              </a:rPr>
              <a:t>Bước 8: Backend lưu lịch sử dự đoán vào MongoDB.</a:t>
            </a:r>
          </a:p>
          <a:p>
            <a:pPr algn="l" marL="0" indent="0" lvl="0">
              <a:lnSpc>
                <a:spcPts val="2574"/>
              </a:lnSpc>
            </a:pPr>
            <a:r>
              <a:rPr lang="en-US" sz="1838">
                <a:solidFill>
                  <a:srgbClr val="FFFFFF"/>
                </a:solidFill>
                <a:latin typeface="Proxima Nova Light"/>
                <a:ea typeface="Proxima Nova Light"/>
                <a:cs typeface="Proxima Nova Light"/>
                <a:sym typeface="Proxima Nova Light"/>
              </a:rPr>
              <a:t>Bước 9: Frontend hiển thị kết quả cho người dùng.</a:t>
            </a:r>
          </a:p>
        </p:txBody>
      </p:sp>
      <p:sp>
        <p:nvSpPr>
          <p:cNvPr name="TextBox 23" id="23"/>
          <p:cNvSpPr txBox="true"/>
          <p:nvPr/>
        </p:nvSpPr>
        <p:spPr>
          <a:xfrm rot="0">
            <a:off x="13039574" y="7666512"/>
            <a:ext cx="4219726" cy="1286790"/>
          </a:xfrm>
          <a:prstGeom prst="rect">
            <a:avLst/>
          </a:prstGeom>
        </p:spPr>
        <p:txBody>
          <a:bodyPr anchor="t" rtlCol="false" tIns="0" lIns="0" bIns="0" rIns="0">
            <a:spAutoFit/>
          </a:bodyPr>
          <a:lstStyle/>
          <a:p>
            <a:pPr algn="l" marL="0" indent="0" lvl="0">
              <a:lnSpc>
                <a:spcPts val="2574"/>
              </a:lnSpc>
            </a:pPr>
            <a:r>
              <a:rPr lang="en-US" sz="1838">
                <a:solidFill>
                  <a:srgbClr val="FFFFFF"/>
                </a:solidFill>
                <a:latin typeface="Proxima Nova Light"/>
                <a:ea typeface="Proxima Nova Light"/>
                <a:cs typeface="Proxima Nova Light"/>
                <a:sym typeface="Proxima Nova Light"/>
              </a:rPr>
              <a:t>User → Next.js Frontend → Node.js Backend → FastAPI AI Service → Linear Regression → Prediction → MongoDB → Frontend hiển thị kết quả.</a:t>
            </a:r>
          </a:p>
        </p:txBody>
      </p:sp>
      <p:sp>
        <p:nvSpPr>
          <p:cNvPr name="TextBox 24" id="24"/>
          <p:cNvSpPr txBox="true"/>
          <p:nvPr/>
        </p:nvSpPr>
        <p:spPr>
          <a:xfrm rot="0">
            <a:off x="8376440" y="3143111"/>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Nhập &amp; Gửi Dữ Liệu</a:t>
            </a:r>
          </a:p>
        </p:txBody>
      </p:sp>
      <p:sp>
        <p:nvSpPr>
          <p:cNvPr name="TextBox 25" id="25"/>
          <p:cNvSpPr txBox="true"/>
          <p:nvPr/>
        </p:nvSpPr>
        <p:spPr>
          <a:xfrm rot="0">
            <a:off x="13039574" y="3143111"/>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Tiền Xử Lý &amp; Dự Đoán</a:t>
            </a:r>
          </a:p>
        </p:txBody>
      </p:sp>
      <p:sp>
        <p:nvSpPr>
          <p:cNvPr name="TextBox 26" id="26"/>
          <p:cNvSpPr txBox="true"/>
          <p:nvPr/>
        </p:nvSpPr>
        <p:spPr>
          <a:xfrm rot="0">
            <a:off x="8376440" y="6923562"/>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Trả Kết Quả &amp; Lưu Trữ</a:t>
            </a:r>
          </a:p>
        </p:txBody>
      </p:sp>
      <p:sp>
        <p:nvSpPr>
          <p:cNvPr name="TextBox 27" id="27"/>
          <p:cNvSpPr txBox="true"/>
          <p:nvPr/>
        </p:nvSpPr>
        <p:spPr>
          <a:xfrm rot="0">
            <a:off x="13039574" y="6923562"/>
            <a:ext cx="4219726"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Tóm Tắt Luồng Hệ Thống</a:t>
            </a:r>
          </a:p>
        </p:txBody>
      </p:sp>
      <p:grpSp>
        <p:nvGrpSpPr>
          <p:cNvPr name="Group 28" id="28"/>
          <p:cNvGrpSpPr/>
          <p:nvPr/>
        </p:nvGrpSpPr>
        <p:grpSpPr>
          <a:xfrm rot="0">
            <a:off x="1028700" y="4892116"/>
            <a:ext cx="6232030" cy="2660095"/>
            <a:chOff x="0" y="0"/>
            <a:chExt cx="965505" cy="412118"/>
          </a:xfrm>
        </p:grpSpPr>
        <p:sp>
          <p:nvSpPr>
            <p:cNvPr name="Freeform 29" id="29"/>
            <p:cNvSpPr/>
            <p:nvPr/>
          </p:nvSpPr>
          <p:spPr>
            <a:xfrm flipH="false" flipV="false" rot="0">
              <a:off x="0" y="0"/>
              <a:ext cx="965505" cy="412118"/>
            </a:xfrm>
            <a:custGeom>
              <a:avLst/>
              <a:gdLst/>
              <a:ahLst/>
              <a:cxnLst/>
              <a:rect r="r" b="b" t="t" l="l"/>
              <a:pathLst>
                <a:path h="412118" w="965505">
                  <a:moveTo>
                    <a:pt x="0" y="0"/>
                  </a:moveTo>
                  <a:lnTo>
                    <a:pt x="965505" y="0"/>
                  </a:lnTo>
                  <a:lnTo>
                    <a:pt x="965505" y="412118"/>
                  </a:lnTo>
                  <a:lnTo>
                    <a:pt x="0" y="412118"/>
                  </a:lnTo>
                  <a:close/>
                </a:path>
              </a:pathLst>
            </a:custGeom>
            <a:blipFill>
              <a:blip r:embed="rId2"/>
              <a:stretch>
                <a:fillRect l="0" t="-77" r="0" b="-77"/>
              </a:stretch>
            </a:blipFill>
          </p:spPr>
        </p:sp>
      </p:grpSp>
      <p:sp>
        <p:nvSpPr>
          <p:cNvPr name="TextBox 30" id="30"/>
          <p:cNvSpPr txBox="true"/>
          <p:nvPr/>
        </p:nvSpPr>
        <p:spPr>
          <a:xfrm rot="0">
            <a:off x="1028700" y="7902732"/>
            <a:ext cx="6232030" cy="638948"/>
          </a:xfrm>
          <a:prstGeom prst="rect">
            <a:avLst/>
          </a:prstGeom>
        </p:spPr>
        <p:txBody>
          <a:bodyPr anchor="t" rtlCol="false" tIns="0" lIns="0" bIns="0" rIns="0">
            <a:spAutoFit/>
          </a:bodyPr>
          <a:lstStyle/>
          <a:p>
            <a:pPr algn="l" marL="0" indent="0" lvl="0">
              <a:lnSpc>
                <a:spcPts val="2582"/>
              </a:lnSpc>
            </a:pPr>
            <a:r>
              <a:rPr lang="en-US" sz="1844">
                <a:solidFill>
                  <a:srgbClr val="FFFFFF"/>
                </a:solidFill>
                <a:latin typeface="Proxima Nova Light"/>
                <a:ea typeface="Proxima Nova Light"/>
                <a:cs typeface="Proxima Nova Light"/>
                <a:sym typeface="Proxima Nova Light"/>
              </a:rPr>
              <a:t>Toàn bộ luồng dự đoán được xử lý tự động, đảm bảo validate dữ liệu, tiền xử lý chuẩn và lưu lịch sử đầy đủ.</a:t>
            </a:r>
          </a:p>
        </p:txBody>
      </p:sp>
      <p:grpSp>
        <p:nvGrpSpPr>
          <p:cNvPr name="Group 31" id="31"/>
          <p:cNvGrpSpPr/>
          <p:nvPr/>
        </p:nvGrpSpPr>
        <p:grpSpPr>
          <a:xfrm rot="0">
            <a:off x="1028700" y="7384334"/>
            <a:ext cx="6226832" cy="167878"/>
            <a:chOff x="0" y="0"/>
            <a:chExt cx="8302442" cy="223837"/>
          </a:xfrm>
        </p:grpSpPr>
        <p:grpSp>
          <p:nvGrpSpPr>
            <p:cNvPr name="Group 32" id="32"/>
            <p:cNvGrpSpPr/>
            <p:nvPr/>
          </p:nvGrpSpPr>
          <p:grpSpPr>
            <a:xfrm rot="0">
              <a:off x="0" y="0"/>
              <a:ext cx="1674460" cy="223837"/>
              <a:chOff x="0" y="0"/>
              <a:chExt cx="330758" cy="44215"/>
            </a:xfrm>
          </p:grpSpPr>
          <p:sp>
            <p:nvSpPr>
              <p:cNvPr name="Freeform 33" id="33"/>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F8F7F6"/>
              </a:solidFill>
            </p:spPr>
          </p:sp>
          <p:sp>
            <p:nvSpPr>
              <p:cNvPr name="TextBox 34" id="34"/>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35" id="35"/>
            <p:cNvSpPr/>
            <p:nvPr/>
          </p:nvSpPr>
          <p:spPr>
            <a:xfrm>
              <a:off x="0" y="198437"/>
              <a:ext cx="8302442" cy="0"/>
            </a:xfrm>
            <a:prstGeom prst="line">
              <a:avLst/>
            </a:prstGeom>
            <a:ln cap="flat" w="50800">
              <a:solidFill>
                <a:srgbClr val="F8F7F6"/>
              </a:solidFill>
              <a:prstDash val="solid"/>
              <a:headEnd type="none" len="sm" w="sm"/>
              <a:tailEnd type="none" len="sm" w="sm"/>
            </a:ln>
          </p:spPr>
        </p:sp>
      </p:grpSp>
      <p:sp>
        <p:nvSpPr>
          <p:cNvPr name="Freeform 36" id="36"/>
          <p:cNvSpPr/>
          <p:nvPr/>
        </p:nvSpPr>
        <p:spPr>
          <a:xfrm flipH="false" flipV="false" rot="0">
            <a:off x="16914174" y="9458325"/>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
        <p:nvSpPr>
          <p:cNvPr name="Freeform 37" id="37"/>
          <p:cNvSpPr/>
          <p:nvPr/>
        </p:nvSpPr>
        <p:spPr>
          <a:xfrm flipH="false" flipV="false" rot="0">
            <a:off x="6490014"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7349217"/>
            <a:ext cx="169995" cy="1259681"/>
            <a:chOff x="0" y="0"/>
            <a:chExt cx="44772" cy="331768"/>
          </a:xfrm>
        </p:grpSpPr>
        <p:sp>
          <p:nvSpPr>
            <p:cNvPr name="Freeform 4" id="4"/>
            <p:cNvSpPr/>
            <p:nvPr/>
          </p:nvSpPr>
          <p:spPr>
            <a:xfrm flipH="false" flipV="false" rot="0">
              <a:off x="0" y="0"/>
              <a:ext cx="44772" cy="331768"/>
            </a:xfrm>
            <a:custGeom>
              <a:avLst/>
              <a:gdLst/>
              <a:ahLst/>
              <a:cxnLst/>
              <a:rect r="r" b="b" t="t" l="l"/>
              <a:pathLst>
                <a:path h="331768" w="44772">
                  <a:moveTo>
                    <a:pt x="0" y="0"/>
                  </a:moveTo>
                  <a:lnTo>
                    <a:pt x="44772" y="0"/>
                  </a:lnTo>
                  <a:lnTo>
                    <a:pt x="44772" y="331768"/>
                  </a:lnTo>
                  <a:lnTo>
                    <a:pt x="0" y="331768"/>
                  </a:lnTo>
                  <a:close/>
                </a:path>
              </a:pathLst>
            </a:custGeom>
            <a:solidFill>
              <a:srgbClr val="141414"/>
            </a:solidFill>
          </p:spPr>
        </p:sp>
        <p:sp>
          <p:nvSpPr>
            <p:cNvPr name="TextBox 5" id="5"/>
            <p:cNvSpPr txBox="true"/>
            <p:nvPr/>
          </p:nvSpPr>
          <p:spPr>
            <a:xfrm>
              <a:off x="0" y="-38100"/>
              <a:ext cx="44772" cy="369868"/>
            </a:xfrm>
            <a:prstGeom prst="rect">
              <a:avLst/>
            </a:prstGeom>
          </p:spPr>
          <p:txBody>
            <a:bodyPr anchor="ctr" rtlCol="false" tIns="50800" lIns="50800" bIns="50800" rIns="50800"/>
            <a:lstStyle/>
            <a:p>
              <a:pPr algn="ctr" marL="0" indent="0" lvl="0">
                <a:lnSpc>
                  <a:spcPts val="3359"/>
                </a:lnSpc>
              </a:pPr>
            </a:p>
          </p:txBody>
        </p:sp>
      </p:grpSp>
      <p:grpSp>
        <p:nvGrpSpPr>
          <p:cNvPr name="Group 6" id="6"/>
          <p:cNvGrpSpPr/>
          <p:nvPr/>
        </p:nvGrpSpPr>
        <p:grpSpPr>
          <a:xfrm rot="0">
            <a:off x="1028651" y="4449560"/>
            <a:ext cx="7347839" cy="186928"/>
            <a:chOff x="0" y="0"/>
            <a:chExt cx="9797119" cy="249237"/>
          </a:xfrm>
        </p:grpSpPr>
        <p:grpSp>
          <p:nvGrpSpPr>
            <p:cNvPr name="Group 7" id="7"/>
            <p:cNvGrpSpPr/>
            <p:nvPr/>
          </p:nvGrpSpPr>
          <p:grpSpPr>
            <a:xfrm rot="0">
              <a:off x="66" y="0"/>
              <a:ext cx="1674460" cy="223837"/>
              <a:chOff x="0" y="0"/>
              <a:chExt cx="330758" cy="44215"/>
            </a:xfrm>
          </p:grpSpPr>
          <p:sp>
            <p:nvSpPr>
              <p:cNvPr name="Freeform 8" id="8"/>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9" id="9"/>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10" id="10"/>
            <p:cNvSpPr/>
            <p:nvPr/>
          </p:nvSpPr>
          <p:spPr>
            <a:xfrm>
              <a:off x="66" y="198437"/>
              <a:ext cx="9796987" cy="25400"/>
            </a:xfrm>
            <a:prstGeom prst="line">
              <a:avLst/>
            </a:prstGeom>
            <a:ln cap="flat" w="50800">
              <a:solidFill>
                <a:srgbClr val="141414"/>
              </a:solidFill>
              <a:prstDash val="solid"/>
              <a:headEnd type="none" len="sm" w="sm"/>
              <a:tailEnd type="none" len="sm" w="sm"/>
            </a:ln>
          </p:spPr>
        </p:sp>
      </p:grpSp>
      <p:grpSp>
        <p:nvGrpSpPr>
          <p:cNvPr name="Group 11" id="11"/>
          <p:cNvGrpSpPr/>
          <p:nvPr/>
        </p:nvGrpSpPr>
        <p:grpSpPr>
          <a:xfrm rot="-10800000">
            <a:off x="3879764" y="9258300"/>
            <a:ext cx="7347839" cy="186928"/>
            <a:chOff x="0" y="0"/>
            <a:chExt cx="9797119" cy="249237"/>
          </a:xfrm>
        </p:grpSpPr>
        <p:grpSp>
          <p:nvGrpSpPr>
            <p:cNvPr name="Group 12" id="12"/>
            <p:cNvGrpSpPr/>
            <p:nvPr/>
          </p:nvGrpSpPr>
          <p:grpSpPr>
            <a:xfrm rot="0">
              <a:off x="66" y="0"/>
              <a:ext cx="1674460" cy="223837"/>
              <a:chOff x="0" y="0"/>
              <a:chExt cx="330758" cy="44215"/>
            </a:xfrm>
          </p:grpSpPr>
          <p:sp>
            <p:nvSpPr>
              <p:cNvPr name="Freeform 13" id="13"/>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14" id="14"/>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15" id="15"/>
            <p:cNvSpPr/>
            <p:nvPr/>
          </p:nvSpPr>
          <p:spPr>
            <a:xfrm>
              <a:off x="66" y="198437"/>
              <a:ext cx="9796987" cy="25400"/>
            </a:xfrm>
            <a:prstGeom prst="line">
              <a:avLst/>
            </a:prstGeom>
            <a:ln cap="flat" w="50800">
              <a:solidFill>
                <a:srgbClr val="141414"/>
              </a:solidFill>
              <a:prstDash val="solid"/>
              <a:headEnd type="none" len="sm" w="sm"/>
              <a:tailEnd type="none" len="sm" w="sm"/>
            </a:ln>
          </p:spPr>
        </p:sp>
      </p:grpSp>
      <p:sp>
        <p:nvSpPr>
          <p:cNvPr name="Freeform 16" id="16"/>
          <p:cNvSpPr/>
          <p:nvPr/>
        </p:nvSpPr>
        <p:spPr>
          <a:xfrm flipH="false" flipV="false" rot="-3829531">
            <a:off x="-922581" y="165085"/>
            <a:ext cx="2409040" cy="3277605"/>
          </a:xfrm>
          <a:custGeom>
            <a:avLst/>
            <a:gdLst/>
            <a:ahLst/>
            <a:cxnLst/>
            <a:rect r="r" b="b" t="t" l="l"/>
            <a:pathLst>
              <a:path h="3277605" w="2409040">
                <a:moveTo>
                  <a:pt x="0" y="0"/>
                </a:moveTo>
                <a:lnTo>
                  <a:pt x="2409040" y="0"/>
                </a:lnTo>
                <a:lnTo>
                  <a:pt x="2409040" y="3277606"/>
                </a:lnTo>
                <a:lnTo>
                  <a:pt x="0" y="3277606"/>
                </a:lnTo>
                <a:lnTo>
                  <a:pt x="0" y="0"/>
                </a:lnTo>
                <a:close/>
              </a:path>
            </a:pathLst>
          </a:custGeom>
          <a:blipFill>
            <a:blip r:embed="rId3"/>
            <a:stretch>
              <a:fillRect l="0" t="0" r="0" b="0"/>
            </a:stretch>
          </a:blipFill>
        </p:spPr>
      </p:sp>
      <p:sp>
        <p:nvSpPr>
          <p:cNvPr name="Freeform 17" id="17"/>
          <p:cNvSpPr/>
          <p:nvPr/>
        </p:nvSpPr>
        <p:spPr>
          <a:xfrm flipH="false" flipV="false" rot="0">
            <a:off x="281939" y="9351764"/>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
        <p:nvSpPr>
          <p:cNvPr name="Freeform 18" id="18"/>
          <p:cNvSpPr/>
          <p:nvPr/>
        </p:nvSpPr>
        <p:spPr>
          <a:xfrm flipH="false" flipV="false" rot="0">
            <a:off x="9291432" y="307390"/>
            <a:ext cx="7597394" cy="9371871"/>
          </a:xfrm>
          <a:custGeom>
            <a:avLst/>
            <a:gdLst/>
            <a:ahLst/>
            <a:cxnLst/>
            <a:rect r="r" b="b" t="t" l="l"/>
            <a:pathLst>
              <a:path h="9371871" w="7597394">
                <a:moveTo>
                  <a:pt x="0" y="0"/>
                </a:moveTo>
                <a:lnTo>
                  <a:pt x="7597394" y="0"/>
                </a:lnTo>
                <a:lnTo>
                  <a:pt x="7597394" y="9371872"/>
                </a:lnTo>
                <a:lnTo>
                  <a:pt x="0" y="9371872"/>
                </a:lnTo>
                <a:lnTo>
                  <a:pt x="0" y="0"/>
                </a:lnTo>
                <a:close/>
              </a:path>
            </a:pathLst>
          </a:custGeom>
          <a:blipFill>
            <a:blip r:embed="rId6"/>
            <a:stretch>
              <a:fillRect l="0" t="0" r="0" b="0"/>
            </a:stretch>
          </a:blipFill>
        </p:spPr>
      </p:sp>
      <p:sp>
        <p:nvSpPr>
          <p:cNvPr name="TextBox 19" id="19"/>
          <p:cNvSpPr txBox="true"/>
          <p:nvPr/>
        </p:nvSpPr>
        <p:spPr>
          <a:xfrm rot="0">
            <a:off x="1028700" y="4836513"/>
            <a:ext cx="11772154" cy="884099"/>
          </a:xfrm>
          <a:prstGeom prst="rect">
            <a:avLst/>
          </a:prstGeom>
        </p:spPr>
        <p:txBody>
          <a:bodyPr anchor="t" rtlCol="false" tIns="0" lIns="0" bIns="0" rIns="0">
            <a:spAutoFit/>
          </a:bodyPr>
          <a:lstStyle/>
          <a:p>
            <a:pPr algn="l" marL="0" indent="0" lvl="0">
              <a:lnSpc>
                <a:spcPts val="7001"/>
              </a:lnSpc>
            </a:pPr>
            <a:r>
              <a:rPr lang="en-US" sz="5385">
                <a:solidFill>
                  <a:srgbClr val="141414"/>
                </a:solidFill>
                <a:latin typeface="Pattanakarn SemiExpanded Light"/>
                <a:ea typeface="Pattanakarn SemiExpanded Light"/>
                <a:cs typeface="Pattanakarn SemiExpanded Light"/>
                <a:sym typeface="Pattanakarn SemiExpanded Light"/>
              </a:rPr>
              <a:t>DEMO WEB</a:t>
            </a:r>
          </a:p>
        </p:txBody>
      </p:sp>
      <p:sp>
        <p:nvSpPr>
          <p:cNvPr name="TextBox 20" id="20"/>
          <p:cNvSpPr txBox="true"/>
          <p:nvPr/>
        </p:nvSpPr>
        <p:spPr>
          <a:xfrm rot="0">
            <a:off x="1028700" y="5929983"/>
            <a:ext cx="10585059" cy="884099"/>
          </a:xfrm>
          <a:prstGeom prst="rect">
            <a:avLst/>
          </a:prstGeom>
        </p:spPr>
        <p:txBody>
          <a:bodyPr anchor="t" rtlCol="false" tIns="0" lIns="0" bIns="0" rIns="0">
            <a:spAutoFit/>
          </a:bodyPr>
          <a:lstStyle/>
          <a:p>
            <a:pPr algn="l" marL="0" indent="0" lvl="0">
              <a:lnSpc>
                <a:spcPts val="7001"/>
              </a:lnSpc>
            </a:pPr>
            <a:r>
              <a:rPr lang="en-US" b="true" sz="5385">
                <a:solidFill>
                  <a:srgbClr val="141414"/>
                </a:solidFill>
                <a:latin typeface="Pattanakarn SemiExpanded Medium"/>
                <a:ea typeface="Pattanakarn SemiExpanded Medium"/>
                <a:cs typeface="Pattanakarn SemiExpanded Medium"/>
                <a:sym typeface="Pattanakarn SemiExpanded Medium"/>
              </a:rPr>
              <a:t>GIAO DIỆN DỰ ĐOÁN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7349217"/>
            <a:ext cx="169995" cy="1259681"/>
            <a:chOff x="0" y="0"/>
            <a:chExt cx="44772" cy="331768"/>
          </a:xfrm>
        </p:grpSpPr>
        <p:sp>
          <p:nvSpPr>
            <p:cNvPr name="Freeform 4" id="4"/>
            <p:cNvSpPr/>
            <p:nvPr/>
          </p:nvSpPr>
          <p:spPr>
            <a:xfrm flipH="false" flipV="false" rot="0">
              <a:off x="0" y="0"/>
              <a:ext cx="44772" cy="331768"/>
            </a:xfrm>
            <a:custGeom>
              <a:avLst/>
              <a:gdLst/>
              <a:ahLst/>
              <a:cxnLst/>
              <a:rect r="r" b="b" t="t" l="l"/>
              <a:pathLst>
                <a:path h="331768" w="44772">
                  <a:moveTo>
                    <a:pt x="0" y="0"/>
                  </a:moveTo>
                  <a:lnTo>
                    <a:pt x="44772" y="0"/>
                  </a:lnTo>
                  <a:lnTo>
                    <a:pt x="44772" y="331768"/>
                  </a:lnTo>
                  <a:lnTo>
                    <a:pt x="0" y="331768"/>
                  </a:lnTo>
                  <a:close/>
                </a:path>
              </a:pathLst>
            </a:custGeom>
            <a:solidFill>
              <a:srgbClr val="141414"/>
            </a:solidFill>
          </p:spPr>
        </p:sp>
        <p:sp>
          <p:nvSpPr>
            <p:cNvPr name="TextBox 5" id="5"/>
            <p:cNvSpPr txBox="true"/>
            <p:nvPr/>
          </p:nvSpPr>
          <p:spPr>
            <a:xfrm>
              <a:off x="0" y="-38100"/>
              <a:ext cx="44772" cy="369868"/>
            </a:xfrm>
            <a:prstGeom prst="rect">
              <a:avLst/>
            </a:prstGeom>
          </p:spPr>
          <p:txBody>
            <a:bodyPr anchor="ctr" rtlCol="false" tIns="50800" lIns="50800" bIns="50800" rIns="50800"/>
            <a:lstStyle/>
            <a:p>
              <a:pPr algn="ctr" marL="0" indent="0" lvl="0">
                <a:lnSpc>
                  <a:spcPts val="3359"/>
                </a:lnSpc>
              </a:pPr>
            </a:p>
          </p:txBody>
        </p:sp>
      </p:grpSp>
      <p:grpSp>
        <p:nvGrpSpPr>
          <p:cNvPr name="Group 6" id="6"/>
          <p:cNvGrpSpPr/>
          <p:nvPr/>
        </p:nvGrpSpPr>
        <p:grpSpPr>
          <a:xfrm rot="0">
            <a:off x="1198695" y="7349217"/>
            <a:ext cx="10466483" cy="1259681"/>
            <a:chOff x="0" y="0"/>
            <a:chExt cx="2756605" cy="331768"/>
          </a:xfrm>
        </p:grpSpPr>
        <p:sp>
          <p:nvSpPr>
            <p:cNvPr name="Freeform 7" id="7"/>
            <p:cNvSpPr/>
            <p:nvPr/>
          </p:nvSpPr>
          <p:spPr>
            <a:xfrm flipH="false" flipV="false" rot="0">
              <a:off x="0" y="0"/>
              <a:ext cx="2756605" cy="331768"/>
            </a:xfrm>
            <a:custGeom>
              <a:avLst/>
              <a:gdLst/>
              <a:ahLst/>
              <a:cxnLst/>
              <a:rect r="r" b="b" t="t" l="l"/>
              <a:pathLst>
                <a:path h="331768" w="2756605">
                  <a:moveTo>
                    <a:pt x="0" y="0"/>
                  </a:moveTo>
                  <a:lnTo>
                    <a:pt x="2756605" y="0"/>
                  </a:lnTo>
                  <a:lnTo>
                    <a:pt x="2756605" y="331768"/>
                  </a:lnTo>
                  <a:lnTo>
                    <a:pt x="0" y="331768"/>
                  </a:lnTo>
                  <a:close/>
                </a:path>
              </a:pathLst>
            </a:custGeom>
            <a:gradFill rotWithShape="true">
              <a:gsLst>
                <a:gs pos="0">
                  <a:srgbClr val="C4C4C4">
                    <a:alpha val="100000"/>
                  </a:srgbClr>
                </a:gs>
                <a:gs pos="100000">
                  <a:srgbClr val="FFFFFF">
                    <a:alpha val="0"/>
                  </a:srgbClr>
                </a:gs>
              </a:gsLst>
              <a:lin ang="0"/>
            </a:gradFill>
          </p:spPr>
        </p:sp>
        <p:sp>
          <p:nvSpPr>
            <p:cNvPr name="TextBox 8" id="8"/>
            <p:cNvSpPr txBox="true"/>
            <p:nvPr/>
          </p:nvSpPr>
          <p:spPr>
            <a:xfrm>
              <a:off x="0" y="-38100"/>
              <a:ext cx="2756605" cy="369868"/>
            </a:xfrm>
            <a:prstGeom prst="rect">
              <a:avLst/>
            </a:prstGeom>
          </p:spPr>
          <p:txBody>
            <a:bodyPr anchor="ctr" rtlCol="false" tIns="50800" lIns="50800" bIns="50800" rIns="50800"/>
            <a:lstStyle/>
            <a:p>
              <a:pPr algn="ctr" marL="0" indent="0" lvl="0">
                <a:lnSpc>
                  <a:spcPts val="3359"/>
                </a:lnSpc>
              </a:pPr>
            </a:p>
          </p:txBody>
        </p:sp>
      </p:grpSp>
      <p:grpSp>
        <p:nvGrpSpPr>
          <p:cNvPr name="Group 9" id="9"/>
          <p:cNvGrpSpPr/>
          <p:nvPr/>
        </p:nvGrpSpPr>
        <p:grpSpPr>
          <a:xfrm rot="0">
            <a:off x="1028651" y="4449560"/>
            <a:ext cx="7347839" cy="186928"/>
            <a:chOff x="0" y="0"/>
            <a:chExt cx="9797119" cy="249237"/>
          </a:xfrm>
        </p:grpSpPr>
        <p:grpSp>
          <p:nvGrpSpPr>
            <p:cNvPr name="Group 10" id="10"/>
            <p:cNvGrpSpPr/>
            <p:nvPr/>
          </p:nvGrpSpPr>
          <p:grpSpPr>
            <a:xfrm rot="0">
              <a:off x="66" y="0"/>
              <a:ext cx="1674460" cy="223837"/>
              <a:chOff x="0" y="0"/>
              <a:chExt cx="330758" cy="44215"/>
            </a:xfrm>
          </p:grpSpPr>
          <p:sp>
            <p:nvSpPr>
              <p:cNvPr name="Freeform 11" id="11"/>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12" id="12"/>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13" id="13"/>
            <p:cNvSpPr/>
            <p:nvPr/>
          </p:nvSpPr>
          <p:spPr>
            <a:xfrm>
              <a:off x="66" y="198437"/>
              <a:ext cx="9796987" cy="25400"/>
            </a:xfrm>
            <a:prstGeom prst="line">
              <a:avLst/>
            </a:prstGeom>
            <a:ln cap="flat" w="50800">
              <a:solidFill>
                <a:srgbClr val="141414"/>
              </a:solidFill>
              <a:prstDash val="solid"/>
              <a:headEnd type="none" len="sm" w="sm"/>
              <a:tailEnd type="none" len="sm" w="sm"/>
            </a:ln>
          </p:spPr>
        </p:sp>
      </p:grpSp>
      <p:grpSp>
        <p:nvGrpSpPr>
          <p:cNvPr name="Group 14" id="14"/>
          <p:cNvGrpSpPr/>
          <p:nvPr/>
        </p:nvGrpSpPr>
        <p:grpSpPr>
          <a:xfrm rot="-10800000">
            <a:off x="3879764" y="9258300"/>
            <a:ext cx="7347839" cy="186928"/>
            <a:chOff x="0" y="0"/>
            <a:chExt cx="9797119" cy="249237"/>
          </a:xfrm>
        </p:grpSpPr>
        <p:grpSp>
          <p:nvGrpSpPr>
            <p:cNvPr name="Group 15" id="15"/>
            <p:cNvGrpSpPr/>
            <p:nvPr/>
          </p:nvGrpSpPr>
          <p:grpSpPr>
            <a:xfrm rot="0">
              <a:off x="66" y="0"/>
              <a:ext cx="1674460" cy="223837"/>
              <a:chOff x="0" y="0"/>
              <a:chExt cx="330758" cy="44215"/>
            </a:xfrm>
          </p:grpSpPr>
          <p:sp>
            <p:nvSpPr>
              <p:cNvPr name="Freeform 16" id="16"/>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17" id="17"/>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18" id="18"/>
            <p:cNvSpPr/>
            <p:nvPr/>
          </p:nvSpPr>
          <p:spPr>
            <a:xfrm>
              <a:off x="66" y="198437"/>
              <a:ext cx="9796987" cy="25400"/>
            </a:xfrm>
            <a:prstGeom prst="line">
              <a:avLst/>
            </a:prstGeom>
            <a:ln cap="flat" w="50800">
              <a:solidFill>
                <a:srgbClr val="141414"/>
              </a:solidFill>
              <a:prstDash val="solid"/>
              <a:headEnd type="none" len="sm" w="sm"/>
              <a:tailEnd type="none" len="sm" w="sm"/>
            </a:ln>
          </p:spPr>
        </p:sp>
      </p:grpSp>
      <p:sp>
        <p:nvSpPr>
          <p:cNvPr name="Freeform 19" id="19"/>
          <p:cNvSpPr/>
          <p:nvPr/>
        </p:nvSpPr>
        <p:spPr>
          <a:xfrm flipH="false" flipV="false" rot="0">
            <a:off x="281939" y="9351764"/>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
        <p:nvSpPr>
          <p:cNvPr name="Freeform 20" id="20"/>
          <p:cNvSpPr/>
          <p:nvPr/>
        </p:nvSpPr>
        <p:spPr>
          <a:xfrm flipH="false" flipV="false" rot="0">
            <a:off x="9883663" y="0"/>
            <a:ext cx="6974496" cy="9866360"/>
          </a:xfrm>
          <a:custGeom>
            <a:avLst/>
            <a:gdLst/>
            <a:ahLst/>
            <a:cxnLst/>
            <a:rect r="r" b="b" t="t" l="l"/>
            <a:pathLst>
              <a:path h="9866360" w="6974496">
                <a:moveTo>
                  <a:pt x="0" y="0"/>
                </a:moveTo>
                <a:lnTo>
                  <a:pt x="6974496" y="0"/>
                </a:lnTo>
                <a:lnTo>
                  <a:pt x="6974496" y="9866360"/>
                </a:lnTo>
                <a:lnTo>
                  <a:pt x="0" y="9866360"/>
                </a:lnTo>
                <a:lnTo>
                  <a:pt x="0" y="0"/>
                </a:lnTo>
                <a:close/>
              </a:path>
            </a:pathLst>
          </a:custGeom>
          <a:blipFill>
            <a:blip r:embed="rId5"/>
            <a:stretch>
              <a:fillRect l="0" t="0" r="0" b="0"/>
            </a:stretch>
          </a:blipFill>
        </p:spPr>
      </p:sp>
      <p:sp>
        <p:nvSpPr>
          <p:cNvPr name="TextBox 21" id="21"/>
          <p:cNvSpPr txBox="true"/>
          <p:nvPr/>
        </p:nvSpPr>
        <p:spPr>
          <a:xfrm rot="0">
            <a:off x="1028700" y="4826988"/>
            <a:ext cx="11772154" cy="1165924"/>
          </a:xfrm>
          <a:prstGeom prst="rect">
            <a:avLst/>
          </a:prstGeom>
        </p:spPr>
        <p:txBody>
          <a:bodyPr anchor="t" rtlCol="false" tIns="0" lIns="0" bIns="0" rIns="0">
            <a:spAutoFit/>
          </a:bodyPr>
          <a:lstStyle/>
          <a:p>
            <a:pPr algn="l" marL="0" indent="0" lvl="0">
              <a:lnSpc>
                <a:spcPts val="9353"/>
              </a:lnSpc>
            </a:pPr>
            <a:r>
              <a:rPr lang="en-US" sz="7194">
                <a:solidFill>
                  <a:srgbClr val="141414"/>
                </a:solidFill>
                <a:latin typeface="Pattanakarn SemiExpanded Light"/>
                <a:ea typeface="Pattanakarn SemiExpanded Light"/>
                <a:cs typeface="Pattanakarn SemiExpanded Light"/>
                <a:sym typeface="Pattanakarn SemiExpanded Light"/>
              </a:rPr>
              <a:t>LỊCH SỬ</a:t>
            </a:r>
          </a:p>
        </p:txBody>
      </p:sp>
      <p:sp>
        <p:nvSpPr>
          <p:cNvPr name="TextBox 22" id="22"/>
          <p:cNvSpPr txBox="true"/>
          <p:nvPr/>
        </p:nvSpPr>
        <p:spPr>
          <a:xfrm rot="0">
            <a:off x="1028700" y="5920458"/>
            <a:ext cx="10585059" cy="1165924"/>
          </a:xfrm>
          <a:prstGeom prst="rect">
            <a:avLst/>
          </a:prstGeom>
        </p:spPr>
        <p:txBody>
          <a:bodyPr anchor="t" rtlCol="false" tIns="0" lIns="0" bIns="0" rIns="0">
            <a:spAutoFit/>
          </a:bodyPr>
          <a:lstStyle/>
          <a:p>
            <a:pPr algn="l" marL="0" indent="0" lvl="0">
              <a:lnSpc>
                <a:spcPts val="9353"/>
              </a:lnSpc>
            </a:pPr>
            <a:r>
              <a:rPr lang="en-US" b="true" sz="7194">
                <a:solidFill>
                  <a:srgbClr val="141414"/>
                </a:solidFill>
                <a:latin typeface="Pattanakarn SemiExpanded Medium"/>
                <a:ea typeface="Pattanakarn SemiExpanded Medium"/>
                <a:cs typeface="Pattanakarn SemiExpanded Medium"/>
                <a:sym typeface="Pattanakarn SemiExpanded Medium"/>
              </a:rPr>
              <a:t>DỰ ĐOÁN</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28700" y="5095875"/>
            <a:ext cx="7347740" cy="804070"/>
          </a:xfrm>
          <a:prstGeom prst="rect">
            <a:avLst/>
          </a:prstGeom>
        </p:spPr>
        <p:txBody>
          <a:bodyPr anchor="t" rtlCol="false" tIns="0" lIns="0" bIns="0" rIns="0">
            <a:spAutoFit/>
          </a:bodyPr>
          <a:lstStyle/>
          <a:p>
            <a:pPr algn="l" marL="0" indent="0" lvl="0">
              <a:lnSpc>
                <a:spcPts val="6492"/>
              </a:lnSpc>
            </a:pPr>
            <a:r>
              <a:rPr lang="en-US" sz="4994">
                <a:solidFill>
                  <a:srgbClr val="141414"/>
                </a:solidFill>
                <a:latin typeface="Pattanakarn SemiExpanded Light"/>
                <a:ea typeface="Pattanakarn SemiExpanded Light"/>
                <a:cs typeface="Pattanakarn SemiExpanded Light"/>
                <a:sym typeface="Pattanakarn SemiExpanded Light"/>
              </a:rPr>
              <a:t>TRIỂN KHAI</a:t>
            </a:r>
          </a:p>
        </p:txBody>
      </p:sp>
      <p:sp>
        <p:nvSpPr>
          <p:cNvPr name="TextBox 4" id="4"/>
          <p:cNvSpPr txBox="true"/>
          <p:nvPr/>
        </p:nvSpPr>
        <p:spPr>
          <a:xfrm rot="0">
            <a:off x="1028700" y="5854920"/>
            <a:ext cx="7347740" cy="1623944"/>
          </a:xfrm>
          <a:prstGeom prst="rect">
            <a:avLst/>
          </a:prstGeom>
        </p:spPr>
        <p:txBody>
          <a:bodyPr anchor="t" rtlCol="false" tIns="0" lIns="0" bIns="0" rIns="0">
            <a:spAutoFit/>
          </a:bodyPr>
          <a:lstStyle/>
          <a:p>
            <a:pPr algn="l" marL="0" indent="0" lvl="0">
              <a:lnSpc>
                <a:spcPts val="6492"/>
              </a:lnSpc>
            </a:pPr>
            <a:r>
              <a:rPr lang="en-US" b="true" sz="4994">
                <a:solidFill>
                  <a:srgbClr val="141414"/>
                </a:solidFill>
                <a:latin typeface="Pattanakarn SemiExpanded Medium"/>
                <a:ea typeface="Pattanakarn SemiExpanded Medium"/>
                <a:cs typeface="Pattanakarn SemiExpanded Medium"/>
                <a:sym typeface="Pattanakarn SemiExpanded Medium"/>
              </a:rPr>
              <a:t>KIẾN TRÚC TRIỂN KHAI THỰC TẾ</a:t>
            </a:r>
          </a:p>
        </p:txBody>
      </p:sp>
      <p:grpSp>
        <p:nvGrpSpPr>
          <p:cNvPr name="Group 5" id="5"/>
          <p:cNvGrpSpPr/>
          <p:nvPr/>
        </p:nvGrpSpPr>
        <p:grpSpPr>
          <a:xfrm rot="0">
            <a:off x="8719167" y="2147771"/>
            <a:ext cx="795315" cy="7953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8" id="8"/>
          <p:cNvGrpSpPr/>
          <p:nvPr/>
        </p:nvGrpSpPr>
        <p:grpSpPr>
          <a:xfrm rot="0">
            <a:off x="13152846" y="2147771"/>
            <a:ext cx="795315" cy="79531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1" id="11"/>
          <p:cNvGrpSpPr/>
          <p:nvPr/>
        </p:nvGrpSpPr>
        <p:grpSpPr>
          <a:xfrm rot="0">
            <a:off x="8719167" y="5928221"/>
            <a:ext cx="795315" cy="79531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4" id="14"/>
          <p:cNvGrpSpPr/>
          <p:nvPr/>
        </p:nvGrpSpPr>
        <p:grpSpPr>
          <a:xfrm rot="0">
            <a:off x="13152846" y="5928221"/>
            <a:ext cx="795315" cy="79531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141414"/>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sp>
        <p:nvSpPr>
          <p:cNvPr name="TextBox 17" id="17"/>
          <p:cNvSpPr txBox="true"/>
          <p:nvPr/>
        </p:nvSpPr>
        <p:spPr>
          <a:xfrm rot="0">
            <a:off x="8862064" y="2336831"/>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01</a:t>
            </a:r>
          </a:p>
        </p:txBody>
      </p:sp>
      <p:sp>
        <p:nvSpPr>
          <p:cNvPr name="TextBox 18" id="18"/>
          <p:cNvSpPr txBox="true"/>
          <p:nvPr/>
        </p:nvSpPr>
        <p:spPr>
          <a:xfrm rot="0">
            <a:off x="13295743" y="2336831"/>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02</a:t>
            </a:r>
          </a:p>
        </p:txBody>
      </p:sp>
      <p:sp>
        <p:nvSpPr>
          <p:cNvPr name="TextBox 19" id="19"/>
          <p:cNvSpPr txBox="true"/>
          <p:nvPr/>
        </p:nvSpPr>
        <p:spPr>
          <a:xfrm rot="0">
            <a:off x="8862064"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03</a:t>
            </a:r>
          </a:p>
        </p:txBody>
      </p:sp>
      <p:sp>
        <p:nvSpPr>
          <p:cNvPr name="TextBox 20" id="20"/>
          <p:cNvSpPr txBox="true"/>
          <p:nvPr/>
        </p:nvSpPr>
        <p:spPr>
          <a:xfrm rot="0">
            <a:off x="13295743" y="6117281"/>
            <a:ext cx="509522" cy="388641"/>
          </a:xfrm>
          <a:prstGeom prst="rect">
            <a:avLst/>
          </a:prstGeom>
        </p:spPr>
        <p:txBody>
          <a:bodyPr anchor="t" rtlCol="false" tIns="0" lIns="0" bIns="0" rIns="0">
            <a:spAutoFit/>
          </a:bodyPr>
          <a:lstStyle/>
          <a:p>
            <a:pPr algn="ctr" marL="0" indent="0" lvl="0">
              <a:lnSpc>
                <a:spcPts val="3117"/>
              </a:lnSpc>
            </a:pPr>
            <a:r>
              <a:rPr lang="en-US" sz="2398">
                <a:solidFill>
                  <a:srgbClr val="141414"/>
                </a:solidFill>
                <a:latin typeface="Pattanakarn SemiExpanded Light"/>
                <a:ea typeface="Pattanakarn SemiExpanded Light"/>
                <a:cs typeface="Pattanakarn SemiExpanded Light"/>
                <a:sym typeface="Pattanakarn SemiExpanded Light"/>
              </a:rPr>
              <a:t>04</a:t>
            </a:r>
          </a:p>
        </p:txBody>
      </p:sp>
      <p:sp>
        <p:nvSpPr>
          <p:cNvPr name="TextBox 21" id="21"/>
          <p:cNvSpPr txBox="true"/>
          <p:nvPr/>
        </p:nvSpPr>
        <p:spPr>
          <a:xfrm rot="0">
            <a:off x="8719167" y="3886061"/>
            <a:ext cx="4106454" cy="1470698"/>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Nền tảng: Vercel</a:t>
            </a:r>
          </a:p>
          <a:p>
            <a:pPr algn="l" marL="0" indent="0" lvl="0">
              <a:lnSpc>
                <a:spcPts val="2937"/>
              </a:lnSpc>
            </a:pPr>
            <a:r>
              <a:rPr lang="en-US" sz="2098">
                <a:solidFill>
                  <a:srgbClr val="141414"/>
                </a:solidFill>
                <a:latin typeface="Proxima Nova Light"/>
                <a:ea typeface="Proxima Nova Light"/>
                <a:cs typeface="Proxima Nova Light"/>
                <a:sym typeface="Proxima Nova Light"/>
              </a:rPr>
              <a:t>• Triển khai giao diện Next.js</a:t>
            </a:r>
          </a:p>
          <a:p>
            <a:pPr algn="l" marL="0" indent="0" lvl="0">
              <a:lnSpc>
                <a:spcPts val="2937"/>
              </a:lnSpc>
            </a:pPr>
            <a:r>
              <a:rPr lang="en-US" sz="2098">
                <a:solidFill>
                  <a:srgbClr val="141414"/>
                </a:solidFill>
                <a:latin typeface="Proxima Nova Light"/>
                <a:ea typeface="Proxima Nova Light"/>
                <a:cs typeface="Proxima Nova Light"/>
                <a:sym typeface="Proxima Nova Light"/>
              </a:rPr>
              <a:t>• Tự động deploy từ GitHub</a:t>
            </a:r>
          </a:p>
          <a:p>
            <a:pPr algn="l" marL="0" indent="0" lvl="0">
              <a:lnSpc>
                <a:spcPts val="2937"/>
              </a:lnSpc>
            </a:pPr>
            <a:r>
              <a:rPr lang="en-US" sz="2098">
                <a:solidFill>
                  <a:srgbClr val="141414"/>
                </a:solidFill>
                <a:latin typeface="Proxima Nova Light"/>
                <a:ea typeface="Proxima Nova Light"/>
                <a:cs typeface="Proxima Nova Light"/>
                <a:sym typeface="Proxima Nova Light"/>
              </a:rPr>
              <a:t>• Hỗ trợ HTTPS mặc định</a:t>
            </a:r>
          </a:p>
        </p:txBody>
      </p:sp>
      <p:sp>
        <p:nvSpPr>
          <p:cNvPr name="TextBox 22" id="22"/>
          <p:cNvSpPr txBox="true"/>
          <p:nvPr/>
        </p:nvSpPr>
        <p:spPr>
          <a:xfrm rot="0">
            <a:off x="13152846" y="3886061"/>
            <a:ext cx="4106454" cy="1470698"/>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Nền tảng: Render</a:t>
            </a:r>
          </a:p>
          <a:p>
            <a:pPr algn="l" marL="0" indent="0" lvl="0">
              <a:lnSpc>
                <a:spcPts val="2937"/>
              </a:lnSpc>
            </a:pPr>
            <a:r>
              <a:rPr lang="en-US" sz="2098">
                <a:solidFill>
                  <a:srgbClr val="141414"/>
                </a:solidFill>
                <a:latin typeface="Proxima Nova Light"/>
                <a:ea typeface="Proxima Nova Light"/>
                <a:cs typeface="Proxima Nova Light"/>
                <a:sym typeface="Proxima Nova Light"/>
              </a:rPr>
              <a:t>• Chạy Node.js/Express Backend</a:t>
            </a:r>
          </a:p>
          <a:p>
            <a:pPr algn="l" marL="0" indent="0" lvl="0">
              <a:lnSpc>
                <a:spcPts val="2937"/>
              </a:lnSpc>
            </a:pPr>
            <a:r>
              <a:rPr lang="en-US" sz="2098">
                <a:solidFill>
                  <a:srgbClr val="141414"/>
                </a:solidFill>
                <a:latin typeface="Proxima Nova Light"/>
                <a:ea typeface="Proxima Nova Light"/>
                <a:cs typeface="Proxima Nova Light"/>
                <a:sym typeface="Proxima Nova Light"/>
              </a:rPr>
              <a:t>• Kết nối MongoDB Atlas</a:t>
            </a:r>
          </a:p>
          <a:p>
            <a:pPr algn="l" marL="0" indent="0" lvl="0">
              <a:lnSpc>
                <a:spcPts val="2937"/>
              </a:lnSpc>
            </a:pPr>
            <a:r>
              <a:rPr lang="en-US" sz="2098">
                <a:solidFill>
                  <a:srgbClr val="141414"/>
                </a:solidFill>
                <a:latin typeface="Proxima Nova Light"/>
                <a:ea typeface="Proxima Nova Light"/>
                <a:cs typeface="Proxima Nova Light"/>
                <a:sym typeface="Proxima Nova Light"/>
              </a:rPr>
              <a:t>• Gọi AI Service qua tunnel</a:t>
            </a:r>
          </a:p>
        </p:txBody>
      </p:sp>
      <p:sp>
        <p:nvSpPr>
          <p:cNvPr name="TextBox 23" id="23"/>
          <p:cNvSpPr txBox="true"/>
          <p:nvPr/>
        </p:nvSpPr>
        <p:spPr>
          <a:xfrm rot="0">
            <a:off x="8719167" y="7666512"/>
            <a:ext cx="4106454" cy="1470698"/>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Nền tảng: FastAPI + ngrok</a:t>
            </a:r>
          </a:p>
          <a:p>
            <a:pPr algn="l" marL="0" indent="0" lvl="0">
              <a:lnSpc>
                <a:spcPts val="2937"/>
              </a:lnSpc>
            </a:pPr>
            <a:r>
              <a:rPr lang="en-US" sz="2098">
                <a:solidFill>
                  <a:srgbClr val="141414"/>
                </a:solidFill>
                <a:latin typeface="Proxima Nova Light"/>
                <a:ea typeface="Proxima Nova Light"/>
                <a:cs typeface="Proxima Nova Light"/>
                <a:sym typeface="Proxima Nova Light"/>
              </a:rPr>
              <a:t>• Chạy mô hình Linear Regression</a:t>
            </a:r>
          </a:p>
          <a:p>
            <a:pPr algn="l" marL="0" indent="0" lvl="0">
              <a:lnSpc>
                <a:spcPts val="2937"/>
              </a:lnSpc>
            </a:pPr>
            <a:r>
              <a:rPr lang="en-US" sz="2098">
                <a:solidFill>
                  <a:srgbClr val="141414"/>
                </a:solidFill>
                <a:latin typeface="Proxima Nova Light"/>
                <a:ea typeface="Proxima Nova Light"/>
                <a:cs typeface="Proxima Nova Light"/>
                <a:sym typeface="Proxima Nova Light"/>
              </a:rPr>
              <a:t>• Dùng ngrok tạo tunnel</a:t>
            </a:r>
          </a:p>
          <a:p>
            <a:pPr algn="l" marL="0" indent="0" lvl="0">
              <a:lnSpc>
                <a:spcPts val="2937"/>
              </a:lnSpc>
            </a:pPr>
            <a:r>
              <a:rPr lang="en-US" sz="2098">
                <a:solidFill>
                  <a:srgbClr val="141414"/>
                </a:solidFill>
                <a:latin typeface="Proxima Nova Light"/>
                <a:ea typeface="Proxima Nova Light"/>
                <a:cs typeface="Proxima Nova Light"/>
                <a:sym typeface="Proxima Nova Light"/>
              </a:rPr>
              <a:t>• Không cần địa chỉ cố định</a:t>
            </a:r>
          </a:p>
        </p:txBody>
      </p:sp>
      <p:sp>
        <p:nvSpPr>
          <p:cNvPr name="TextBox 24" id="24"/>
          <p:cNvSpPr txBox="true"/>
          <p:nvPr/>
        </p:nvSpPr>
        <p:spPr>
          <a:xfrm rot="0">
            <a:off x="13152846" y="7666512"/>
            <a:ext cx="4106454" cy="1470698"/>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Nền tảng: MongoDB Atlas</a:t>
            </a:r>
          </a:p>
          <a:p>
            <a:pPr algn="l" marL="0" indent="0" lvl="0">
              <a:lnSpc>
                <a:spcPts val="2937"/>
              </a:lnSpc>
            </a:pPr>
            <a:r>
              <a:rPr lang="en-US" sz="2098">
                <a:solidFill>
                  <a:srgbClr val="141414"/>
                </a:solidFill>
                <a:latin typeface="Proxima Nova Light"/>
                <a:ea typeface="Proxima Nova Light"/>
                <a:cs typeface="Proxima Nova Light"/>
                <a:sym typeface="Proxima Nova Light"/>
              </a:rPr>
              <a:t>• Lưu lịch sử dự đoán</a:t>
            </a:r>
          </a:p>
          <a:p>
            <a:pPr algn="l" marL="0" indent="0" lvl="0">
              <a:lnSpc>
                <a:spcPts val="2937"/>
              </a:lnSpc>
            </a:pPr>
            <a:r>
              <a:rPr lang="en-US" sz="2098">
                <a:solidFill>
                  <a:srgbClr val="141414"/>
                </a:solidFill>
                <a:latin typeface="Proxima Nova Light"/>
                <a:ea typeface="Proxima Nova Light"/>
                <a:cs typeface="Proxima Nova Light"/>
                <a:sym typeface="Proxima Nova Light"/>
              </a:rPr>
              <a:t>• Cloud database</a:t>
            </a:r>
          </a:p>
          <a:p>
            <a:pPr algn="l" marL="0" indent="0" lvl="0">
              <a:lnSpc>
                <a:spcPts val="2937"/>
              </a:lnSpc>
            </a:pPr>
            <a:r>
              <a:rPr lang="en-US" sz="2098">
                <a:solidFill>
                  <a:srgbClr val="141414"/>
                </a:solidFill>
                <a:latin typeface="Proxima Nova Light"/>
                <a:ea typeface="Proxima Nova Light"/>
                <a:cs typeface="Proxima Nova Light"/>
                <a:sym typeface="Proxima Nova Light"/>
              </a:rPr>
              <a:t>• Kết nối từ Render Backend</a:t>
            </a:r>
          </a:p>
        </p:txBody>
      </p:sp>
      <p:sp>
        <p:nvSpPr>
          <p:cNvPr name="TextBox 25" id="25"/>
          <p:cNvSpPr txBox="true"/>
          <p:nvPr/>
        </p:nvSpPr>
        <p:spPr>
          <a:xfrm rot="0">
            <a:off x="8719167" y="3143111"/>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Frontend</a:t>
            </a:r>
          </a:p>
        </p:txBody>
      </p:sp>
      <p:sp>
        <p:nvSpPr>
          <p:cNvPr name="TextBox 26" id="26"/>
          <p:cNvSpPr txBox="true"/>
          <p:nvPr/>
        </p:nvSpPr>
        <p:spPr>
          <a:xfrm rot="0">
            <a:off x="13152846" y="3143111"/>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Backend</a:t>
            </a:r>
          </a:p>
        </p:txBody>
      </p:sp>
      <p:sp>
        <p:nvSpPr>
          <p:cNvPr name="TextBox 27" id="27"/>
          <p:cNvSpPr txBox="true"/>
          <p:nvPr/>
        </p:nvSpPr>
        <p:spPr>
          <a:xfrm rot="0">
            <a:off x="8719167" y="6923562"/>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AI Service</a:t>
            </a:r>
          </a:p>
        </p:txBody>
      </p:sp>
      <p:sp>
        <p:nvSpPr>
          <p:cNvPr name="TextBox 28" id="28"/>
          <p:cNvSpPr txBox="true"/>
          <p:nvPr/>
        </p:nvSpPr>
        <p:spPr>
          <a:xfrm rot="0">
            <a:off x="13152846" y="6923562"/>
            <a:ext cx="4106454"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Database</a:t>
            </a:r>
          </a:p>
        </p:txBody>
      </p:sp>
      <p:sp>
        <p:nvSpPr>
          <p:cNvPr name="TextBox 29" id="29"/>
          <p:cNvSpPr txBox="true"/>
          <p:nvPr/>
        </p:nvSpPr>
        <p:spPr>
          <a:xfrm rot="0">
            <a:off x="1028700" y="7831815"/>
            <a:ext cx="6726333" cy="1234483"/>
          </a:xfrm>
          <a:prstGeom prst="rect">
            <a:avLst/>
          </a:prstGeom>
        </p:spPr>
        <p:txBody>
          <a:bodyPr anchor="t" rtlCol="false" tIns="0" lIns="0" bIns="0" rIns="0">
            <a:spAutoFit/>
          </a:bodyPr>
          <a:lstStyle/>
          <a:p>
            <a:pPr algn="l" marL="0" indent="0" lvl="0">
              <a:lnSpc>
                <a:spcPts val="3357"/>
              </a:lnSpc>
            </a:pPr>
            <a:r>
              <a:rPr lang="en-US" sz="2398">
                <a:solidFill>
                  <a:srgbClr val="141414"/>
                </a:solidFill>
                <a:latin typeface="Proxima Nova Light"/>
                <a:ea typeface="Proxima Nova Light"/>
                <a:cs typeface="Proxima Nova Light"/>
                <a:sym typeface="Proxima Nova Light"/>
              </a:rPr>
              <a:t>Luồng: Vercel → Render Backend → ngrok Tunnel → AI Service. Không sử dụng địa chỉ cố định cho AI Service.</a:t>
            </a:r>
          </a:p>
        </p:txBody>
      </p:sp>
      <p:grpSp>
        <p:nvGrpSpPr>
          <p:cNvPr name="Group 30" id="30"/>
          <p:cNvGrpSpPr/>
          <p:nvPr/>
        </p:nvGrpSpPr>
        <p:grpSpPr>
          <a:xfrm rot="0">
            <a:off x="1028700" y="2054760"/>
            <a:ext cx="6617824" cy="2660095"/>
            <a:chOff x="0" y="0"/>
            <a:chExt cx="1025274" cy="412118"/>
          </a:xfrm>
        </p:grpSpPr>
        <p:sp>
          <p:nvSpPr>
            <p:cNvPr name="Freeform 31" id="31"/>
            <p:cNvSpPr/>
            <p:nvPr/>
          </p:nvSpPr>
          <p:spPr>
            <a:xfrm flipH="false" flipV="false" rot="0">
              <a:off x="0" y="0"/>
              <a:ext cx="1025274" cy="412118"/>
            </a:xfrm>
            <a:custGeom>
              <a:avLst/>
              <a:gdLst/>
              <a:ahLst/>
              <a:cxnLst/>
              <a:rect r="r" b="b" t="t" l="l"/>
              <a:pathLst>
                <a:path h="412118" w="1025274">
                  <a:moveTo>
                    <a:pt x="0" y="0"/>
                  </a:moveTo>
                  <a:lnTo>
                    <a:pt x="1025274" y="0"/>
                  </a:lnTo>
                  <a:lnTo>
                    <a:pt x="1025274" y="412118"/>
                  </a:lnTo>
                  <a:lnTo>
                    <a:pt x="0" y="412118"/>
                  </a:lnTo>
                  <a:close/>
                </a:path>
              </a:pathLst>
            </a:custGeom>
            <a:blipFill>
              <a:blip r:embed="rId3"/>
              <a:stretch>
                <a:fillRect l="0" t="-378" r="0" b="-378"/>
              </a:stretch>
            </a:blipFill>
          </p:spPr>
        </p:sp>
      </p:grpSp>
      <p:grpSp>
        <p:nvGrpSpPr>
          <p:cNvPr name="Group 32" id="32"/>
          <p:cNvGrpSpPr/>
          <p:nvPr/>
        </p:nvGrpSpPr>
        <p:grpSpPr>
          <a:xfrm rot="0">
            <a:off x="1047528" y="4546977"/>
            <a:ext cx="6598996" cy="167878"/>
            <a:chOff x="0" y="0"/>
            <a:chExt cx="8798662" cy="223837"/>
          </a:xfrm>
        </p:grpSpPr>
        <p:grpSp>
          <p:nvGrpSpPr>
            <p:cNvPr name="Group 33" id="33"/>
            <p:cNvGrpSpPr/>
            <p:nvPr/>
          </p:nvGrpSpPr>
          <p:grpSpPr>
            <a:xfrm rot="0">
              <a:off x="0" y="0"/>
              <a:ext cx="1674460" cy="223837"/>
              <a:chOff x="0" y="0"/>
              <a:chExt cx="330758" cy="44215"/>
            </a:xfrm>
          </p:grpSpPr>
          <p:sp>
            <p:nvSpPr>
              <p:cNvPr name="Freeform 34" id="34"/>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35" id="35"/>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36" id="36"/>
            <p:cNvSpPr/>
            <p:nvPr/>
          </p:nvSpPr>
          <p:spPr>
            <a:xfrm>
              <a:off x="0" y="198437"/>
              <a:ext cx="8798662" cy="0"/>
            </a:xfrm>
            <a:prstGeom prst="line">
              <a:avLst/>
            </a:prstGeom>
            <a:ln cap="flat" w="50800">
              <a:solidFill>
                <a:srgbClr val="141414"/>
              </a:solidFill>
              <a:prstDash val="solid"/>
              <a:headEnd type="none" len="sm" w="sm"/>
              <a:tailEnd type="none" len="sm" w="sm"/>
            </a:ln>
          </p:spPr>
        </p:sp>
      </p:grpSp>
      <p:sp>
        <p:nvSpPr>
          <p:cNvPr name="Freeform 37" id="37"/>
          <p:cNvSpPr/>
          <p:nvPr/>
        </p:nvSpPr>
        <p:spPr>
          <a:xfrm flipH="false" flipV="false" rot="0">
            <a:off x="8719167"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
        <p:nvSpPr>
          <p:cNvPr name="Freeform 38" id="38"/>
          <p:cNvSpPr/>
          <p:nvPr/>
        </p:nvSpPr>
        <p:spPr>
          <a:xfrm flipH="false" flipV="false" rot="0">
            <a:off x="16920165" y="9505139"/>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
        <p:nvSpPr>
          <p:cNvPr name="Freeform 39" id="39"/>
          <p:cNvSpPr/>
          <p:nvPr/>
        </p:nvSpPr>
        <p:spPr>
          <a:xfrm flipH="false" flipV="false" rot="0">
            <a:off x="171405" y="9505139"/>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028700" y="2100146"/>
            <a:ext cx="10663774" cy="779948"/>
          </a:xfrm>
          <a:prstGeom prst="rect">
            <a:avLst/>
          </a:prstGeom>
        </p:spPr>
        <p:txBody>
          <a:bodyPr anchor="t" rtlCol="false" tIns="0" lIns="0" bIns="0" rIns="0">
            <a:spAutoFit/>
          </a:bodyPr>
          <a:lstStyle/>
          <a:p>
            <a:pPr algn="l" marL="0" indent="0" lvl="0">
              <a:lnSpc>
                <a:spcPts val="6254"/>
              </a:lnSpc>
            </a:pPr>
            <a:r>
              <a:rPr lang="en-US" sz="4811">
                <a:solidFill>
                  <a:srgbClr val="F8F7F6"/>
                </a:solidFill>
                <a:latin typeface="Pattanakarn SemiExpanded Light"/>
                <a:ea typeface="Pattanakarn SemiExpanded Light"/>
                <a:cs typeface="Pattanakarn SemiExpanded Light"/>
                <a:sym typeface="Pattanakarn SemiExpanded Light"/>
              </a:rPr>
              <a:t>KẾT QUẢ ĐẠT ĐƯỢC</a:t>
            </a:r>
          </a:p>
        </p:txBody>
      </p:sp>
      <p:grpSp>
        <p:nvGrpSpPr>
          <p:cNvPr name="Group 3" id="3"/>
          <p:cNvGrpSpPr/>
          <p:nvPr/>
        </p:nvGrpSpPr>
        <p:grpSpPr>
          <a:xfrm rot="0">
            <a:off x="1028700" y="6456250"/>
            <a:ext cx="795315" cy="79531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6" id="6"/>
          <p:cNvGrpSpPr/>
          <p:nvPr/>
        </p:nvGrpSpPr>
        <p:grpSpPr>
          <a:xfrm rot="0">
            <a:off x="5189371" y="6456250"/>
            <a:ext cx="795315" cy="7953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9" id="9"/>
          <p:cNvGrpSpPr/>
          <p:nvPr/>
        </p:nvGrpSpPr>
        <p:grpSpPr>
          <a:xfrm rot="0">
            <a:off x="9350043" y="6456250"/>
            <a:ext cx="795315" cy="79531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grpSp>
        <p:nvGrpSpPr>
          <p:cNvPr name="Group 12" id="12"/>
          <p:cNvGrpSpPr/>
          <p:nvPr/>
        </p:nvGrpSpPr>
        <p:grpSpPr>
          <a:xfrm rot="0">
            <a:off x="13510714" y="6456250"/>
            <a:ext cx="795315" cy="79531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8F7F6"/>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3359"/>
                </a:lnSpc>
              </a:pPr>
            </a:p>
          </p:txBody>
        </p:sp>
      </p:grpSp>
      <p:sp>
        <p:nvSpPr>
          <p:cNvPr name="TextBox 15" id="15"/>
          <p:cNvSpPr txBox="true"/>
          <p:nvPr/>
        </p:nvSpPr>
        <p:spPr>
          <a:xfrm rot="0">
            <a:off x="1171597" y="6645310"/>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01</a:t>
            </a:r>
          </a:p>
        </p:txBody>
      </p:sp>
      <p:sp>
        <p:nvSpPr>
          <p:cNvPr name="TextBox 16" id="16"/>
          <p:cNvSpPr txBox="true"/>
          <p:nvPr/>
        </p:nvSpPr>
        <p:spPr>
          <a:xfrm rot="0">
            <a:off x="5332268" y="6645310"/>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02</a:t>
            </a:r>
          </a:p>
        </p:txBody>
      </p:sp>
      <p:sp>
        <p:nvSpPr>
          <p:cNvPr name="TextBox 17" id="17"/>
          <p:cNvSpPr txBox="true"/>
          <p:nvPr/>
        </p:nvSpPr>
        <p:spPr>
          <a:xfrm rot="0">
            <a:off x="9492939" y="6645310"/>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03</a:t>
            </a:r>
          </a:p>
        </p:txBody>
      </p:sp>
      <p:sp>
        <p:nvSpPr>
          <p:cNvPr name="TextBox 18" id="18"/>
          <p:cNvSpPr txBox="true"/>
          <p:nvPr/>
        </p:nvSpPr>
        <p:spPr>
          <a:xfrm rot="0">
            <a:off x="13653611" y="6645310"/>
            <a:ext cx="509522" cy="388641"/>
          </a:xfrm>
          <a:prstGeom prst="rect">
            <a:avLst/>
          </a:prstGeom>
        </p:spPr>
        <p:txBody>
          <a:bodyPr anchor="t" rtlCol="false" tIns="0" lIns="0" bIns="0" rIns="0">
            <a:spAutoFit/>
          </a:bodyPr>
          <a:lstStyle/>
          <a:p>
            <a:pPr algn="ctr" marL="0" indent="0" lvl="0">
              <a:lnSpc>
                <a:spcPts val="3117"/>
              </a:lnSpc>
            </a:pPr>
            <a:r>
              <a:rPr lang="en-US" sz="2398">
                <a:solidFill>
                  <a:srgbClr val="F8F7F6"/>
                </a:solidFill>
                <a:latin typeface="Pattanakarn SemiExpanded Light"/>
                <a:ea typeface="Pattanakarn SemiExpanded Light"/>
                <a:cs typeface="Pattanakarn SemiExpanded Light"/>
                <a:sym typeface="Pattanakarn SemiExpanded Light"/>
              </a:rPr>
              <a:t>04</a:t>
            </a:r>
          </a:p>
        </p:txBody>
      </p:sp>
      <p:sp>
        <p:nvSpPr>
          <p:cNvPr name="TextBox 19" id="19"/>
          <p:cNvSpPr txBox="true"/>
          <p:nvPr/>
        </p:nvSpPr>
        <p:spPr>
          <a:xfrm rot="0">
            <a:off x="1028700" y="2859191"/>
            <a:ext cx="10663774" cy="779948"/>
          </a:xfrm>
          <a:prstGeom prst="rect">
            <a:avLst/>
          </a:prstGeom>
        </p:spPr>
        <p:txBody>
          <a:bodyPr anchor="t" rtlCol="false" tIns="0" lIns="0" bIns="0" rIns="0">
            <a:spAutoFit/>
          </a:bodyPr>
          <a:lstStyle/>
          <a:p>
            <a:pPr algn="l" marL="0" indent="0" lvl="0">
              <a:lnSpc>
                <a:spcPts val="6254"/>
              </a:lnSpc>
            </a:pPr>
            <a:r>
              <a:rPr lang="en-US" b="true" sz="4811">
                <a:solidFill>
                  <a:srgbClr val="F8F7F6"/>
                </a:solidFill>
                <a:latin typeface="Pattanakarn SemiExpanded Medium"/>
                <a:ea typeface="Pattanakarn SemiExpanded Medium"/>
                <a:cs typeface="Pattanakarn SemiExpanded Medium"/>
                <a:sym typeface="Pattanakarn SemiExpanded Medium"/>
              </a:rPr>
              <a:t>TỔNG KẾT TOÀN BỘ QUÁ TRÌNH</a:t>
            </a:r>
          </a:p>
        </p:txBody>
      </p:sp>
      <p:grpSp>
        <p:nvGrpSpPr>
          <p:cNvPr name="Group 20" id="20"/>
          <p:cNvGrpSpPr/>
          <p:nvPr/>
        </p:nvGrpSpPr>
        <p:grpSpPr>
          <a:xfrm rot="0">
            <a:off x="11692474" y="2147771"/>
            <a:ext cx="5566826" cy="3227571"/>
            <a:chOff x="0" y="0"/>
            <a:chExt cx="862447" cy="500035"/>
          </a:xfrm>
        </p:grpSpPr>
        <p:sp>
          <p:nvSpPr>
            <p:cNvPr name="Freeform 21" id="21"/>
            <p:cNvSpPr/>
            <p:nvPr/>
          </p:nvSpPr>
          <p:spPr>
            <a:xfrm flipH="false" flipV="false" rot="0">
              <a:off x="0" y="0"/>
              <a:ext cx="862447" cy="500035"/>
            </a:xfrm>
            <a:custGeom>
              <a:avLst/>
              <a:gdLst/>
              <a:ahLst/>
              <a:cxnLst/>
              <a:rect r="r" b="b" t="t" l="l"/>
              <a:pathLst>
                <a:path h="500035" w="862447">
                  <a:moveTo>
                    <a:pt x="0" y="0"/>
                  </a:moveTo>
                  <a:lnTo>
                    <a:pt x="862447" y="0"/>
                  </a:lnTo>
                  <a:lnTo>
                    <a:pt x="862447" y="500035"/>
                  </a:lnTo>
                  <a:lnTo>
                    <a:pt x="0" y="500035"/>
                  </a:lnTo>
                  <a:close/>
                </a:path>
              </a:pathLst>
            </a:custGeom>
            <a:blipFill>
              <a:blip r:embed="rId2"/>
              <a:stretch>
                <a:fillRect l="-306" t="0" r="-306" b="0"/>
              </a:stretch>
            </a:blipFill>
          </p:spPr>
        </p:sp>
      </p:grpSp>
      <p:sp>
        <p:nvSpPr>
          <p:cNvPr name="TextBox 22" id="22"/>
          <p:cNvSpPr txBox="true"/>
          <p:nvPr/>
        </p:nvSpPr>
        <p:spPr>
          <a:xfrm rot="0">
            <a:off x="1028700" y="4140901"/>
            <a:ext cx="9438375" cy="1234483"/>
          </a:xfrm>
          <a:prstGeom prst="rect">
            <a:avLst/>
          </a:prstGeom>
        </p:spPr>
        <p:txBody>
          <a:bodyPr anchor="t" rtlCol="false" tIns="0" lIns="0" bIns="0" rIns="0">
            <a:spAutoFit/>
          </a:bodyPr>
          <a:lstStyle/>
          <a:p>
            <a:pPr algn="l" marL="0" indent="0" lvl="0">
              <a:lnSpc>
                <a:spcPts val="3357"/>
              </a:lnSpc>
            </a:pPr>
            <a:r>
              <a:rPr lang="en-US" sz="2398">
                <a:solidFill>
                  <a:srgbClr val="FFFFFF"/>
                </a:solidFill>
                <a:latin typeface="Proxima Nova Light"/>
                <a:ea typeface="Proxima Nova Light"/>
                <a:cs typeface="Proxima Nova Light"/>
                <a:sym typeface="Proxima Nova Light"/>
              </a:rPr>
              <a:t>Nhóm đã hoàn thành đầy đủ quy trình Machine Learning: từ EDA, tiền xử lý chuẩn chỉnh, thử nghiệm 4 mô hình, đánh giá chính xác, đến tích hợp hệ thống web hoàn chỉnh và lưu lịch sử dự đoán.</a:t>
            </a:r>
          </a:p>
        </p:txBody>
      </p:sp>
      <p:sp>
        <p:nvSpPr>
          <p:cNvPr name="TextBox 23" id="23"/>
          <p:cNvSpPr txBox="true"/>
          <p:nvPr/>
        </p:nvSpPr>
        <p:spPr>
          <a:xfrm rot="0">
            <a:off x="1028700" y="7416165"/>
            <a:ext cx="3732046" cy="1842173"/>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EDA chi tiết; làm sạch 127 bản ghi trùng; tiền xử lý StandardScaler và OneHotEncoder; tránh data leakage.</a:t>
            </a:r>
          </a:p>
        </p:txBody>
      </p:sp>
      <p:sp>
        <p:nvSpPr>
          <p:cNvPr name="TextBox 24" id="24"/>
          <p:cNvSpPr txBox="true"/>
          <p:nvPr/>
        </p:nvSpPr>
        <p:spPr>
          <a:xfrm rot="0">
            <a:off x="5189371" y="7416165"/>
            <a:ext cx="3732046" cy="1842173"/>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Baseline DummyRegressor; thử nghiệm 4 mô hình: Linear Regression, Decision Tree, Random Forest, KNN; đánh giá MAE, RMSE, R².</a:t>
            </a:r>
          </a:p>
        </p:txBody>
      </p:sp>
      <p:sp>
        <p:nvSpPr>
          <p:cNvPr name="TextBox 25" id="25"/>
          <p:cNvSpPr txBox="true"/>
          <p:nvPr/>
        </p:nvSpPr>
        <p:spPr>
          <a:xfrm rot="0">
            <a:off x="9350043" y="7416165"/>
            <a:ext cx="3732046" cy="1470698"/>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Mô hình tốt nhất: MAE=1.647, RMSE=2.075, R²=0.9884. Không overfitting; phù hợp xu hướng tuyến tính của dữ liệu.</a:t>
            </a:r>
          </a:p>
        </p:txBody>
      </p:sp>
      <p:sp>
        <p:nvSpPr>
          <p:cNvPr name="TextBox 26" id="26"/>
          <p:cNvSpPr txBox="true"/>
          <p:nvPr/>
        </p:nvSpPr>
        <p:spPr>
          <a:xfrm rot="0">
            <a:off x="13510714" y="7416165"/>
            <a:ext cx="3732046" cy="1470698"/>
          </a:xfrm>
          <a:prstGeom prst="rect">
            <a:avLst/>
          </a:prstGeom>
        </p:spPr>
        <p:txBody>
          <a:bodyPr anchor="t" rtlCol="false" tIns="0" lIns="0" bIns="0" rIns="0">
            <a:spAutoFit/>
          </a:bodyPr>
          <a:lstStyle/>
          <a:p>
            <a:pPr algn="l" marL="0" indent="0" lvl="0">
              <a:lnSpc>
                <a:spcPts val="2937"/>
              </a:lnSpc>
            </a:pPr>
            <a:r>
              <a:rPr lang="en-US" sz="2098">
                <a:solidFill>
                  <a:srgbClr val="FFFFFF"/>
                </a:solidFill>
                <a:latin typeface="Proxima Nova Light"/>
                <a:ea typeface="Proxima Nova Light"/>
                <a:cs typeface="Proxima Nova Light"/>
                <a:sym typeface="Proxima Nova Light"/>
              </a:rPr>
              <a:t>Tích hợp Next.js, Node.js, FastAPI; triển khai Vercel + Render; lưu lịch sử dự đoán qua MongoDB Atlas.</a:t>
            </a:r>
          </a:p>
        </p:txBody>
      </p:sp>
      <p:sp>
        <p:nvSpPr>
          <p:cNvPr name="TextBox 27" id="27"/>
          <p:cNvSpPr txBox="true"/>
          <p:nvPr/>
        </p:nvSpPr>
        <p:spPr>
          <a:xfrm rot="0">
            <a:off x="2047622" y="6539582"/>
            <a:ext cx="2713124"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EDA &amp; Tiền Xử Lý</a:t>
            </a:r>
          </a:p>
        </p:txBody>
      </p:sp>
      <p:sp>
        <p:nvSpPr>
          <p:cNvPr name="TextBox 28" id="28"/>
          <p:cNvSpPr txBox="true"/>
          <p:nvPr/>
        </p:nvSpPr>
        <p:spPr>
          <a:xfrm rot="0">
            <a:off x="6208293" y="6539582"/>
            <a:ext cx="2713124"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Thử Nghiệm Mô Hình</a:t>
            </a:r>
          </a:p>
        </p:txBody>
      </p:sp>
      <p:sp>
        <p:nvSpPr>
          <p:cNvPr name="TextBox 29" id="29"/>
          <p:cNvSpPr txBox="true"/>
          <p:nvPr/>
        </p:nvSpPr>
        <p:spPr>
          <a:xfrm rot="0">
            <a:off x="10368965" y="6539582"/>
            <a:ext cx="1806937" cy="628650"/>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Linear Regression</a:t>
            </a:r>
          </a:p>
        </p:txBody>
      </p:sp>
      <p:sp>
        <p:nvSpPr>
          <p:cNvPr name="TextBox 30" id="30"/>
          <p:cNvSpPr txBox="true"/>
          <p:nvPr/>
        </p:nvSpPr>
        <p:spPr>
          <a:xfrm rot="0">
            <a:off x="14529636" y="6539582"/>
            <a:ext cx="2332525"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Tích Hợp Web</a:t>
            </a:r>
          </a:p>
        </p:txBody>
      </p:sp>
      <p:grpSp>
        <p:nvGrpSpPr>
          <p:cNvPr name="Group 31" id="31"/>
          <p:cNvGrpSpPr/>
          <p:nvPr/>
        </p:nvGrpSpPr>
        <p:grpSpPr>
          <a:xfrm rot="0">
            <a:off x="1028700" y="5751905"/>
            <a:ext cx="9261420" cy="167878"/>
            <a:chOff x="0" y="0"/>
            <a:chExt cx="12348560" cy="223837"/>
          </a:xfrm>
        </p:grpSpPr>
        <p:grpSp>
          <p:nvGrpSpPr>
            <p:cNvPr name="Group 32" id="32"/>
            <p:cNvGrpSpPr/>
            <p:nvPr/>
          </p:nvGrpSpPr>
          <p:grpSpPr>
            <a:xfrm rot="0">
              <a:off x="0" y="0"/>
              <a:ext cx="1674460" cy="223837"/>
              <a:chOff x="0" y="0"/>
              <a:chExt cx="330758" cy="44215"/>
            </a:xfrm>
          </p:grpSpPr>
          <p:sp>
            <p:nvSpPr>
              <p:cNvPr name="Freeform 33" id="33"/>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F8F7F6"/>
              </a:solidFill>
            </p:spPr>
          </p:sp>
          <p:sp>
            <p:nvSpPr>
              <p:cNvPr name="TextBox 34" id="34"/>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35" id="35"/>
            <p:cNvSpPr/>
            <p:nvPr/>
          </p:nvSpPr>
          <p:spPr>
            <a:xfrm>
              <a:off x="0" y="198437"/>
              <a:ext cx="12348560" cy="0"/>
            </a:xfrm>
            <a:prstGeom prst="line">
              <a:avLst/>
            </a:prstGeom>
            <a:ln cap="flat" w="50800">
              <a:solidFill>
                <a:srgbClr val="F8F7F6"/>
              </a:solidFill>
              <a:prstDash val="solid"/>
              <a:headEnd type="none" len="sm" w="sm"/>
              <a:tailEnd type="none" len="sm" w="sm"/>
            </a:ln>
          </p:spPr>
        </p:sp>
      </p:grpSp>
      <p:sp>
        <p:nvSpPr>
          <p:cNvPr name="Freeform 36" id="36"/>
          <p:cNvSpPr/>
          <p:nvPr/>
        </p:nvSpPr>
        <p:spPr>
          <a:xfrm flipH="false" flipV="false" rot="0">
            <a:off x="10455808"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
        <p:nvSpPr>
          <p:cNvPr name="Freeform 37" id="37"/>
          <p:cNvSpPr/>
          <p:nvPr/>
        </p:nvSpPr>
        <p:spPr>
          <a:xfrm flipH="false" flipV="false" rot="0">
            <a:off x="189692" y="9458325"/>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3">
              <a:extLst>
                <a:ext uri="{96DAC541-7B7A-43D3-8B79-37D633B846F1}">
                  <asvg:svgBlip xmlns:asvg="http://schemas.microsoft.com/office/drawing/2016/SVG/main" r:embed="rId4"/>
                </a:ext>
              </a:extLst>
            </a:blip>
            <a:stretch>
              <a:fillRect l="0" t="0" r="-116058" b="-123249"/>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28700" y="2100146"/>
            <a:ext cx="5609428" cy="1623944"/>
          </a:xfrm>
          <a:prstGeom prst="rect">
            <a:avLst/>
          </a:prstGeom>
        </p:spPr>
        <p:txBody>
          <a:bodyPr anchor="t" rtlCol="false" tIns="0" lIns="0" bIns="0" rIns="0">
            <a:spAutoFit/>
          </a:bodyPr>
          <a:lstStyle/>
          <a:p>
            <a:pPr algn="l" marL="0" indent="0" lvl="0">
              <a:lnSpc>
                <a:spcPts val="6492"/>
              </a:lnSpc>
            </a:pPr>
            <a:r>
              <a:rPr lang="en-US" sz="4994">
                <a:solidFill>
                  <a:srgbClr val="141414"/>
                </a:solidFill>
                <a:latin typeface="Pattanakarn SemiExpanded Light"/>
                <a:ea typeface="Pattanakarn SemiExpanded Light"/>
                <a:cs typeface="Pattanakarn SemiExpanded Light"/>
                <a:sym typeface="Pattanakarn SemiExpanded Light"/>
              </a:rPr>
              <a:t>KẾT</a:t>
            </a:r>
          </a:p>
          <a:p>
            <a:pPr algn="l" marL="0" indent="0" lvl="0">
              <a:lnSpc>
                <a:spcPts val="6492"/>
              </a:lnSpc>
            </a:pPr>
            <a:r>
              <a:rPr lang="en-US" sz="4994">
                <a:solidFill>
                  <a:srgbClr val="141414"/>
                </a:solidFill>
                <a:latin typeface="Pattanakarn SemiExpanded Light"/>
                <a:ea typeface="Pattanakarn SemiExpanded Light"/>
                <a:cs typeface="Pattanakarn SemiExpanded Light"/>
                <a:sym typeface="Pattanakarn SemiExpanded Light"/>
              </a:rPr>
              <a:t>LUẬN</a:t>
            </a:r>
          </a:p>
        </p:txBody>
      </p:sp>
      <p:sp>
        <p:nvSpPr>
          <p:cNvPr name="TextBox 4" id="4"/>
          <p:cNvSpPr txBox="true"/>
          <p:nvPr/>
        </p:nvSpPr>
        <p:spPr>
          <a:xfrm rot="0">
            <a:off x="1028700" y="3676420"/>
            <a:ext cx="5609428" cy="1623944"/>
          </a:xfrm>
          <a:prstGeom prst="rect">
            <a:avLst/>
          </a:prstGeom>
        </p:spPr>
        <p:txBody>
          <a:bodyPr anchor="t" rtlCol="false" tIns="0" lIns="0" bIns="0" rIns="0">
            <a:spAutoFit/>
          </a:bodyPr>
          <a:lstStyle/>
          <a:p>
            <a:pPr algn="l" marL="0" indent="0" lvl="0">
              <a:lnSpc>
                <a:spcPts val="6492"/>
              </a:lnSpc>
            </a:pPr>
            <a:r>
              <a:rPr lang="en-US" b="true" sz="4994">
                <a:solidFill>
                  <a:srgbClr val="141414"/>
                </a:solidFill>
                <a:latin typeface="Pattanakarn SemiExpanded Medium"/>
                <a:ea typeface="Pattanakarn SemiExpanded Medium"/>
                <a:cs typeface="Pattanakarn SemiExpanded Medium"/>
                <a:sym typeface="Pattanakarn SemiExpanded Medium"/>
              </a:rPr>
              <a:t>TỔNG KẾT</a:t>
            </a:r>
          </a:p>
          <a:p>
            <a:pPr algn="l" marL="0" indent="0" lvl="0">
              <a:lnSpc>
                <a:spcPts val="6492"/>
              </a:lnSpc>
            </a:pPr>
            <a:r>
              <a:rPr lang="en-US" b="true" sz="4994">
                <a:solidFill>
                  <a:srgbClr val="141414"/>
                </a:solidFill>
                <a:latin typeface="Pattanakarn SemiExpanded Medium"/>
                <a:ea typeface="Pattanakarn SemiExpanded Medium"/>
                <a:cs typeface="Pattanakarn SemiExpanded Medium"/>
                <a:sym typeface="Pattanakarn SemiExpanded Medium"/>
              </a:rPr>
              <a:t>ĐỀ TÀI</a:t>
            </a:r>
          </a:p>
        </p:txBody>
      </p:sp>
      <p:grpSp>
        <p:nvGrpSpPr>
          <p:cNvPr name="Group 5" id="5"/>
          <p:cNvGrpSpPr/>
          <p:nvPr/>
        </p:nvGrpSpPr>
        <p:grpSpPr>
          <a:xfrm rot="0">
            <a:off x="7515507" y="2147771"/>
            <a:ext cx="7347839" cy="186928"/>
            <a:chOff x="0" y="0"/>
            <a:chExt cx="9797119" cy="249237"/>
          </a:xfrm>
        </p:grpSpPr>
        <p:grpSp>
          <p:nvGrpSpPr>
            <p:cNvPr name="Group 6" id="6"/>
            <p:cNvGrpSpPr/>
            <p:nvPr/>
          </p:nvGrpSpPr>
          <p:grpSpPr>
            <a:xfrm rot="0">
              <a:off x="66" y="0"/>
              <a:ext cx="1674460" cy="223837"/>
              <a:chOff x="0" y="0"/>
              <a:chExt cx="330758" cy="44215"/>
            </a:xfrm>
          </p:grpSpPr>
          <p:sp>
            <p:nvSpPr>
              <p:cNvPr name="Freeform 7" id="7"/>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8" id="8"/>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9" id="9"/>
            <p:cNvSpPr/>
            <p:nvPr/>
          </p:nvSpPr>
          <p:spPr>
            <a:xfrm>
              <a:off x="66" y="198437"/>
              <a:ext cx="9796987" cy="25400"/>
            </a:xfrm>
            <a:prstGeom prst="line">
              <a:avLst/>
            </a:prstGeom>
            <a:ln cap="flat" w="50800">
              <a:solidFill>
                <a:srgbClr val="141414"/>
              </a:solidFill>
              <a:prstDash val="solid"/>
              <a:headEnd type="none" len="sm" w="sm"/>
              <a:tailEnd type="none" len="sm" w="sm"/>
            </a:ln>
          </p:spPr>
        </p:sp>
      </p:grpSp>
      <p:sp>
        <p:nvSpPr>
          <p:cNvPr name="TextBox 10" id="10"/>
          <p:cNvSpPr txBox="true"/>
          <p:nvPr/>
        </p:nvSpPr>
        <p:spPr>
          <a:xfrm rot="0">
            <a:off x="7515556" y="2642545"/>
            <a:ext cx="9743744" cy="629130"/>
          </a:xfrm>
          <a:prstGeom prst="rect">
            <a:avLst/>
          </a:prstGeom>
        </p:spPr>
        <p:txBody>
          <a:bodyPr anchor="t" rtlCol="false" tIns="0" lIns="0" bIns="0" rIns="0">
            <a:spAutoFit/>
          </a:bodyPr>
          <a:lstStyle/>
          <a:p>
            <a:pPr algn="l" marL="0" indent="0" lvl="0">
              <a:lnSpc>
                <a:spcPts val="2598"/>
              </a:lnSpc>
            </a:pPr>
            <a:r>
              <a:rPr lang="en-US" sz="1856">
                <a:solidFill>
                  <a:srgbClr val="141414"/>
                </a:solidFill>
                <a:latin typeface="Proxima Nova Light"/>
                <a:ea typeface="Proxima Nova Light"/>
                <a:cs typeface="Proxima Nova Light"/>
                <a:sym typeface="Proxima Nova Light"/>
              </a:rPr>
              <a:t>Dự án đã hoàn thành đầy đủ quy trình Machine Learning — từ thu thập, làm sạch dữ liệu, phân tích EDA, xây dựng và đánh giá mô hình, đến tích hợp hệ thống web hoàn chỉnh.</a:t>
            </a:r>
          </a:p>
        </p:txBody>
      </p:sp>
      <p:grpSp>
        <p:nvGrpSpPr>
          <p:cNvPr name="Group 11" id="11"/>
          <p:cNvGrpSpPr/>
          <p:nvPr/>
        </p:nvGrpSpPr>
        <p:grpSpPr>
          <a:xfrm rot="0">
            <a:off x="7515556" y="6555747"/>
            <a:ext cx="9743744" cy="2702553"/>
            <a:chOff x="0" y="0"/>
            <a:chExt cx="1509561" cy="418696"/>
          </a:xfrm>
        </p:grpSpPr>
        <p:sp>
          <p:nvSpPr>
            <p:cNvPr name="Freeform 12" id="12"/>
            <p:cNvSpPr/>
            <p:nvPr/>
          </p:nvSpPr>
          <p:spPr>
            <a:xfrm flipH="false" flipV="false" rot="0">
              <a:off x="0" y="0"/>
              <a:ext cx="1509561" cy="418696"/>
            </a:xfrm>
            <a:custGeom>
              <a:avLst/>
              <a:gdLst/>
              <a:ahLst/>
              <a:cxnLst/>
              <a:rect r="r" b="b" t="t" l="l"/>
              <a:pathLst>
                <a:path h="418696" w="1509561">
                  <a:moveTo>
                    <a:pt x="0" y="0"/>
                  </a:moveTo>
                  <a:lnTo>
                    <a:pt x="1509561" y="0"/>
                  </a:lnTo>
                  <a:lnTo>
                    <a:pt x="1509561" y="418696"/>
                  </a:lnTo>
                  <a:lnTo>
                    <a:pt x="0" y="418696"/>
                  </a:lnTo>
                  <a:close/>
                </a:path>
              </a:pathLst>
            </a:custGeom>
            <a:blipFill>
              <a:blip r:embed="rId3"/>
              <a:stretch>
                <a:fillRect l="0" t="-24" r="0" b="-24"/>
              </a:stretch>
            </a:blipFill>
          </p:spPr>
        </p:sp>
      </p:grpSp>
      <p:sp>
        <p:nvSpPr>
          <p:cNvPr name="TextBox 13" id="13"/>
          <p:cNvSpPr txBox="true"/>
          <p:nvPr/>
        </p:nvSpPr>
        <p:spPr>
          <a:xfrm rot="0">
            <a:off x="7515507" y="4423892"/>
            <a:ext cx="4654561" cy="1933598"/>
          </a:xfrm>
          <a:prstGeom prst="rect">
            <a:avLst/>
          </a:prstGeom>
        </p:spPr>
        <p:txBody>
          <a:bodyPr anchor="t" rtlCol="false" tIns="0" lIns="0" bIns="0" rIns="0">
            <a:spAutoFit/>
          </a:bodyPr>
          <a:lstStyle/>
          <a:p>
            <a:pPr algn="l" marL="0" indent="0" lvl="0">
              <a:lnSpc>
                <a:spcPts val="2623"/>
              </a:lnSpc>
            </a:pPr>
            <a:r>
              <a:rPr lang="en-US" sz="1874">
                <a:solidFill>
                  <a:srgbClr val="141414"/>
                </a:solidFill>
                <a:latin typeface="Proxima Nova Light"/>
                <a:ea typeface="Proxima Nova Light"/>
                <a:cs typeface="Proxima Nova Light"/>
                <a:sym typeface="Proxima Nova Light"/>
              </a:rPr>
              <a:t>• Linear Regression đạt hiệu năng tốt nhất: R² = 0.9884, MAE = 1.65</a:t>
            </a:r>
          </a:p>
          <a:p>
            <a:pPr algn="l" marL="0" indent="0" lvl="0">
              <a:lnSpc>
                <a:spcPts val="2623"/>
              </a:lnSpc>
            </a:pPr>
            <a:r>
              <a:rPr lang="en-US" sz="1874">
                <a:solidFill>
                  <a:srgbClr val="141414"/>
                </a:solidFill>
                <a:latin typeface="Proxima Nova Light"/>
                <a:ea typeface="Proxima Nova Light"/>
                <a:cs typeface="Proxima Nova Light"/>
                <a:sym typeface="Proxima Nova Light"/>
              </a:rPr>
              <a:t>• Dữ liệu có mối quan hệ tuyến tính rõ ràng với Performance Index</a:t>
            </a:r>
          </a:p>
          <a:p>
            <a:pPr algn="l" marL="0" indent="0" lvl="0">
              <a:lnSpc>
                <a:spcPts val="2623"/>
              </a:lnSpc>
            </a:pPr>
            <a:r>
              <a:rPr lang="en-US" sz="1874">
                <a:solidFill>
                  <a:srgbClr val="141414"/>
                </a:solidFill>
                <a:latin typeface="Proxima Nova Light"/>
                <a:ea typeface="Proxima Nova Light"/>
                <a:cs typeface="Proxima Nova Light"/>
                <a:sym typeface="Proxima Nova Light"/>
              </a:rPr>
              <a:t>• Mô hình đơn giản, nhanh, dễ giải thích và phù hợp tích hợp thực tế</a:t>
            </a:r>
          </a:p>
        </p:txBody>
      </p:sp>
      <p:sp>
        <p:nvSpPr>
          <p:cNvPr name="TextBox 14" id="14"/>
          <p:cNvSpPr txBox="true"/>
          <p:nvPr/>
        </p:nvSpPr>
        <p:spPr>
          <a:xfrm rot="0">
            <a:off x="12536065" y="4423892"/>
            <a:ext cx="4654561" cy="1933598"/>
          </a:xfrm>
          <a:prstGeom prst="rect">
            <a:avLst/>
          </a:prstGeom>
        </p:spPr>
        <p:txBody>
          <a:bodyPr anchor="t" rtlCol="false" tIns="0" lIns="0" bIns="0" rIns="0">
            <a:spAutoFit/>
          </a:bodyPr>
          <a:lstStyle/>
          <a:p>
            <a:pPr algn="l" marL="0" indent="0" lvl="0">
              <a:lnSpc>
                <a:spcPts val="2623"/>
              </a:lnSpc>
            </a:pPr>
            <a:r>
              <a:rPr lang="en-US" sz="1874">
                <a:solidFill>
                  <a:srgbClr val="141414"/>
                </a:solidFill>
                <a:latin typeface="Proxima Nova Light"/>
                <a:ea typeface="Proxima Nova Light"/>
                <a:cs typeface="Proxima Nova Light"/>
                <a:sym typeface="Proxima Nova Light"/>
              </a:rPr>
              <a:t>• Hệ thống hoàn chỉnh: nhập liệu → dự đoán → lưu lịch sử</a:t>
            </a:r>
          </a:p>
          <a:p>
            <a:pPr algn="l" marL="0" indent="0" lvl="0">
              <a:lnSpc>
                <a:spcPts val="2623"/>
              </a:lnSpc>
            </a:pPr>
            <a:r>
              <a:rPr lang="en-US" sz="1874">
                <a:solidFill>
                  <a:srgbClr val="141414"/>
                </a:solidFill>
                <a:latin typeface="Proxima Nova Light"/>
                <a:ea typeface="Proxima Nova Light"/>
                <a:cs typeface="Proxima Nova Light"/>
                <a:sym typeface="Proxima Nova Light"/>
              </a:rPr>
              <a:t>• Triển khai thực tế trên Vercel, Render và MongoDB Atlas</a:t>
            </a:r>
          </a:p>
          <a:p>
            <a:pPr algn="l" marL="0" indent="0" lvl="0">
              <a:lnSpc>
                <a:spcPts val="2623"/>
              </a:lnSpc>
            </a:pPr>
            <a:r>
              <a:rPr lang="en-US" sz="1874">
                <a:solidFill>
                  <a:srgbClr val="141414"/>
                </a:solidFill>
                <a:latin typeface="Proxima Nova Light"/>
                <a:ea typeface="Proxima Nova Light"/>
                <a:cs typeface="Proxima Nova Light"/>
                <a:sym typeface="Proxima Nova Light"/>
              </a:rPr>
              <a:t>• Phù hợp áp dụng hỗ trợ học sinh và giáo viên</a:t>
            </a:r>
          </a:p>
        </p:txBody>
      </p:sp>
      <p:sp>
        <p:nvSpPr>
          <p:cNvPr name="TextBox 15" id="15"/>
          <p:cNvSpPr txBox="true"/>
          <p:nvPr/>
        </p:nvSpPr>
        <p:spPr>
          <a:xfrm rot="0">
            <a:off x="7515507" y="3949411"/>
            <a:ext cx="4654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Kết quả mô hình</a:t>
            </a:r>
          </a:p>
        </p:txBody>
      </p:sp>
      <p:sp>
        <p:nvSpPr>
          <p:cNvPr name="TextBox 16" id="16"/>
          <p:cNvSpPr txBox="true"/>
          <p:nvPr/>
        </p:nvSpPr>
        <p:spPr>
          <a:xfrm rot="0">
            <a:off x="12536065" y="3949411"/>
            <a:ext cx="4654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Ý nghĩa thực tiễn</a:t>
            </a:r>
          </a:p>
        </p:txBody>
      </p:sp>
      <p:sp>
        <p:nvSpPr>
          <p:cNvPr name="TextBox 17" id="17"/>
          <p:cNvSpPr txBox="true"/>
          <p:nvPr/>
        </p:nvSpPr>
        <p:spPr>
          <a:xfrm rot="0">
            <a:off x="1028700" y="6946937"/>
            <a:ext cx="5787772" cy="1609748"/>
          </a:xfrm>
          <a:prstGeom prst="rect">
            <a:avLst/>
          </a:prstGeom>
        </p:spPr>
        <p:txBody>
          <a:bodyPr anchor="t" rtlCol="false" tIns="0" lIns="0" bIns="0" rIns="0">
            <a:spAutoFit/>
          </a:bodyPr>
          <a:lstStyle/>
          <a:p>
            <a:pPr algn="l" marL="0" indent="0" lvl="0">
              <a:lnSpc>
                <a:spcPts val="2623"/>
              </a:lnSpc>
            </a:pPr>
            <a:r>
              <a:rPr lang="en-US" sz="1874">
                <a:solidFill>
                  <a:srgbClr val="141414"/>
                </a:solidFill>
                <a:latin typeface="Proxima Nova Light"/>
                <a:ea typeface="Proxima Nova Light"/>
                <a:cs typeface="Proxima Nova Light"/>
                <a:sym typeface="Proxima Nova Light"/>
              </a:rPr>
              <a:t>• Mở rộng dataset với nhiều đặc trưng hơn</a:t>
            </a:r>
          </a:p>
          <a:p>
            <a:pPr algn="l" marL="0" indent="0" lvl="0">
              <a:lnSpc>
                <a:spcPts val="2623"/>
              </a:lnSpc>
            </a:pPr>
            <a:r>
              <a:rPr lang="en-US" sz="1874">
                <a:solidFill>
                  <a:srgbClr val="141414"/>
                </a:solidFill>
                <a:latin typeface="Proxima Nova Light"/>
                <a:ea typeface="Proxima Nova Light"/>
                <a:cs typeface="Proxima Nova Light"/>
                <a:sym typeface="Proxima Nova Light"/>
              </a:rPr>
              <a:t>• Thử nghiệm mô hình nâng cao: XGBoost, Neural Network</a:t>
            </a:r>
          </a:p>
          <a:p>
            <a:pPr algn="l" marL="0" indent="0" lvl="0">
              <a:lnSpc>
                <a:spcPts val="2623"/>
              </a:lnSpc>
            </a:pPr>
            <a:r>
              <a:rPr lang="en-US" sz="1874">
                <a:solidFill>
                  <a:srgbClr val="141414"/>
                </a:solidFill>
                <a:latin typeface="Proxima Nova Light"/>
                <a:ea typeface="Proxima Nova Light"/>
                <a:cs typeface="Proxima Nova Light"/>
                <a:sym typeface="Proxima Nova Light"/>
              </a:rPr>
              <a:t>• Cải thiện giao diện và trải nghiệm người dùng</a:t>
            </a:r>
          </a:p>
          <a:p>
            <a:pPr algn="l" marL="0" indent="0" lvl="0">
              <a:lnSpc>
                <a:spcPts val="2623"/>
              </a:lnSpc>
            </a:pPr>
            <a:r>
              <a:rPr lang="en-US" sz="1874">
                <a:solidFill>
                  <a:srgbClr val="141414"/>
                </a:solidFill>
                <a:latin typeface="Proxima Nova Light"/>
                <a:ea typeface="Proxima Nova Light"/>
                <a:cs typeface="Proxima Nova Light"/>
                <a:sym typeface="Proxima Nova Light"/>
              </a:rPr>
              <a:t>• Tích hợp phân tích xu hướng học tập theo thời gian</a:t>
            </a:r>
          </a:p>
        </p:txBody>
      </p:sp>
      <p:sp>
        <p:nvSpPr>
          <p:cNvPr name="TextBox 18" id="18"/>
          <p:cNvSpPr txBox="true"/>
          <p:nvPr/>
        </p:nvSpPr>
        <p:spPr>
          <a:xfrm rot="0">
            <a:off x="1028700" y="6555747"/>
            <a:ext cx="5787772"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Định hướng phát triển</a:t>
            </a:r>
          </a:p>
        </p:txBody>
      </p:sp>
      <p:sp>
        <p:nvSpPr>
          <p:cNvPr name="Freeform 19" id="19"/>
          <p:cNvSpPr/>
          <p:nvPr/>
        </p:nvSpPr>
        <p:spPr>
          <a:xfrm flipH="false" flipV="false" rot="-2700000">
            <a:off x="15650565" y="5734452"/>
            <a:ext cx="8510634" cy="7797868"/>
          </a:xfrm>
          <a:custGeom>
            <a:avLst/>
            <a:gdLst/>
            <a:ahLst/>
            <a:cxnLst/>
            <a:rect r="r" b="b" t="t" l="l"/>
            <a:pathLst>
              <a:path h="7797868" w="8510634">
                <a:moveTo>
                  <a:pt x="0" y="0"/>
                </a:moveTo>
                <a:lnTo>
                  <a:pt x="8510634" y="0"/>
                </a:lnTo>
                <a:lnTo>
                  <a:pt x="8510634" y="7797868"/>
                </a:lnTo>
                <a:lnTo>
                  <a:pt x="0" y="7797868"/>
                </a:lnTo>
                <a:lnTo>
                  <a:pt x="0" y="0"/>
                </a:lnTo>
                <a:close/>
              </a:path>
            </a:pathLst>
          </a:custGeom>
          <a:blipFill>
            <a:blip r:embed="rId4"/>
            <a:stretch>
              <a:fillRect l="0" t="0" r="0" b="0"/>
            </a:stretch>
          </a:blipFill>
        </p:spPr>
      </p:sp>
      <p:sp>
        <p:nvSpPr>
          <p:cNvPr name="Freeform 20" id="20"/>
          <p:cNvSpPr/>
          <p:nvPr/>
        </p:nvSpPr>
        <p:spPr>
          <a:xfrm flipH="false" flipV="false" rot="0">
            <a:off x="10571093" y="635525"/>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5">
              <a:extLst>
                <a:ext uri="{96DAC541-7B7A-43D3-8B79-37D633B846F1}">
                  <asvg:svgBlip xmlns:asvg="http://schemas.microsoft.com/office/drawing/2016/SVG/main" r:embed="rId6"/>
                </a:ext>
              </a:extLst>
            </a:blip>
            <a:stretch>
              <a:fillRect l="0" t="0" r="-116058" b="-123249"/>
            </a:stretch>
          </a:blipFill>
        </p:spPr>
      </p:sp>
      <p:sp>
        <p:nvSpPr>
          <p:cNvPr name="Freeform 21" id="21"/>
          <p:cNvSpPr/>
          <p:nvPr/>
        </p:nvSpPr>
        <p:spPr>
          <a:xfrm flipH="false" flipV="false" rot="0">
            <a:off x="131811" y="9479917"/>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5">
              <a:extLst>
                <a:ext uri="{96DAC541-7B7A-43D3-8B79-37D633B846F1}">
                  <asvg:svgBlip xmlns:asvg="http://schemas.microsoft.com/office/drawing/2016/SVG/main" r:embed="rId6"/>
                </a:ext>
              </a:extLst>
            </a:blip>
            <a:stretch>
              <a:fillRect l="0" t="0" r="-116058" b="-123249"/>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6498663"/>
            <a:ext cx="169995" cy="1259681"/>
            <a:chOff x="0" y="0"/>
            <a:chExt cx="44772" cy="331768"/>
          </a:xfrm>
        </p:grpSpPr>
        <p:sp>
          <p:nvSpPr>
            <p:cNvPr name="Freeform 4" id="4"/>
            <p:cNvSpPr/>
            <p:nvPr/>
          </p:nvSpPr>
          <p:spPr>
            <a:xfrm flipH="false" flipV="false" rot="0">
              <a:off x="0" y="0"/>
              <a:ext cx="44772" cy="331768"/>
            </a:xfrm>
            <a:custGeom>
              <a:avLst/>
              <a:gdLst/>
              <a:ahLst/>
              <a:cxnLst/>
              <a:rect r="r" b="b" t="t" l="l"/>
              <a:pathLst>
                <a:path h="331768" w="44772">
                  <a:moveTo>
                    <a:pt x="0" y="0"/>
                  </a:moveTo>
                  <a:lnTo>
                    <a:pt x="44772" y="0"/>
                  </a:lnTo>
                  <a:lnTo>
                    <a:pt x="44772" y="331768"/>
                  </a:lnTo>
                  <a:lnTo>
                    <a:pt x="0" y="331768"/>
                  </a:lnTo>
                  <a:close/>
                </a:path>
              </a:pathLst>
            </a:custGeom>
            <a:solidFill>
              <a:srgbClr val="141414"/>
            </a:solidFill>
          </p:spPr>
        </p:sp>
        <p:sp>
          <p:nvSpPr>
            <p:cNvPr name="TextBox 5" id="5"/>
            <p:cNvSpPr txBox="true"/>
            <p:nvPr/>
          </p:nvSpPr>
          <p:spPr>
            <a:xfrm>
              <a:off x="0" y="-38100"/>
              <a:ext cx="44772" cy="369868"/>
            </a:xfrm>
            <a:prstGeom prst="rect">
              <a:avLst/>
            </a:prstGeom>
          </p:spPr>
          <p:txBody>
            <a:bodyPr anchor="ctr" rtlCol="false" tIns="50800" lIns="50800" bIns="50800" rIns="50800"/>
            <a:lstStyle/>
            <a:p>
              <a:pPr algn="ctr" marL="0" indent="0" lvl="0">
                <a:lnSpc>
                  <a:spcPts val="3359"/>
                </a:lnSpc>
              </a:pPr>
            </a:p>
          </p:txBody>
        </p:sp>
      </p:grpSp>
      <p:grpSp>
        <p:nvGrpSpPr>
          <p:cNvPr name="Group 6" id="6"/>
          <p:cNvGrpSpPr/>
          <p:nvPr/>
        </p:nvGrpSpPr>
        <p:grpSpPr>
          <a:xfrm rot="0">
            <a:off x="1198695" y="6498663"/>
            <a:ext cx="10466483" cy="1259681"/>
            <a:chOff x="0" y="0"/>
            <a:chExt cx="2756605" cy="331768"/>
          </a:xfrm>
        </p:grpSpPr>
        <p:sp>
          <p:nvSpPr>
            <p:cNvPr name="Freeform 7" id="7"/>
            <p:cNvSpPr/>
            <p:nvPr/>
          </p:nvSpPr>
          <p:spPr>
            <a:xfrm flipH="false" flipV="false" rot="0">
              <a:off x="0" y="0"/>
              <a:ext cx="2756605" cy="331768"/>
            </a:xfrm>
            <a:custGeom>
              <a:avLst/>
              <a:gdLst/>
              <a:ahLst/>
              <a:cxnLst/>
              <a:rect r="r" b="b" t="t" l="l"/>
              <a:pathLst>
                <a:path h="331768" w="2756605">
                  <a:moveTo>
                    <a:pt x="0" y="0"/>
                  </a:moveTo>
                  <a:lnTo>
                    <a:pt x="2756605" y="0"/>
                  </a:lnTo>
                  <a:lnTo>
                    <a:pt x="2756605" y="331768"/>
                  </a:lnTo>
                  <a:lnTo>
                    <a:pt x="0" y="331768"/>
                  </a:lnTo>
                  <a:close/>
                </a:path>
              </a:pathLst>
            </a:custGeom>
            <a:gradFill rotWithShape="true">
              <a:gsLst>
                <a:gs pos="0">
                  <a:srgbClr val="C4C4C4">
                    <a:alpha val="100000"/>
                  </a:srgbClr>
                </a:gs>
                <a:gs pos="100000">
                  <a:srgbClr val="FFFFFF">
                    <a:alpha val="0"/>
                  </a:srgbClr>
                </a:gs>
              </a:gsLst>
              <a:lin ang="0"/>
            </a:gradFill>
          </p:spPr>
        </p:sp>
        <p:sp>
          <p:nvSpPr>
            <p:cNvPr name="TextBox 8" id="8"/>
            <p:cNvSpPr txBox="true"/>
            <p:nvPr/>
          </p:nvSpPr>
          <p:spPr>
            <a:xfrm>
              <a:off x="0" y="-38100"/>
              <a:ext cx="2756605" cy="369868"/>
            </a:xfrm>
            <a:prstGeom prst="rect">
              <a:avLst/>
            </a:prstGeom>
          </p:spPr>
          <p:txBody>
            <a:bodyPr anchor="ctr" rtlCol="false" tIns="50800" lIns="50800" bIns="50800" rIns="50800"/>
            <a:lstStyle/>
            <a:p>
              <a:pPr algn="ctr" marL="0" indent="0" lvl="0">
                <a:lnSpc>
                  <a:spcPts val="3359"/>
                </a:lnSpc>
              </a:pPr>
            </a:p>
          </p:txBody>
        </p:sp>
      </p:grpSp>
      <p:sp>
        <p:nvSpPr>
          <p:cNvPr name="TextBox 9" id="9"/>
          <p:cNvSpPr txBox="true"/>
          <p:nvPr/>
        </p:nvSpPr>
        <p:spPr>
          <a:xfrm rot="0">
            <a:off x="1028700" y="3976433"/>
            <a:ext cx="8876004" cy="1165924"/>
          </a:xfrm>
          <a:prstGeom prst="rect">
            <a:avLst/>
          </a:prstGeom>
        </p:spPr>
        <p:txBody>
          <a:bodyPr anchor="t" rtlCol="false" tIns="0" lIns="0" bIns="0" rIns="0">
            <a:spAutoFit/>
          </a:bodyPr>
          <a:lstStyle/>
          <a:p>
            <a:pPr algn="l" marL="0" indent="0" lvl="0">
              <a:lnSpc>
                <a:spcPts val="9353"/>
              </a:lnSpc>
            </a:pPr>
            <a:r>
              <a:rPr lang="en-US" sz="7194">
                <a:solidFill>
                  <a:srgbClr val="141414"/>
                </a:solidFill>
                <a:latin typeface="Pattanakarn SemiExpanded Light"/>
                <a:ea typeface="Pattanakarn SemiExpanded Light"/>
                <a:cs typeface="Pattanakarn SemiExpanded Light"/>
                <a:sym typeface="Pattanakarn SemiExpanded Light"/>
              </a:rPr>
              <a:t>CẢM ƠN THẦY/CÔ</a:t>
            </a:r>
          </a:p>
        </p:txBody>
      </p:sp>
      <p:sp>
        <p:nvSpPr>
          <p:cNvPr name="TextBox 10" id="10"/>
          <p:cNvSpPr txBox="true"/>
          <p:nvPr/>
        </p:nvSpPr>
        <p:spPr>
          <a:xfrm rot="0">
            <a:off x="1028700" y="5069903"/>
            <a:ext cx="12841362" cy="1165924"/>
          </a:xfrm>
          <a:prstGeom prst="rect">
            <a:avLst/>
          </a:prstGeom>
        </p:spPr>
        <p:txBody>
          <a:bodyPr anchor="t" rtlCol="false" tIns="0" lIns="0" bIns="0" rIns="0">
            <a:spAutoFit/>
          </a:bodyPr>
          <a:lstStyle/>
          <a:p>
            <a:pPr algn="l" marL="0" indent="0" lvl="0">
              <a:lnSpc>
                <a:spcPts val="9353"/>
              </a:lnSpc>
            </a:pPr>
            <a:r>
              <a:rPr lang="en-US" b="true" sz="7194">
                <a:solidFill>
                  <a:srgbClr val="141414"/>
                </a:solidFill>
                <a:latin typeface="Pattanakarn SemiExpanded Medium"/>
                <a:ea typeface="Pattanakarn SemiExpanded Medium"/>
                <a:cs typeface="Pattanakarn SemiExpanded Medium"/>
                <a:sym typeface="Pattanakarn SemiExpanded Medium"/>
              </a:rPr>
              <a:t>ĐÃ LẮNG NGHE</a:t>
            </a:r>
          </a:p>
        </p:txBody>
      </p:sp>
      <p:sp>
        <p:nvSpPr>
          <p:cNvPr name="TextBox 11" id="11"/>
          <p:cNvSpPr txBox="true"/>
          <p:nvPr/>
        </p:nvSpPr>
        <p:spPr>
          <a:xfrm rot="0">
            <a:off x="1508500" y="6596373"/>
            <a:ext cx="9846872" cy="511839"/>
          </a:xfrm>
          <a:prstGeom prst="rect">
            <a:avLst/>
          </a:prstGeom>
        </p:spPr>
        <p:txBody>
          <a:bodyPr anchor="t" rtlCol="false" tIns="0" lIns="0" bIns="0" rIns="0">
            <a:spAutoFit/>
          </a:bodyPr>
          <a:lstStyle/>
          <a:p>
            <a:pPr algn="l" marL="0" indent="0" lvl="0">
              <a:lnSpc>
                <a:spcPts val="4157"/>
              </a:lnSpc>
            </a:pPr>
            <a:r>
              <a:rPr lang="en-US" sz="3197">
                <a:solidFill>
                  <a:srgbClr val="141414"/>
                </a:solidFill>
                <a:latin typeface="Proxima Nova"/>
                <a:ea typeface="Proxima Nova"/>
                <a:cs typeface="Proxima Nova"/>
                <a:sym typeface="Proxima Nova"/>
              </a:rPr>
              <a:t>Q&amp;A – Mời thầy/cô và các bạn đặt câu hỏi.</a:t>
            </a:r>
          </a:p>
        </p:txBody>
      </p:sp>
      <p:grpSp>
        <p:nvGrpSpPr>
          <p:cNvPr name="Group 12" id="12"/>
          <p:cNvGrpSpPr/>
          <p:nvPr/>
        </p:nvGrpSpPr>
        <p:grpSpPr>
          <a:xfrm rot="0">
            <a:off x="1028700" y="3635948"/>
            <a:ext cx="5798900" cy="167878"/>
            <a:chOff x="0" y="0"/>
            <a:chExt cx="7731866" cy="223837"/>
          </a:xfrm>
        </p:grpSpPr>
        <p:grpSp>
          <p:nvGrpSpPr>
            <p:cNvPr name="Group 13" id="13"/>
            <p:cNvGrpSpPr/>
            <p:nvPr/>
          </p:nvGrpSpPr>
          <p:grpSpPr>
            <a:xfrm rot="0">
              <a:off x="0" y="0"/>
              <a:ext cx="1674460" cy="223837"/>
              <a:chOff x="0" y="0"/>
              <a:chExt cx="330758" cy="44215"/>
            </a:xfrm>
          </p:grpSpPr>
          <p:sp>
            <p:nvSpPr>
              <p:cNvPr name="Freeform 14" id="14"/>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15" id="15"/>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16" id="16"/>
            <p:cNvSpPr/>
            <p:nvPr/>
          </p:nvSpPr>
          <p:spPr>
            <a:xfrm flipV="true">
              <a:off x="0" y="198437"/>
              <a:ext cx="7731866" cy="0"/>
            </a:xfrm>
            <a:prstGeom prst="line">
              <a:avLst/>
            </a:prstGeom>
            <a:ln cap="flat" w="50800">
              <a:solidFill>
                <a:srgbClr val="141414"/>
              </a:solidFill>
              <a:prstDash val="solid"/>
              <a:headEnd type="none" len="sm" w="sm"/>
              <a:tailEnd type="none" len="sm" w="sm"/>
            </a:ln>
          </p:spPr>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651" y="5534422"/>
            <a:ext cx="7347839" cy="186928"/>
            <a:chOff x="0" y="0"/>
            <a:chExt cx="9797119" cy="249237"/>
          </a:xfrm>
        </p:grpSpPr>
        <p:grpSp>
          <p:nvGrpSpPr>
            <p:cNvPr name="Group 3" id="3"/>
            <p:cNvGrpSpPr/>
            <p:nvPr/>
          </p:nvGrpSpPr>
          <p:grpSpPr>
            <a:xfrm rot="0">
              <a:off x="66" y="0"/>
              <a:ext cx="1674460" cy="223837"/>
              <a:chOff x="0" y="0"/>
              <a:chExt cx="330758" cy="44215"/>
            </a:xfrm>
          </p:grpSpPr>
          <p:sp>
            <p:nvSpPr>
              <p:cNvPr name="Freeform 4" id="4"/>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F8F7F6"/>
              </a:solidFill>
            </p:spPr>
          </p:sp>
          <p:sp>
            <p:nvSpPr>
              <p:cNvPr name="TextBox 5" id="5"/>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6" id="6"/>
            <p:cNvSpPr/>
            <p:nvPr/>
          </p:nvSpPr>
          <p:spPr>
            <a:xfrm>
              <a:off x="66" y="198437"/>
              <a:ext cx="9796987" cy="25400"/>
            </a:xfrm>
            <a:prstGeom prst="line">
              <a:avLst/>
            </a:prstGeom>
            <a:ln cap="flat" w="50800">
              <a:solidFill>
                <a:srgbClr val="F8F7F6"/>
              </a:solidFill>
              <a:prstDash val="solid"/>
              <a:headEnd type="none" len="sm" w="sm"/>
              <a:tailEnd type="none" len="sm" w="sm"/>
            </a:ln>
          </p:spPr>
        </p:sp>
      </p:grpSp>
      <p:sp>
        <p:nvSpPr>
          <p:cNvPr name="Freeform 7" id="7"/>
          <p:cNvSpPr/>
          <p:nvPr/>
        </p:nvSpPr>
        <p:spPr>
          <a:xfrm flipH="false" flipV="false" rot="0">
            <a:off x="9440480" y="2245306"/>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440480" y="4202672"/>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440480" y="6159772"/>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9440480" y="8116872"/>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028700" y="1896359"/>
            <a:ext cx="7521851" cy="2702553"/>
            <a:chOff x="0" y="0"/>
            <a:chExt cx="1165331" cy="418696"/>
          </a:xfrm>
        </p:grpSpPr>
        <p:sp>
          <p:nvSpPr>
            <p:cNvPr name="Freeform 12" id="12"/>
            <p:cNvSpPr/>
            <p:nvPr/>
          </p:nvSpPr>
          <p:spPr>
            <a:xfrm flipH="false" flipV="false" rot="0">
              <a:off x="0" y="0"/>
              <a:ext cx="1165331" cy="418696"/>
            </a:xfrm>
            <a:custGeom>
              <a:avLst/>
              <a:gdLst/>
              <a:ahLst/>
              <a:cxnLst/>
              <a:rect r="r" b="b" t="t" l="l"/>
              <a:pathLst>
                <a:path h="418696" w="1165331">
                  <a:moveTo>
                    <a:pt x="0" y="0"/>
                  </a:moveTo>
                  <a:lnTo>
                    <a:pt x="1165331" y="0"/>
                  </a:lnTo>
                  <a:lnTo>
                    <a:pt x="1165331" y="418696"/>
                  </a:lnTo>
                  <a:lnTo>
                    <a:pt x="0" y="418696"/>
                  </a:lnTo>
                  <a:close/>
                </a:path>
              </a:pathLst>
            </a:custGeom>
            <a:blipFill>
              <a:blip r:embed="rId4"/>
              <a:stretch>
                <a:fillRect l="0" t="-620" r="0" b="-620"/>
              </a:stretch>
            </a:blipFill>
          </p:spPr>
        </p:sp>
      </p:grpSp>
      <p:sp>
        <p:nvSpPr>
          <p:cNvPr name="Freeform 13" id="13"/>
          <p:cNvSpPr/>
          <p:nvPr/>
        </p:nvSpPr>
        <p:spPr>
          <a:xfrm flipH="false" flipV="false" rot="2500775">
            <a:off x="13705427" y="-2170994"/>
            <a:ext cx="7107747" cy="8449030"/>
          </a:xfrm>
          <a:custGeom>
            <a:avLst/>
            <a:gdLst/>
            <a:ahLst/>
            <a:cxnLst/>
            <a:rect r="r" b="b" t="t" l="l"/>
            <a:pathLst>
              <a:path h="8449030" w="7107747">
                <a:moveTo>
                  <a:pt x="0" y="0"/>
                </a:moveTo>
                <a:lnTo>
                  <a:pt x="7107746" y="0"/>
                </a:lnTo>
                <a:lnTo>
                  <a:pt x="7107746" y="8449030"/>
                </a:lnTo>
                <a:lnTo>
                  <a:pt x="0" y="8449030"/>
                </a:lnTo>
                <a:lnTo>
                  <a:pt x="0" y="0"/>
                </a:lnTo>
                <a:close/>
              </a:path>
            </a:pathLst>
          </a:custGeom>
          <a:blipFill>
            <a:blip r:embed="rId5">
              <a:alphaModFix amt="15000"/>
            </a:blip>
            <a:stretch>
              <a:fillRect l="0" t="0" r="0" b="0"/>
            </a:stretch>
          </a:blipFill>
        </p:spPr>
      </p:sp>
      <p:sp>
        <p:nvSpPr>
          <p:cNvPr name="Freeform 14" id="14"/>
          <p:cNvSpPr/>
          <p:nvPr/>
        </p:nvSpPr>
        <p:spPr>
          <a:xfrm flipH="false" flipV="false" rot="2500775">
            <a:off x="-3674149" y="937797"/>
            <a:ext cx="5237358" cy="6225685"/>
          </a:xfrm>
          <a:custGeom>
            <a:avLst/>
            <a:gdLst/>
            <a:ahLst/>
            <a:cxnLst/>
            <a:rect r="r" b="b" t="t" l="l"/>
            <a:pathLst>
              <a:path h="6225685" w="5237358">
                <a:moveTo>
                  <a:pt x="0" y="0"/>
                </a:moveTo>
                <a:lnTo>
                  <a:pt x="5237358" y="0"/>
                </a:lnTo>
                <a:lnTo>
                  <a:pt x="5237358" y="6225685"/>
                </a:lnTo>
                <a:lnTo>
                  <a:pt x="0" y="6225685"/>
                </a:lnTo>
                <a:lnTo>
                  <a:pt x="0" y="0"/>
                </a:lnTo>
                <a:close/>
              </a:path>
            </a:pathLst>
          </a:custGeom>
          <a:blipFill>
            <a:blip r:embed="rId5"/>
            <a:stretch>
              <a:fillRect l="0" t="0" r="0" b="0"/>
            </a:stretch>
          </a:blipFill>
        </p:spPr>
      </p:sp>
      <p:sp>
        <p:nvSpPr>
          <p:cNvPr name="TextBox 15" id="15"/>
          <p:cNvSpPr txBox="true"/>
          <p:nvPr/>
        </p:nvSpPr>
        <p:spPr>
          <a:xfrm rot="0">
            <a:off x="1028700" y="811530"/>
            <a:ext cx="3579030" cy="396283"/>
          </a:xfrm>
          <a:prstGeom prst="rect">
            <a:avLst/>
          </a:prstGeom>
        </p:spPr>
        <p:txBody>
          <a:bodyPr anchor="t" rtlCol="false" tIns="0" lIns="0" bIns="0" rIns="0">
            <a:spAutoFit/>
          </a:bodyPr>
          <a:lstStyle/>
          <a:p>
            <a:pPr algn="l" marL="0" indent="0" lvl="0">
              <a:lnSpc>
                <a:spcPts val="3357"/>
              </a:lnSpc>
            </a:pPr>
            <a:r>
              <a:rPr lang="en-US" sz="2398">
                <a:solidFill>
                  <a:srgbClr val="FFFFFF"/>
                </a:solidFill>
                <a:latin typeface="Proxima Nova"/>
                <a:ea typeface="Proxima Nova"/>
                <a:cs typeface="Proxima Nova"/>
                <a:sym typeface="Proxima Nova"/>
              </a:rPr>
              <a:t>Dự Phòng – Bổ Sung</a:t>
            </a:r>
          </a:p>
        </p:txBody>
      </p:sp>
      <p:sp>
        <p:nvSpPr>
          <p:cNvPr name="TextBox 16" id="16"/>
          <p:cNvSpPr txBox="true"/>
          <p:nvPr/>
        </p:nvSpPr>
        <p:spPr>
          <a:xfrm rot="0">
            <a:off x="14863346" y="811530"/>
            <a:ext cx="2395954" cy="396283"/>
          </a:xfrm>
          <a:prstGeom prst="rect">
            <a:avLst/>
          </a:prstGeom>
        </p:spPr>
        <p:txBody>
          <a:bodyPr anchor="t" rtlCol="false" tIns="0" lIns="0" bIns="0" rIns="0">
            <a:spAutoFit/>
          </a:bodyPr>
          <a:lstStyle/>
          <a:p>
            <a:pPr algn="r" marL="0" indent="0" lvl="0">
              <a:lnSpc>
                <a:spcPts val="3357"/>
              </a:lnSpc>
            </a:pPr>
            <a:r>
              <a:rPr lang="en-US" sz="2398">
                <a:solidFill>
                  <a:srgbClr val="FFFFFF"/>
                </a:solidFill>
                <a:latin typeface="Proxima Nova"/>
                <a:ea typeface="Proxima Nova"/>
                <a:cs typeface="Proxima Nova"/>
                <a:sym typeface="Proxima Nova"/>
              </a:rPr>
              <a:t>02/10/2026</a:t>
            </a:r>
          </a:p>
        </p:txBody>
      </p:sp>
      <p:sp>
        <p:nvSpPr>
          <p:cNvPr name="TextBox 17" id="17"/>
          <p:cNvSpPr txBox="true"/>
          <p:nvPr/>
        </p:nvSpPr>
        <p:spPr>
          <a:xfrm rot="0">
            <a:off x="1028700" y="5977614"/>
            <a:ext cx="7347740" cy="770966"/>
          </a:xfrm>
          <a:prstGeom prst="rect">
            <a:avLst/>
          </a:prstGeom>
        </p:spPr>
        <p:txBody>
          <a:bodyPr anchor="t" rtlCol="false" tIns="0" lIns="0" bIns="0" rIns="0">
            <a:spAutoFit/>
          </a:bodyPr>
          <a:lstStyle/>
          <a:p>
            <a:pPr algn="l" marL="0" indent="0" lvl="0">
              <a:lnSpc>
                <a:spcPts val="6118"/>
              </a:lnSpc>
            </a:pPr>
            <a:r>
              <a:rPr lang="en-US" sz="4706">
                <a:solidFill>
                  <a:srgbClr val="F8F7F6"/>
                </a:solidFill>
                <a:latin typeface="Pattanakarn SemiExpanded Light"/>
                <a:ea typeface="Pattanakarn SemiExpanded Light"/>
                <a:cs typeface="Pattanakarn SemiExpanded Light"/>
                <a:sym typeface="Pattanakarn SemiExpanded Light"/>
              </a:rPr>
              <a:t>PHỤ LỤC</a:t>
            </a:r>
          </a:p>
        </p:txBody>
      </p:sp>
      <p:sp>
        <p:nvSpPr>
          <p:cNvPr name="TextBox 18" id="18"/>
          <p:cNvSpPr txBox="true"/>
          <p:nvPr/>
        </p:nvSpPr>
        <p:spPr>
          <a:xfrm rot="0">
            <a:off x="1028700" y="6736658"/>
            <a:ext cx="7347740" cy="1544557"/>
          </a:xfrm>
          <a:prstGeom prst="rect">
            <a:avLst/>
          </a:prstGeom>
        </p:spPr>
        <p:txBody>
          <a:bodyPr anchor="t" rtlCol="false" tIns="0" lIns="0" bIns="0" rIns="0">
            <a:spAutoFit/>
          </a:bodyPr>
          <a:lstStyle/>
          <a:p>
            <a:pPr algn="l" marL="0" indent="0" lvl="0">
              <a:lnSpc>
                <a:spcPts val="6118"/>
              </a:lnSpc>
            </a:pPr>
            <a:r>
              <a:rPr lang="en-US" b="true" sz="4706">
                <a:solidFill>
                  <a:srgbClr val="F8F7F6"/>
                </a:solidFill>
                <a:latin typeface="Pattanakarn SemiExpanded Medium"/>
                <a:ea typeface="Pattanakarn SemiExpanded Medium"/>
                <a:cs typeface="Pattanakarn SemiExpanded Medium"/>
                <a:sym typeface="Pattanakarn SemiExpanded Medium"/>
              </a:rPr>
              <a:t>CHI TIẾT KỸ THUẬT &amp; CÂU HỎI THƯỜNG GẶP</a:t>
            </a:r>
          </a:p>
        </p:txBody>
      </p:sp>
      <p:sp>
        <p:nvSpPr>
          <p:cNvPr name="TextBox 19" id="19"/>
          <p:cNvSpPr txBox="true"/>
          <p:nvPr/>
        </p:nvSpPr>
        <p:spPr>
          <a:xfrm rot="0">
            <a:off x="10482903" y="2297074"/>
            <a:ext cx="6776397" cy="789612"/>
          </a:xfrm>
          <a:prstGeom prst="rect">
            <a:avLst/>
          </a:prstGeom>
        </p:spPr>
        <p:txBody>
          <a:bodyPr anchor="t" rtlCol="false" tIns="0" lIns="0" bIns="0" rIns="0">
            <a:spAutoFit/>
          </a:bodyPr>
          <a:lstStyle/>
          <a:p>
            <a:pPr algn="l" marL="0" indent="0" lvl="0">
              <a:lnSpc>
                <a:spcPts val="2153"/>
              </a:lnSpc>
            </a:pPr>
            <a:r>
              <a:rPr lang="en-US" sz="1537">
                <a:solidFill>
                  <a:srgbClr val="FFFFFF"/>
                </a:solidFill>
                <a:latin typeface="Proxima Nova Light"/>
                <a:ea typeface="Proxima Nova Light"/>
                <a:cs typeface="Proxima Nova Light"/>
                <a:sym typeface="Proxima Nova Light"/>
              </a:rPr>
              <a:t>ŷ = β₀ + β₁x₁ + β₂x₂ + ... + βₙxₙ</a:t>
            </a:r>
          </a:p>
          <a:p>
            <a:pPr algn="l" marL="0" indent="0" lvl="0">
              <a:lnSpc>
                <a:spcPts val="2153"/>
              </a:lnSpc>
            </a:pPr>
            <a:r>
              <a:rPr lang="en-US" sz="1537">
                <a:solidFill>
                  <a:srgbClr val="FFFFFF"/>
                </a:solidFill>
                <a:latin typeface="Proxima Nova Light"/>
                <a:ea typeface="Proxima Nova Light"/>
                <a:cs typeface="Proxima Nova Light"/>
                <a:sym typeface="Proxima Nova Light"/>
              </a:rPr>
              <a:t>Tối thiểu hóa tổng bình phương sai số (OLS).</a:t>
            </a:r>
          </a:p>
          <a:p>
            <a:pPr algn="l" marL="0" indent="0" lvl="0">
              <a:lnSpc>
                <a:spcPts val="2153"/>
              </a:lnSpc>
            </a:pPr>
            <a:r>
              <a:rPr lang="en-US" sz="1537">
                <a:solidFill>
                  <a:srgbClr val="FFFFFF"/>
                </a:solidFill>
                <a:latin typeface="Proxima Nova Light"/>
                <a:ea typeface="Proxima Nova Light"/>
                <a:cs typeface="Proxima Nova Light"/>
                <a:sym typeface="Proxima Nova Light"/>
              </a:rPr>
              <a:t>Giả định: quan hệ tuyến tính, phương sai đồng đều, không đa cộng tuyến.</a:t>
            </a:r>
          </a:p>
        </p:txBody>
      </p:sp>
      <p:sp>
        <p:nvSpPr>
          <p:cNvPr name="TextBox 20" id="20"/>
          <p:cNvSpPr txBox="true"/>
          <p:nvPr/>
        </p:nvSpPr>
        <p:spPr>
          <a:xfrm rot="0">
            <a:off x="10482903" y="1896359"/>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Công Thức Linear Regression</a:t>
            </a:r>
          </a:p>
        </p:txBody>
      </p:sp>
      <p:sp>
        <p:nvSpPr>
          <p:cNvPr name="TextBox 21" id="21"/>
          <p:cNvSpPr txBox="true"/>
          <p:nvPr/>
        </p:nvSpPr>
        <p:spPr>
          <a:xfrm rot="0">
            <a:off x="10482903" y="4254439"/>
            <a:ext cx="6776397" cy="789612"/>
          </a:xfrm>
          <a:prstGeom prst="rect">
            <a:avLst/>
          </a:prstGeom>
        </p:spPr>
        <p:txBody>
          <a:bodyPr anchor="t" rtlCol="false" tIns="0" lIns="0" bIns="0" rIns="0">
            <a:spAutoFit/>
          </a:bodyPr>
          <a:lstStyle/>
          <a:p>
            <a:pPr algn="l" marL="0" indent="0" lvl="0">
              <a:lnSpc>
                <a:spcPts val="2153"/>
              </a:lnSpc>
            </a:pPr>
            <a:r>
              <a:rPr lang="en-US" sz="1537">
                <a:solidFill>
                  <a:srgbClr val="FFFFFF"/>
                </a:solidFill>
                <a:latin typeface="Proxima Nova Light"/>
                <a:ea typeface="Proxima Nova Light"/>
                <a:cs typeface="Proxima Nova Light"/>
                <a:sym typeface="Proxima Nova Light"/>
              </a:rPr>
              <a:t>MAE: sai số tuyệt đối trung bình – dễ hiểu, cùng đơn vị đầu ra.</a:t>
            </a:r>
          </a:p>
          <a:p>
            <a:pPr algn="l" marL="0" indent="0" lvl="0">
              <a:lnSpc>
                <a:spcPts val="2153"/>
              </a:lnSpc>
            </a:pPr>
            <a:r>
              <a:rPr lang="en-US" sz="1537">
                <a:solidFill>
                  <a:srgbClr val="FFFFFF"/>
                </a:solidFill>
                <a:latin typeface="Proxima Nova Light"/>
                <a:ea typeface="Proxima Nova Light"/>
                <a:cs typeface="Proxima Nova Light"/>
                <a:sym typeface="Proxima Nova Light"/>
              </a:rPr>
              <a:t>RMSE: phạt mạnh sai số lớn hơn MAE.</a:t>
            </a:r>
          </a:p>
          <a:p>
            <a:pPr algn="l" marL="0" indent="0" lvl="0">
              <a:lnSpc>
                <a:spcPts val="2153"/>
              </a:lnSpc>
            </a:pPr>
            <a:r>
              <a:rPr lang="en-US" sz="1537">
                <a:solidFill>
                  <a:srgbClr val="FFFFFF"/>
                </a:solidFill>
                <a:latin typeface="Proxima Nova Light"/>
                <a:ea typeface="Proxima Nova Light"/>
                <a:cs typeface="Proxima Nova Light"/>
                <a:sym typeface="Proxima Nova Light"/>
              </a:rPr>
              <a:t>R²: tỷ lệ phương sai được giải thích; R²≈1 là tốt.</a:t>
            </a:r>
          </a:p>
        </p:txBody>
      </p:sp>
      <p:sp>
        <p:nvSpPr>
          <p:cNvPr name="TextBox 22" id="22"/>
          <p:cNvSpPr txBox="true"/>
          <p:nvPr/>
        </p:nvSpPr>
        <p:spPr>
          <a:xfrm rot="0">
            <a:off x="10482903" y="3853724"/>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Cách Đọc Metric Đánh Giá</a:t>
            </a:r>
          </a:p>
        </p:txBody>
      </p:sp>
      <p:sp>
        <p:nvSpPr>
          <p:cNvPr name="TextBox 23" id="23"/>
          <p:cNvSpPr txBox="true"/>
          <p:nvPr/>
        </p:nvSpPr>
        <p:spPr>
          <a:xfrm rot="0">
            <a:off x="10482903" y="6211540"/>
            <a:ext cx="6776397" cy="1056312"/>
          </a:xfrm>
          <a:prstGeom prst="rect">
            <a:avLst/>
          </a:prstGeom>
        </p:spPr>
        <p:txBody>
          <a:bodyPr anchor="t" rtlCol="false" tIns="0" lIns="0" bIns="0" rIns="0">
            <a:spAutoFit/>
          </a:bodyPr>
          <a:lstStyle/>
          <a:p>
            <a:pPr algn="l" marL="0" indent="0" lvl="0">
              <a:lnSpc>
                <a:spcPts val="2153"/>
              </a:lnSpc>
            </a:pPr>
            <a:r>
              <a:rPr lang="en-US" sz="1537">
                <a:solidFill>
                  <a:srgbClr val="FFFFFF"/>
                </a:solidFill>
                <a:latin typeface="Proxima Nova Light"/>
                <a:ea typeface="Proxima Nova Light"/>
                <a:cs typeface="Proxima Nova Light"/>
                <a:sym typeface="Proxima Nova Light"/>
              </a:rPr>
              <a:t>Q: Tại sao không dùng mạng nơ-ron?</a:t>
            </a:r>
          </a:p>
          <a:p>
            <a:pPr algn="l" marL="0" indent="0" lvl="0">
              <a:lnSpc>
                <a:spcPts val="2153"/>
              </a:lnSpc>
            </a:pPr>
            <a:r>
              <a:rPr lang="en-US" sz="1537">
                <a:solidFill>
                  <a:srgbClr val="FFFFFF"/>
                </a:solidFill>
                <a:latin typeface="Proxima Nova Light"/>
                <a:ea typeface="Proxima Nova Light"/>
                <a:cs typeface="Proxima Nova Light"/>
                <a:sym typeface="Proxima Nova Light"/>
              </a:rPr>
              <a:t>A: Dataset nhỏ, quan hệ gần tuyến tính – mô hình đơn giản đã đủ tốt.</a:t>
            </a:r>
          </a:p>
          <a:p>
            <a:pPr algn="l" marL="0" indent="0" lvl="0">
              <a:lnSpc>
                <a:spcPts val="2153"/>
              </a:lnSpc>
            </a:pPr>
            <a:r>
              <a:rPr lang="en-US" sz="1537">
                <a:solidFill>
                  <a:srgbClr val="FFFFFF"/>
                </a:solidFill>
                <a:latin typeface="Proxima Nova Light"/>
                <a:ea typeface="Proxima Nova Light"/>
                <a:cs typeface="Proxima Nova Light"/>
                <a:sym typeface="Proxima Nova Light"/>
              </a:rPr>
              <a:t>Q: Có overfitting không?</a:t>
            </a:r>
          </a:p>
          <a:p>
            <a:pPr algn="l" marL="0" indent="0" lvl="0">
              <a:lnSpc>
                <a:spcPts val="2153"/>
              </a:lnSpc>
            </a:pPr>
            <a:r>
              <a:rPr lang="en-US" sz="1537">
                <a:solidFill>
                  <a:srgbClr val="FFFFFF"/>
                </a:solidFill>
                <a:latin typeface="Proxima Nova Light"/>
                <a:ea typeface="Proxima Nova Light"/>
                <a:cs typeface="Proxima Nova Light"/>
                <a:sym typeface="Proxima Nova Light"/>
              </a:rPr>
              <a:t>A: R² train/test chênh lệch 0.0003 – không đáng kể.</a:t>
            </a:r>
          </a:p>
        </p:txBody>
      </p:sp>
      <p:sp>
        <p:nvSpPr>
          <p:cNvPr name="TextBox 24" id="24"/>
          <p:cNvSpPr txBox="true"/>
          <p:nvPr/>
        </p:nvSpPr>
        <p:spPr>
          <a:xfrm rot="0">
            <a:off x="10482903" y="5810824"/>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Câu Hỏi Thường Gặp (FAQ)</a:t>
            </a:r>
          </a:p>
        </p:txBody>
      </p:sp>
      <p:sp>
        <p:nvSpPr>
          <p:cNvPr name="TextBox 25" id="25"/>
          <p:cNvSpPr txBox="true"/>
          <p:nvPr/>
        </p:nvSpPr>
        <p:spPr>
          <a:xfrm rot="0">
            <a:off x="10482903" y="8168640"/>
            <a:ext cx="6776397" cy="789612"/>
          </a:xfrm>
          <a:prstGeom prst="rect">
            <a:avLst/>
          </a:prstGeom>
        </p:spPr>
        <p:txBody>
          <a:bodyPr anchor="t" rtlCol="false" tIns="0" lIns="0" bIns="0" rIns="0">
            <a:spAutoFit/>
          </a:bodyPr>
          <a:lstStyle/>
          <a:p>
            <a:pPr algn="l" marL="0" indent="0" lvl="0">
              <a:lnSpc>
                <a:spcPts val="2153"/>
              </a:lnSpc>
            </a:pPr>
            <a:r>
              <a:rPr lang="en-US" sz="1537">
                <a:solidFill>
                  <a:srgbClr val="FFFFFF"/>
                </a:solidFill>
                <a:latin typeface="Proxima Nova Light"/>
                <a:ea typeface="Proxima Nova Light"/>
                <a:cs typeface="Proxima Nova Light"/>
                <a:sym typeface="Proxima Nova Light"/>
              </a:rPr>
              <a:t>Giả định tuyến tính có thể không đúng với dữ liệu thực tế phức tạp hơn.</a:t>
            </a:r>
          </a:p>
          <a:p>
            <a:pPr algn="l" marL="0" indent="0" lvl="0">
              <a:lnSpc>
                <a:spcPts val="2153"/>
              </a:lnSpc>
            </a:pPr>
            <a:r>
              <a:rPr lang="en-US" sz="1537">
                <a:solidFill>
                  <a:srgbClr val="FFFFFF"/>
                </a:solidFill>
                <a:latin typeface="Proxima Nova Light"/>
                <a:ea typeface="Proxima Nova Light"/>
                <a:cs typeface="Proxima Nova Light"/>
                <a:sym typeface="Proxima Nova Light"/>
              </a:rPr>
              <a:t>Dataset từ Kaggle – chưa kiểm chứng thực tế.</a:t>
            </a:r>
          </a:p>
          <a:p>
            <a:pPr algn="l" marL="0" indent="0" lvl="0">
              <a:lnSpc>
                <a:spcPts val="2153"/>
              </a:lnSpc>
            </a:pPr>
            <a:r>
              <a:rPr lang="en-US" sz="1537">
                <a:solidFill>
                  <a:srgbClr val="FFFFFF"/>
                </a:solidFill>
                <a:latin typeface="Proxima Nova Light"/>
                <a:ea typeface="Proxima Nova Light"/>
                <a:cs typeface="Proxima Nova Light"/>
                <a:sym typeface="Proxima Nova Light"/>
              </a:rPr>
              <a:t>Cần thu thập thêm dữ liệu để tăng độ tin cậy khi triển khai.</a:t>
            </a:r>
          </a:p>
        </p:txBody>
      </p:sp>
      <p:sp>
        <p:nvSpPr>
          <p:cNvPr name="TextBox 26" id="26"/>
          <p:cNvSpPr txBox="true"/>
          <p:nvPr/>
        </p:nvSpPr>
        <p:spPr>
          <a:xfrm rot="0">
            <a:off x="10482903" y="7767925"/>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Giả Định &amp; Giới Hạn Mô Hình</a:t>
            </a:r>
          </a:p>
        </p:txBody>
      </p:sp>
      <p:sp>
        <p:nvSpPr>
          <p:cNvPr name="Freeform 27" id="27"/>
          <p:cNvSpPr/>
          <p:nvPr/>
        </p:nvSpPr>
        <p:spPr>
          <a:xfrm flipH="false" flipV="false" rot="0">
            <a:off x="171405" y="9505139"/>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6">
              <a:extLst>
                <a:ext uri="{96DAC541-7B7A-43D3-8B79-37D633B846F1}">
                  <asvg:svgBlip xmlns:asvg="http://schemas.microsoft.com/office/drawing/2016/SVG/main" r:embed="rId7"/>
                </a:ext>
              </a:extLst>
            </a:blip>
            <a:stretch>
              <a:fillRect l="0" t="0" r="-116058" b="-123249"/>
            </a:stretch>
          </a:blipFill>
        </p:spPr>
      </p:sp>
      <p:sp>
        <p:nvSpPr>
          <p:cNvPr name="Freeform 28" id="28"/>
          <p:cNvSpPr/>
          <p:nvPr/>
        </p:nvSpPr>
        <p:spPr>
          <a:xfrm flipH="false" flipV="false" rot="0">
            <a:off x="8600054"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6">
              <a:extLst>
                <a:ext uri="{96DAC541-7B7A-43D3-8B79-37D633B846F1}">
                  <asvg:svgBlip xmlns:asvg="http://schemas.microsoft.com/office/drawing/2016/SVG/main" r:embed="rId7"/>
                </a:ext>
              </a:extLst>
            </a:blip>
            <a:stretch>
              <a:fillRect l="0" t="0" r="-116058" b="-123249"/>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651" y="4819511"/>
            <a:ext cx="7347839" cy="186928"/>
            <a:chOff x="0" y="0"/>
            <a:chExt cx="9797119" cy="249237"/>
          </a:xfrm>
        </p:grpSpPr>
        <p:grpSp>
          <p:nvGrpSpPr>
            <p:cNvPr name="Group 4" id="4"/>
            <p:cNvGrpSpPr/>
            <p:nvPr/>
          </p:nvGrpSpPr>
          <p:grpSpPr>
            <a:xfrm rot="0">
              <a:off x="66" y="0"/>
              <a:ext cx="1674460" cy="223837"/>
              <a:chOff x="0" y="0"/>
              <a:chExt cx="330758" cy="44215"/>
            </a:xfrm>
          </p:grpSpPr>
          <p:sp>
            <p:nvSpPr>
              <p:cNvPr name="Freeform 5" id="5"/>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6" id="6"/>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7" id="7"/>
            <p:cNvSpPr/>
            <p:nvPr/>
          </p:nvSpPr>
          <p:spPr>
            <a:xfrm>
              <a:off x="66" y="198437"/>
              <a:ext cx="9796987" cy="25400"/>
            </a:xfrm>
            <a:prstGeom prst="line">
              <a:avLst/>
            </a:prstGeom>
            <a:ln cap="flat" w="50800">
              <a:solidFill>
                <a:srgbClr val="141414"/>
              </a:solidFill>
              <a:prstDash val="solid"/>
              <a:headEnd type="none" len="sm" w="sm"/>
              <a:tailEnd type="none" len="sm" w="sm"/>
            </a:ln>
          </p:spPr>
        </p:sp>
      </p:grpSp>
      <p:grpSp>
        <p:nvGrpSpPr>
          <p:cNvPr name="Group 8" id="8"/>
          <p:cNvGrpSpPr/>
          <p:nvPr/>
        </p:nvGrpSpPr>
        <p:grpSpPr>
          <a:xfrm rot="0">
            <a:off x="8917825" y="1460835"/>
            <a:ext cx="2895600" cy="2891961"/>
            <a:chOff x="0" y="0"/>
            <a:chExt cx="762627" cy="761669"/>
          </a:xfrm>
        </p:grpSpPr>
        <p:sp>
          <p:nvSpPr>
            <p:cNvPr name="Freeform 9" id="9"/>
            <p:cNvSpPr/>
            <p:nvPr/>
          </p:nvSpPr>
          <p:spPr>
            <a:xfrm flipH="false" flipV="false" rot="0">
              <a:off x="0" y="0"/>
              <a:ext cx="762627" cy="761669"/>
            </a:xfrm>
            <a:custGeom>
              <a:avLst/>
              <a:gdLst/>
              <a:ahLst/>
              <a:cxnLst/>
              <a:rect r="r" b="b" t="t" l="l"/>
              <a:pathLst>
                <a:path h="761669" w="762627">
                  <a:moveTo>
                    <a:pt x="0" y="0"/>
                  </a:moveTo>
                  <a:lnTo>
                    <a:pt x="762627" y="0"/>
                  </a:lnTo>
                  <a:lnTo>
                    <a:pt x="762627" y="761669"/>
                  </a:lnTo>
                  <a:lnTo>
                    <a:pt x="0" y="761669"/>
                  </a:lnTo>
                  <a:close/>
                </a:path>
              </a:pathLst>
            </a:custGeom>
            <a:solidFill>
              <a:srgbClr val="141414"/>
            </a:solidFill>
          </p:spPr>
        </p:sp>
        <p:sp>
          <p:nvSpPr>
            <p:cNvPr name="TextBox 10" id="10"/>
            <p:cNvSpPr txBox="true"/>
            <p:nvPr/>
          </p:nvSpPr>
          <p:spPr>
            <a:xfrm>
              <a:off x="0" y="-38100"/>
              <a:ext cx="762627" cy="799769"/>
            </a:xfrm>
            <a:prstGeom prst="rect">
              <a:avLst/>
            </a:prstGeom>
          </p:spPr>
          <p:txBody>
            <a:bodyPr anchor="ctr" rtlCol="false" tIns="50800" lIns="50800" bIns="50800" rIns="50800"/>
            <a:lstStyle/>
            <a:p>
              <a:pPr algn="ctr" marL="0" indent="0" lvl="0">
                <a:lnSpc>
                  <a:spcPts val="3359"/>
                </a:lnSpc>
              </a:pPr>
            </a:p>
          </p:txBody>
        </p:sp>
      </p:grpSp>
      <p:grpSp>
        <p:nvGrpSpPr>
          <p:cNvPr name="Group 11" id="11"/>
          <p:cNvGrpSpPr/>
          <p:nvPr/>
        </p:nvGrpSpPr>
        <p:grpSpPr>
          <a:xfrm rot="0">
            <a:off x="9737449" y="2147771"/>
            <a:ext cx="7521851" cy="4391429"/>
            <a:chOff x="0" y="0"/>
            <a:chExt cx="1165331" cy="680347"/>
          </a:xfrm>
        </p:grpSpPr>
        <p:sp>
          <p:nvSpPr>
            <p:cNvPr name="Freeform 12" id="12"/>
            <p:cNvSpPr/>
            <p:nvPr/>
          </p:nvSpPr>
          <p:spPr>
            <a:xfrm flipH="false" flipV="false" rot="0">
              <a:off x="0" y="0"/>
              <a:ext cx="1165331" cy="680347"/>
            </a:xfrm>
            <a:custGeom>
              <a:avLst/>
              <a:gdLst/>
              <a:ahLst/>
              <a:cxnLst/>
              <a:rect r="r" b="b" t="t" l="l"/>
              <a:pathLst>
                <a:path h="680347" w="1165331">
                  <a:moveTo>
                    <a:pt x="0" y="0"/>
                  </a:moveTo>
                  <a:lnTo>
                    <a:pt x="1165331" y="0"/>
                  </a:lnTo>
                  <a:lnTo>
                    <a:pt x="1165331" y="680347"/>
                  </a:lnTo>
                  <a:lnTo>
                    <a:pt x="0" y="680347"/>
                  </a:lnTo>
                  <a:close/>
                </a:path>
              </a:pathLst>
            </a:custGeom>
            <a:blipFill>
              <a:blip r:embed="rId3"/>
              <a:stretch>
                <a:fillRect l="-113" t="0" r="-113" b="0"/>
              </a:stretch>
            </a:blipFill>
          </p:spPr>
        </p:sp>
      </p:grpSp>
      <p:grpSp>
        <p:nvGrpSpPr>
          <p:cNvPr name="Group 13" id="13"/>
          <p:cNvGrpSpPr/>
          <p:nvPr/>
        </p:nvGrpSpPr>
        <p:grpSpPr>
          <a:xfrm rot="0">
            <a:off x="15930695" y="5248212"/>
            <a:ext cx="1048015" cy="1046698"/>
            <a:chOff x="0" y="0"/>
            <a:chExt cx="762627" cy="761669"/>
          </a:xfrm>
        </p:grpSpPr>
        <p:sp>
          <p:nvSpPr>
            <p:cNvPr name="Freeform 14" id="14"/>
            <p:cNvSpPr/>
            <p:nvPr/>
          </p:nvSpPr>
          <p:spPr>
            <a:xfrm flipH="false" flipV="false" rot="0">
              <a:off x="0" y="0"/>
              <a:ext cx="762627" cy="761669"/>
            </a:xfrm>
            <a:custGeom>
              <a:avLst/>
              <a:gdLst/>
              <a:ahLst/>
              <a:cxnLst/>
              <a:rect r="r" b="b" t="t" l="l"/>
              <a:pathLst>
                <a:path h="761669" w="762627">
                  <a:moveTo>
                    <a:pt x="0" y="0"/>
                  </a:moveTo>
                  <a:lnTo>
                    <a:pt x="762627" y="0"/>
                  </a:lnTo>
                  <a:lnTo>
                    <a:pt x="762627" y="761669"/>
                  </a:lnTo>
                  <a:lnTo>
                    <a:pt x="0" y="761669"/>
                  </a:lnTo>
                  <a:close/>
                </a:path>
              </a:pathLst>
            </a:custGeom>
            <a:solidFill>
              <a:srgbClr val="F8F7F6"/>
            </a:solidFill>
          </p:spPr>
        </p:sp>
        <p:sp>
          <p:nvSpPr>
            <p:cNvPr name="TextBox 15" id="15"/>
            <p:cNvSpPr txBox="true"/>
            <p:nvPr/>
          </p:nvSpPr>
          <p:spPr>
            <a:xfrm>
              <a:off x="0" y="-38100"/>
              <a:ext cx="762627" cy="799769"/>
            </a:xfrm>
            <a:prstGeom prst="rect">
              <a:avLst/>
            </a:prstGeom>
          </p:spPr>
          <p:txBody>
            <a:bodyPr anchor="ctr" rtlCol="false" tIns="50800" lIns="50800" bIns="50800" rIns="50800"/>
            <a:lstStyle/>
            <a:p>
              <a:pPr algn="ctr" marL="0" indent="0" lvl="0">
                <a:lnSpc>
                  <a:spcPts val="3359"/>
                </a:lnSpc>
              </a:pPr>
            </a:p>
          </p:txBody>
        </p:sp>
      </p:grpSp>
      <p:sp>
        <p:nvSpPr>
          <p:cNvPr name="Freeform 16" id="16"/>
          <p:cNvSpPr/>
          <p:nvPr/>
        </p:nvSpPr>
        <p:spPr>
          <a:xfrm flipH="false" flipV="false" rot="-2700000">
            <a:off x="15650565" y="920577"/>
            <a:ext cx="8510634" cy="7797868"/>
          </a:xfrm>
          <a:custGeom>
            <a:avLst/>
            <a:gdLst/>
            <a:ahLst/>
            <a:cxnLst/>
            <a:rect r="r" b="b" t="t" l="l"/>
            <a:pathLst>
              <a:path h="7797868" w="8510634">
                <a:moveTo>
                  <a:pt x="0" y="0"/>
                </a:moveTo>
                <a:lnTo>
                  <a:pt x="8510634" y="0"/>
                </a:lnTo>
                <a:lnTo>
                  <a:pt x="8510634" y="7797868"/>
                </a:lnTo>
                <a:lnTo>
                  <a:pt x="0" y="7797868"/>
                </a:lnTo>
                <a:lnTo>
                  <a:pt x="0" y="0"/>
                </a:lnTo>
                <a:close/>
              </a:path>
            </a:pathLst>
          </a:custGeom>
          <a:blipFill>
            <a:blip r:embed="rId4"/>
            <a:stretch>
              <a:fillRect l="0" t="0" r="0" b="0"/>
            </a:stretch>
          </a:blipFill>
        </p:spPr>
      </p:sp>
      <p:sp>
        <p:nvSpPr>
          <p:cNvPr name="Freeform 17" id="17"/>
          <p:cNvSpPr/>
          <p:nvPr/>
        </p:nvSpPr>
        <p:spPr>
          <a:xfrm flipH="false" flipV="false" rot="-2069870">
            <a:off x="-2757183" y="-3227427"/>
            <a:ext cx="8510634" cy="7797868"/>
          </a:xfrm>
          <a:custGeom>
            <a:avLst/>
            <a:gdLst/>
            <a:ahLst/>
            <a:cxnLst/>
            <a:rect r="r" b="b" t="t" l="l"/>
            <a:pathLst>
              <a:path h="7797868" w="8510634">
                <a:moveTo>
                  <a:pt x="0" y="0"/>
                </a:moveTo>
                <a:lnTo>
                  <a:pt x="8510634" y="0"/>
                </a:lnTo>
                <a:lnTo>
                  <a:pt x="8510634" y="7797868"/>
                </a:lnTo>
                <a:lnTo>
                  <a:pt x="0" y="7797868"/>
                </a:lnTo>
                <a:lnTo>
                  <a:pt x="0" y="0"/>
                </a:lnTo>
                <a:close/>
              </a:path>
            </a:pathLst>
          </a:custGeom>
          <a:blipFill>
            <a:blip r:embed="rId4">
              <a:alphaModFix amt="15000"/>
            </a:blip>
            <a:stretch>
              <a:fillRect l="0" t="0" r="0" b="0"/>
            </a:stretch>
          </a:blipFill>
        </p:spPr>
      </p:sp>
      <p:sp>
        <p:nvSpPr>
          <p:cNvPr name="TextBox 18" id="18"/>
          <p:cNvSpPr txBox="true"/>
          <p:nvPr/>
        </p:nvSpPr>
        <p:spPr>
          <a:xfrm rot="0">
            <a:off x="1028700" y="821055"/>
            <a:ext cx="3579030" cy="265262"/>
          </a:xfrm>
          <a:prstGeom prst="rect">
            <a:avLst/>
          </a:prstGeom>
        </p:spPr>
        <p:txBody>
          <a:bodyPr anchor="t" rtlCol="false" tIns="0" lIns="0" bIns="0" rIns="0">
            <a:spAutoFit/>
          </a:bodyPr>
          <a:lstStyle/>
          <a:p>
            <a:pPr algn="l" marL="0" indent="0" lvl="0">
              <a:lnSpc>
                <a:spcPts val="2179"/>
              </a:lnSpc>
            </a:pPr>
            <a:r>
              <a:rPr lang="en-US" sz="1556">
                <a:solidFill>
                  <a:srgbClr val="141414"/>
                </a:solidFill>
                <a:latin typeface="Proxima Nova"/>
                <a:ea typeface="Proxima Nova"/>
                <a:cs typeface="Proxima Nova"/>
                <a:sym typeface="Proxima Nova"/>
              </a:rPr>
              <a:t>Ingoude Company</a:t>
            </a:r>
          </a:p>
        </p:txBody>
      </p:sp>
      <p:sp>
        <p:nvSpPr>
          <p:cNvPr name="TextBox 19" id="19"/>
          <p:cNvSpPr txBox="true"/>
          <p:nvPr/>
        </p:nvSpPr>
        <p:spPr>
          <a:xfrm rot="0">
            <a:off x="1028700" y="5314285"/>
            <a:ext cx="7347740" cy="541487"/>
          </a:xfrm>
          <a:prstGeom prst="rect">
            <a:avLst/>
          </a:prstGeom>
        </p:spPr>
        <p:txBody>
          <a:bodyPr anchor="t" rtlCol="false" tIns="0" lIns="0" bIns="0" rIns="0">
            <a:spAutoFit/>
          </a:bodyPr>
          <a:lstStyle/>
          <a:p>
            <a:pPr algn="l" marL="0" indent="0" lvl="0">
              <a:lnSpc>
                <a:spcPts val="2179"/>
              </a:lnSpc>
            </a:pPr>
            <a:r>
              <a:rPr lang="en-US" sz="1556">
                <a:solidFill>
                  <a:srgbClr val="141414"/>
                </a:solidFill>
                <a:latin typeface="Proxima Nova Light"/>
                <a:ea typeface="Proxima Nova Light"/>
                <a:cs typeface="Proxima Nova Light"/>
                <a:sym typeface="Proxima Nova Light"/>
              </a:rPr>
              <a:t>Các nội dung bổ sung bên dưới hỗ trợ giải thích chi tiết hơn về dữ liệu, tiền xử lý và kiến trúc triển khai hệ thống khi được hỏi thêm.</a:t>
            </a:r>
          </a:p>
        </p:txBody>
      </p:sp>
      <p:sp>
        <p:nvSpPr>
          <p:cNvPr name="TextBox 20" id="20"/>
          <p:cNvSpPr txBox="true"/>
          <p:nvPr/>
        </p:nvSpPr>
        <p:spPr>
          <a:xfrm rot="0">
            <a:off x="1028700" y="7797165"/>
            <a:ext cx="5071492" cy="1422729"/>
          </a:xfrm>
          <a:prstGeom prst="rect">
            <a:avLst/>
          </a:prstGeom>
        </p:spPr>
        <p:txBody>
          <a:bodyPr anchor="t" rtlCol="false" tIns="0" lIns="0" bIns="0" rIns="0">
            <a:spAutoFit/>
          </a:bodyPr>
          <a:lstStyle/>
          <a:p>
            <a:pPr algn="l" marL="0" indent="0" lvl="0">
              <a:lnSpc>
                <a:spcPts val="1906"/>
              </a:lnSpc>
            </a:pPr>
            <a:r>
              <a:rPr lang="en-US" sz="1362">
                <a:solidFill>
                  <a:srgbClr val="141414"/>
                </a:solidFill>
                <a:latin typeface="Proxima Nova Light"/>
                <a:ea typeface="Proxima Nova Light"/>
                <a:cs typeface="Proxima Nova Light"/>
                <a:sym typeface="Proxima Nova Light"/>
              </a:rPr>
              <a:t>• Dataset: Student_Performance.csv (Kaggle)</a:t>
            </a:r>
          </a:p>
          <a:p>
            <a:pPr algn="l" marL="0" indent="0" lvl="0">
              <a:lnSpc>
                <a:spcPts val="1906"/>
              </a:lnSpc>
            </a:pPr>
            <a:r>
              <a:rPr lang="en-US" sz="1362">
                <a:solidFill>
                  <a:srgbClr val="141414"/>
                </a:solidFill>
                <a:latin typeface="Proxima Nova Light"/>
                <a:ea typeface="Proxima Nova Light"/>
                <a:cs typeface="Proxima Nova Light"/>
                <a:sym typeface="Proxima Nova Light"/>
              </a:rPr>
              <a:t>• 10.000 dòng ban đầu, 6 cột</a:t>
            </a:r>
          </a:p>
          <a:p>
            <a:pPr algn="l" marL="0" indent="0" lvl="0">
              <a:lnSpc>
                <a:spcPts val="1906"/>
              </a:lnSpc>
            </a:pPr>
            <a:r>
              <a:rPr lang="en-US" sz="1362">
                <a:solidFill>
                  <a:srgbClr val="141414"/>
                </a:solidFill>
                <a:latin typeface="Proxima Nova Light"/>
                <a:ea typeface="Proxima Nova Light"/>
                <a:cs typeface="Proxima Nova Light"/>
                <a:sym typeface="Proxima Nova Light"/>
              </a:rPr>
              <a:t>• Không có giá trị khuyết thiếu</a:t>
            </a:r>
          </a:p>
          <a:p>
            <a:pPr algn="l" marL="0" indent="0" lvl="0">
              <a:lnSpc>
                <a:spcPts val="1906"/>
              </a:lnSpc>
            </a:pPr>
            <a:r>
              <a:rPr lang="en-US" sz="1362">
                <a:solidFill>
                  <a:srgbClr val="141414"/>
                </a:solidFill>
                <a:latin typeface="Proxima Nova Light"/>
                <a:ea typeface="Proxima Nova Light"/>
                <a:cs typeface="Proxima Nova Light"/>
                <a:sym typeface="Proxima Nova Light"/>
              </a:rPr>
              <a:t>• 127 dòng trùng lặp đã loại</a:t>
            </a:r>
          </a:p>
          <a:p>
            <a:pPr algn="l" marL="0" indent="0" lvl="0">
              <a:lnSpc>
                <a:spcPts val="1906"/>
              </a:lnSpc>
            </a:pPr>
            <a:r>
              <a:rPr lang="en-US" sz="1362">
                <a:solidFill>
                  <a:srgbClr val="141414"/>
                </a:solidFill>
                <a:latin typeface="Proxima Nova Light"/>
                <a:ea typeface="Proxima Nova Light"/>
                <a:cs typeface="Proxima Nova Light"/>
                <a:sym typeface="Proxima Nova Light"/>
              </a:rPr>
              <a:t>• Còn lại: 9.873 dòng sạch</a:t>
            </a:r>
          </a:p>
          <a:p>
            <a:pPr algn="l" marL="0" indent="0" lvl="0">
              <a:lnSpc>
                <a:spcPts val="1906"/>
              </a:lnSpc>
            </a:pPr>
            <a:r>
              <a:rPr lang="en-US" sz="1362">
                <a:solidFill>
                  <a:srgbClr val="141414"/>
                </a:solidFill>
                <a:latin typeface="Proxima Nova Light"/>
                <a:ea typeface="Proxima Nova Light"/>
                <a:cs typeface="Proxima Nova Light"/>
                <a:sym typeface="Proxima Nova Light"/>
              </a:rPr>
              <a:t>• Biến mục tiêu: Performance Index (liên tục)</a:t>
            </a:r>
          </a:p>
        </p:txBody>
      </p:sp>
      <p:sp>
        <p:nvSpPr>
          <p:cNvPr name="TextBox 21" id="21"/>
          <p:cNvSpPr txBox="true"/>
          <p:nvPr/>
        </p:nvSpPr>
        <p:spPr>
          <a:xfrm rot="0">
            <a:off x="6610196" y="7797165"/>
            <a:ext cx="5071492" cy="1422729"/>
          </a:xfrm>
          <a:prstGeom prst="rect">
            <a:avLst/>
          </a:prstGeom>
        </p:spPr>
        <p:txBody>
          <a:bodyPr anchor="t" rtlCol="false" tIns="0" lIns="0" bIns="0" rIns="0">
            <a:spAutoFit/>
          </a:bodyPr>
          <a:lstStyle/>
          <a:p>
            <a:pPr algn="l" marL="0" indent="0" lvl="0">
              <a:lnSpc>
                <a:spcPts val="1906"/>
              </a:lnSpc>
            </a:pPr>
            <a:r>
              <a:rPr lang="en-US" sz="1362">
                <a:solidFill>
                  <a:srgbClr val="141414"/>
                </a:solidFill>
                <a:latin typeface="Proxima Nova Light"/>
                <a:ea typeface="Proxima Nova Light"/>
                <a:cs typeface="Proxima Nova Light"/>
                <a:sym typeface="Proxima Nova Light"/>
              </a:rPr>
              <a:t>• Numerical (4 biến): StandardScaler</a:t>
            </a:r>
          </a:p>
          <a:p>
            <a:pPr algn="l" marL="0" indent="0" lvl="0">
              <a:lnSpc>
                <a:spcPts val="1906"/>
              </a:lnSpc>
            </a:pPr>
            <a:r>
              <a:rPr lang="en-US" sz="1362">
                <a:solidFill>
                  <a:srgbClr val="141414"/>
                </a:solidFill>
                <a:latin typeface="Proxima Nova Light"/>
                <a:ea typeface="Proxima Nova Light"/>
                <a:cs typeface="Proxima Nova Light"/>
                <a:sym typeface="Proxima Nova Light"/>
              </a:rPr>
              <a:t>• Categorical (1 biến): OneHotEncoder</a:t>
            </a:r>
          </a:p>
          <a:p>
            <a:pPr algn="l" marL="0" indent="0" lvl="0">
              <a:lnSpc>
                <a:spcPts val="1906"/>
              </a:lnSpc>
            </a:pPr>
            <a:r>
              <a:rPr lang="en-US" sz="1362">
                <a:solidFill>
                  <a:srgbClr val="141414"/>
                </a:solidFill>
                <a:latin typeface="Proxima Nova Light"/>
                <a:ea typeface="Proxima Nova Light"/>
                <a:cs typeface="Proxima Nova Light"/>
                <a:sym typeface="Proxima Nova Light"/>
              </a:rPr>
              <a:t>• Sau encoding: 6 đặc trưng đầu vào</a:t>
            </a:r>
          </a:p>
          <a:p>
            <a:pPr algn="l" marL="0" indent="0" lvl="0">
              <a:lnSpc>
                <a:spcPts val="1906"/>
              </a:lnSpc>
            </a:pPr>
            <a:r>
              <a:rPr lang="en-US" sz="1362">
                <a:solidFill>
                  <a:srgbClr val="141414"/>
                </a:solidFill>
                <a:latin typeface="Proxima Nova Light"/>
                <a:ea typeface="Proxima Nova Light"/>
                <a:cs typeface="Proxima Nova Light"/>
                <a:sym typeface="Proxima Nova Light"/>
              </a:rPr>
              <a:t>• Train/Test split: 80/20</a:t>
            </a:r>
          </a:p>
          <a:p>
            <a:pPr algn="l" marL="0" indent="0" lvl="0">
              <a:lnSpc>
                <a:spcPts val="1906"/>
              </a:lnSpc>
            </a:pPr>
            <a:r>
              <a:rPr lang="en-US" sz="1362">
                <a:solidFill>
                  <a:srgbClr val="141414"/>
                </a:solidFill>
                <a:latin typeface="Proxima Nova Light"/>
                <a:ea typeface="Proxima Nova Light"/>
                <a:cs typeface="Proxima Nova Light"/>
                <a:sym typeface="Proxima Nova Light"/>
              </a:rPr>
              <a:t>• Fit scaler trên train, transform test</a:t>
            </a:r>
          </a:p>
          <a:p>
            <a:pPr algn="l" marL="0" indent="0" lvl="0">
              <a:lnSpc>
                <a:spcPts val="1906"/>
              </a:lnSpc>
            </a:pPr>
            <a:r>
              <a:rPr lang="en-US" sz="1362">
                <a:solidFill>
                  <a:srgbClr val="141414"/>
                </a:solidFill>
                <a:latin typeface="Proxima Nova Light"/>
                <a:ea typeface="Proxima Nova Light"/>
                <a:cs typeface="Proxima Nova Light"/>
                <a:sym typeface="Proxima Nova Light"/>
              </a:rPr>
              <a:t>• Tránh data leakage hoàn toàn</a:t>
            </a:r>
          </a:p>
        </p:txBody>
      </p:sp>
      <p:sp>
        <p:nvSpPr>
          <p:cNvPr name="TextBox 22" id="22"/>
          <p:cNvSpPr txBox="true"/>
          <p:nvPr/>
        </p:nvSpPr>
        <p:spPr>
          <a:xfrm rot="0">
            <a:off x="12187808" y="7797165"/>
            <a:ext cx="5071492" cy="1422729"/>
          </a:xfrm>
          <a:prstGeom prst="rect">
            <a:avLst/>
          </a:prstGeom>
        </p:spPr>
        <p:txBody>
          <a:bodyPr anchor="t" rtlCol="false" tIns="0" lIns="0" bIns="0" rIns="0">
            <a:spAutoFit/>
          </a:bodyPr>
          <a:lstStyle/>
          <a:p>
            <a:pPr algn="l" marL="0" indent="0" lvl="0">
              <a:lnSpc>
                <a:spcPts val="1906"/>
              </a:lnSpc>
            </a:pPr>
            <a:r>
              <a:rPr lang="en-US" sz="1362">
                <a:solidFill>
                  <a:srgbClr val="141414"/>
                </a:solidFill>
                <a:latin typeface="Proxima Nova Light"/>
                <a:ea typeface="Proxima Nova Light"/>
                <a:cs typeface="Proxima Nova Light"/>
                <a:sym typeface="Proxima Nova Light"/>
              </a:rPr>
              <a:t>• Frontend: Vercel (Next.js)</a:t>
            </a:r>
          </a:p>
          <a:p>
            <a:pPr algn="l" marL="0" indent="0" lvl="0">
              <a:lnSpc>
                <a:spcPts val="1906"/>
              </a:lnSpc>
            </a:pPr>
            <a:r>
              <a:rPr lang="en-US" sz="1362">
                <a:solidFill>
                  <a:srgbClr val="141414"/>
                </a:solidFill>
                <a:latin typeface="Proxima Nova Light"/>
                <a:ea typeface="Proxima Nova Light"/>
                <a:cs typeface="Proxima Nova Light"/>
                <a:sym typeface="Proxima Nova Light"/>
              </a:rPr>
              <a:t>• Backend: Render (Node.js/Express)</a:t>
            </a:r>
          </a:p>
          <a:p>
            <a:pPr algn="l" marL="0" indent="0" lvl="0">
              <a:lnSpc>
                <a:spcPts val="1906"/>
              </a:lnSpc>
            </a:pPr>
            <a:r>
              <a:rPr lang="en-US" sz="1362">
                <a:solidFill>
                  <a:srgbClr val="141414"/>
                </a:solidFill>
                <a:latin typeface="Proxima Nova Light"/>
                <a:ea typeface="Proxima Nova Light"/>
                <a:cs typeface="Proxima Nova Light"/>
                <a:sym typeface="Proxima Nova Light"/>
              </a:rPr>
              <a:t>• AI Service: FastAPI + ngrok tunnel</a:t>
            </a:r>
          </a:p>
          <a:p>
            <a:pPr algn="l" marL="0" indent="0" lvl="0">
              <a:lnSpc>
                <a:spcPts val="1906"/>
              </a:lnSpc>
            </a:pPr>
            <a:r>
              <a:rPr lang="en-US" sz="1362">
                <a:solidFill>
                  <a:srgbClr val="141414"/>
                </a:solidFill>
                <a:latin typeface="Proxima Nova Light"/>
                <a:ea typeface="Proxima Nova Light"/>
                <a:cs typeface="Proxima Nova Light"/>
                <a:sym typeface="Proxima Nova Light"/>
              </a:rPr>
              <a:t>• Database: MongoDB Atlas</a:t>
            </a:r>
          </a:p>
          <a:p>
            <a:pPr algn="l" marL="0" indent="0" lvl="0">
              <a:lnSpc>
                <a:spcPts val="1906"/>
              </a:lnSpc>
            </a:pPr>
            <a:r>
              <a:rPr lang="en-US" sz="1362">
                <a:solidFill>
                  <a:srgbClr val="141414"/>
                </a:solidFill>
                <a:latin typeface="Proxima Nova Light"/>
                <a:ea typeface="Proxima Nova Light"/>
                <a:cs typeface="Proxima Nova Light"/>
                <a:sym typeface="Proxima Nova Light"/>
              </a:rPr>
              <a:t>• Luồng: Vercel → Render → ngrok → FastAPI → Linear Regression</a:t>
            </a:r>
          </a:p>
          <a:p>
            <a:pPr algn="l" marL="0" indent="0" lvl="0">
              <a:lnSpc>
                <a:spcPts val="1906"/>
              </a:lnSpc>
            </a:pPr>
            <a:r>
              <a:rPr lang="en-US" sz="1362">
                <a:solidFill>
                  <a:srgbClr val="141414"/>
                </a:solidFill>
                <a:latin typeface="Proxima Nova Light"/>
                <a:ea typeface="Proxima Nova Light"/>
                <a:cs typeface="Proxima Nova Light"/>
                <a:sym typeface="Proxima Nova Light"/>
              </a:rPr>
              <a:t>• Lưu lịch sử dự đoán qua MongoDB</a:t>
            </a:r>
          </a:p>
        </p:txBody>
      </p:sp>
      <p:sp>
        <p:nvSpPr>
          <p:cNvPr name="TextBox 23" id="23"/>
          <p:cNvSpPr txBox="true"/>
          <p:nvPr/>
        </p:nvSpPr>
        <p:spPr>
          <a:xfrm rot="0">
            <a:off x="1028700" y="7396450"/>
            <a:ext cx="3904296"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Chi Tiết Dữ Liệu</a:t>
            </a:r>
          </a:p>
        </p:txBody>
      </p:sp>
      <p:sp>
        <p:nvSpPr>
          <p:cNvPr name="TextBox 24" id="24"/>
          <p:cNvSpPr txBox="true"/>
          <p:nvPr/>
        </p:nvSpPr>
        <p:spPr>
          <a:xfrm rot="0">
            <a:off x="6610196" y="7396450"/>
            <a:ext cx="3904296"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Chi Tiết Preprocessing</a:t>
            </a:r>
          </a:p>
        </p:txBody>
      </p:sp>
      <p:sp>
        <p:nvSpPr>
          <p:cNvPr name="TextBox 25" id="25"/>
          <p:cNvSpPr txBox="true"/>
          <p:nvPr/>
        </p:nvSpPr>
        <p:spPr>
          <a:xfrm rot="0">
            <a:off x="12187808" y="7396450"/>
            <a:ext cx="3904296"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Chi Tiết Triển Khai</a:t>
            </a:r>
          </a:p>
        </p:txBody>
      </p:sp>
      <p:sp>
        <p:nvSpPr>
          <p:cNvPr name="TextBox 26" id="26"/>
          <p:cNvSpPr txBox="true"/>
          <p:nvPr/>
        </p:nvSpPr>
        <p:spPr>
          <a:xfrm rot="0">
            <a:off x="14863346" y="821055"/>
            <a:ext cx="2395954" cy="265262"/>
          </a:xfrm>
          <a:prstGeom prst="rect">
            <a:avLst/>
          </a:prstGeom>
        </p:spPr>
        <p:txBody>
          <a:bodyPr anchor="t" rtlCol="false" tIns="0" lIns="0" bIns="0" rIns="0">
            <a:spAutoFit/>
          </a:bodyPr>
          <a:lstStyle/>
          <a:p>
            <a:pPr algn="r" marL="0" indent="0" lvl="0">
              <a:lnSpc>
                <a:spcPts val="2179"/>
              </a:lnSpc>
            </a:pPr>
            <a:r>
              <a:rPr lang="en-US" sz="1556">
                <a:solidFill>
                  <a:srgbClr val="141414"/>
                </a:solidFill>
                <a:latin typeface="Proxima Nova"/>
                <a:ea typeface="Proxima Nova"/>
                <a:cs typeface="Proxima Nova"/>
                <a:sym typeface="Proxima Nova"/>
              </a:rPr>
              <a:t>02/10/2026</a:t>
            </a:r>
          </a:p>
        </p:txBody>
      </p:sp>
      <p:sp>
        <p:nvSpPr>
          <p:cNvPr name="TextBox 27" id="27"/>
          <p:cNvSpPr txBox="true"/>
          <p:nvPr/>
        </p:nvSpPr>
        <p:spPr>
          <a:xfrm rot="0">
            <a:off x="1028700" y="2100146"/>
            <a:ext cx="7889125" cy="804070"/>
          </a:xfrm>
          <a:prstGeom prst="rect">
            <a:avLst/>
          </a:prstGeom>
        </p:spPr>
        <p:txBody>
          <a:bodyPr anchor="t" rtlCol="false" tIns="0" lIns="0" bIns="0" rIns="0">
            <a:spAutoFit/>
          </a:bodyPr>
          <a:lstStyle/>
          <a:p>
            <a:pPr algn="l" marL="0" indent="0" lvl="0">
              <a:lnSpc>
                <a:spcPts val="6492"/>
              </a:lnSpc>
            </a:pPr>
            <a:r>
              <a:rPr lang="en-US" sz="4994">
                <a:solidFill>
                  <a:srgbClr val="141414"/>
                </a:solidFill>
                <a:latin typeface="Pattanakarn SemiExpanded Light"/>
                <a:ea typeface="Pattanakarn SemiExpanded Light"/>
                <a:cs typeface="Pattanakarn SemiExpanded Light"/>
                <a:sym typeface="Pattanakarn SemiExpanded Light"/>
              </a:rPr>
              <a:t>SLIDE DỰ PHÒNG</a:t>
            </a:r>
          </a:p>
        </p:txBody>
      </p:sp>
      <p:sp>
        <p:nvSpPr>
          <p:cNvPr name="TextBox 28" id="28"/>
          <p:cNvSpPr txBox="true"/>
          <p:nvPr/>
        </p:nvSpPr>
        <p:spPr>
          <a:xfrm rot="0">
            <a:off x="1028700" y="2859191"/>
            <a:ext cx="7347740" cy="804070"/>
          </a:xfrm>
          <a:prstGeom prst="rect">
            <a:avLst/>
          </a:prstGeom>
        </p:spPr>
        <p:txBody>
          <a:bodyPr anchor="t" rtlCol="false" tIns="0" lIns="0" bIns="0" rIns="0">
            <a:spAutoFit/>
          </a:bodyPr>
          <a:lstStyle/>
          <a:p>
            <a:pPr algn="l" marL="0" indent="0" lvl="0">
              <a:lnSpc>
                <a:spcPts val="6492"/>
              </a:lnSpc>
            </a:pPr>
            <a:r>
              <a:rPr lang="en-US" b="true" sz="4994">
                <a:solidFill>
                  <a:srgbClr val="141414"/>
                </a:solidFill>
                <a:latin typeface="Pattanakarn SemiExpanded Medium"/>
                <a:ea typeface="Pattanakarn SemiExpanded Medium"/>
                <a:cs typeface="Pattanakarn SemiExpanded Medium"/>
                <a:sym typeface="Pattanakarn SemiExpanded Medium"/>
              </a:rPr>
              <a:t>BỔ SUNG &amp; HỎI ĐÁP</a:t>
            </a:r>
          </a:p>
        </p:txBody>
      </p:sp>
      <p:sp>
        <p:nvSpPr>
          <p:cNvPr name="Freeform 29" id="29"/>
          <p:cNvSpPr/>
          <p:nvPr/>
        </p:nvSpPr>
        <p:spPr>
          <a:xfrm flipH="false" flipV="false" rot="0">
            <a:off x="120294" y="9524186"/>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5">
              <a:extLst>
                <a:ext uri="{96DAC541-7B7A-43D3-8B79-37D633B846F1}">
                  <asvg:svgBlip xmlns:asvg="http://schemas.microsoft.com/office/drawing/2016/SVG/main" r:embed="rId6"/>
                </a:ext>
              </a:extLst>
            </a:blip>
            <a:stretch>
              <a:fillRect l="0" t="0" r="-116058" b="-123249"/>
            </a:stretch>
          </a:blipFill>
        </p:spPr>
      </p:sp>
      <p:sp>
        <p:nvSpPr>
          <p:cNvPr name="Freeform 30" id="30"/>
          <p:cNvSpPr/>
          <p:nvPr/>
        </p:nvSpPr>
        <p:spPr>
          <a:xfrm flipH="false" flipV="false" rot="0">
            <a:off x="12880042" y="635525"/>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5">
              <a:extLst>
                <a:ext uri="{96DAC541-7B7A-43D3-8B79-37D633B846F1}">
                  <asvg:svgBlip xmlns:asvg="http://schemas.microsoft.com/office/drawing/2016/SVG/main" r:embed="rId6"/>
                </a:ext>
              </a:extLst>
            </a:blip>
            <a:stretch>
              <a:fillRect l="0" t="0" r="-116058" b="-123249"/>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028700" y="821055"/>
            <a:ext cx="3579030" cy="288731"/>
          </a:xfrm>
          <a:prstGeom prst="rect">
            <a:avLst/>
          </a:prstGeom>
        </p:spPr>
        <p:txBody>
          <a:bodyPr anchor="t" rtlCol="false" tIns="0" lIns="0" bIns="0" rIns="0">
            <a:spAutoFit/>
          </a:bodyPr>
          <a:lstStyle/>
          <a:p>
            <a:pPr algn="l" marL="0" indent="0" lvl="0">
              <a:lnSpc>
                <a:spcPts val="2460"/>
              </a:lnSpc>
            </a:pPr>
            <a:r>
              <a:rPr lang="en-US" sz="1757">
                <a:solidFill>
                  <a:srgbClr val="FFFFFF"/>
                </a:solidFill>
                <a:latin typeface="Proxima Nova"/>
                <a:ea typeface="Proxima Nova"/>
                <a:cs typeface="Proxima Nova"/>
                <a:sym typeface="Proxima Nova"/>
              </a:rPr>
              <a:t>Ingoude Company</a:t>
            </a:r>
          </a:p>
        </p:txBody>
      </p:sp>
      <p:sp>
        <p:nvSpPr>
          <p:cNvPr name="Freeform 3" id="3"/>
          <p:cNvSpPr/>
          <p:nvPr/>
        </p:nvSpPr>
        <p:spPr>
          <a:xfrm flipH="false" flipV="false" rot="2500775">
            <a:off x="13705427" y="-2170994"/>
            <a:ext cx="7107747" cy="8449030"/>
          </a:xfrm>
          <a:custGeom>
            <a:avLst/>
            <a:gdLst/>
            <a:ahLst/>
            <a:cxnLst/>
            <a:rect r="r" b="b" t="t" l="l"/>
            <a:pathLst>
              <a:path h="8449030" w="7107747">
                <a:moveTo>
                  <a:pt x="0" y="0"/>
                </a:moveTo>
                <a:lnTo>
                  <a:pt x="7107746" y="0"/>
                </a:lnTo>
                <a:lnTo>
                  <a:pt x="7107746" y="8449030"/>
                </a:lnTo>
                <a:lnTo>
                  <a:pt x="0" y="8449030"/>
                </a:lnTo>
                <a:lnTo>
                  <a:pt x="0" y="0"/>
                </a:lnTo>
                <a:close/>
              </a:path>
            </a:pathLst>
          </a:custGeom>
          <a:blipFill>
            <a:blip r:embed="rId2">
              <a:alphaModFix amt="15000"/>
            </a:blip>
            <a:stretch>
              <a:fillRect l="0" t="0" r="0" b="0"/>
            </a:stretch>
          </a:blipFill>
        </p:spPr>
      </p:sp>
      <p:sp>
        <p:nvSpPr>
          <p:cNvPr name="TextBox 4" id="4"/>
          <p:cNvSpPr txBox="true"/>
          <p:nvPr/>
        </p:nvSpPr>
        <p:spPr>
          <a:xfrm rot="0">
            <a:off x="14863346" y="821055"/>
            <a:ext cx="2395954" cy="288731"/>
          </a:xfrm>
          <a:prstGeom prst="rect">
            <a:avLst/>
          </a:prstGeom>
        </p:spPr>
        <p:txBody>
          <a:bodyPr anchor="t" rtlCol="false" tIns="0" lIns="0" bIns="0" rIns="0">
            <a:spAutoFit/>
          </a:bodyPr>
          <a:lstStyle/>
          <a:p>
            <a:pPr algn="r" marL="0" indent="0" lvl="0">
              <a:lnSpc>
                <a:spcPts val="2460"/>
              </a:lnSpc>
            </a:pPr>
            <a:r>
              <a:rPr lang="en-US" sz="1757">
                <a:solidFill>
                  <a:srgbClr val="FFFFFF"/>
                </a:solidFill>
                <a:latin typeface="Proxima Nova"/>
                <a:ea typeface="Proxima Nova"/>
                <a:cs typeface="Proxima Nova"/>
                <a:sym typeface="Proxima Nova"/>
              </a:rPr>
              <a:t>02/10/2026</a:t>
            </a:r>
          </a:p>
        </p:txBody>
      </p:sp>
      <p:sp>
        <p:nvSpPr>
          <p:cNvPr name="TextBox 5" id="5"/>
          <p:cNvSpPr txBox="true"/>
          <p:nvPr/>
        </p:nvSpPr>
        <p:spPr>
          <a:xfrm rot="0">
            <a:off x="1028700" y="2100146"/>
            <a:ext cx="8171776" cy="804070"/>
          </a:xfrm>
          <a:prstGeom prst="rect">
            <a:avLst/>
          </a:prstGeom>
        </p:spPr>
        <p:txBody>
          <a:bodyPr anchor="t" rtlCol="false" tIns="0" lIns="0" bIns="0" rIns="0">
            <a:spAutoFit/>
          </a:bodyPr>
          <a:lstStyle/>
          <a:p>
            <a:pPr algn="l" marL="0" indent="0" lvl="0">
              <a:lnSpc>
                <a:spcPts val="6492"/>
              </a:lnSpc>
            </a:pPr>
            <a:r>
              <a:rPr lang="en-US" sz="4994">
                <a:solidFill>
                  <a:srgbClr val="FFFFFF"/>
                </a:solidFill>
                <a:latin typeface="Pattanakarn SemiExpanded Light"/>
                <a:ea typeface="Pattanakarn SemiExpanded Light"/>
                <a:cs typeface="Pattanakarn SemiExpanded Light"/>
                <a:sym typeface="Pattanakarn SemiExpanded Light"/>
              </a:rPr>
              <a:t>PHÂN TÍCH BỔ SUNG</a:t>
            </a:r>
          </a:p>
        </p:txBody>
      </p:sp>
      <p:sp>
        <p:nvSpPr>
          <p:cNvPr name="TextBox 6" id="6"/>
          <p:cNvSpPr txBox="true"/>
          <p:nvPr/>
        </p:nvSpPr>
        <p:spPr>
          <a:xfrm rot="0">
            <a:off x="1028700" y="2859191"/>
            <a:ext cx="8115300" cy="1623944"/>
          </a:xfrm>
          <a:prstGeom prst="rect">
            <a:avLst/>
          </a:prstGeom>
        </p:spPr>
        <p:txBody>
          <a:bodyPr anchor="t" rtlCol="false" tIns="0" lIns="0" bIns="0" rIns="0">
            <a:spAutoFit/>
          </a:bodyPr>
          <a:lstStyle/>
          <a:p>
            <a:pPr algn="l" marL="0" indent="0" lvl="0">
              <a:lnSpc>
                <a:spcPts val="6492"/>
              </a:lnSpc>
            </a:pPr>
            <a:r>
              <a:rPr lang="en-US" b="true" sz="4994">
                <a:solidFill>
                  <a:srgbClr val="FFFFFF"/>
                </a:solidFill>
                <a:latin typeface="Pattanakarn SemiExpanded Medium"/>
                <a:ea typeface="Pattanakarn SemiExpanded Medium"/>
                <a:cs typeface="Pattanakarn SemiExpanded Medium"/>
                <a:sym typeface="Pattanakarn SemiExpanded Medium"/>
              </a:rPr>
              <a:t>RESIDUAL &amp; HƯỚNG CẢI TIẾN</a:t>
            </a:r>
          </a:p>
        </p:txBody>
      </p:sp>
      <p:grpSp>
        <p:nvGrpSpPr>
          <p:cNvPr name="Group 7" id="7"/>
          <p:cNvGrpSpPr/>
          <p:nvPr/>
        </p:nvGrpSpPr>
        <p:grpSpPr>
          <a:xfrm rot="0">
            <a:off x="9780976" y="2147771"/>
            <a:ext cx="5639491" cy="186928"/>
            <a:chOff x="0" y="0"/>
            <a:chExt cx="7519321" cy="249237"/>
          </a:xfrm>
        </p:grpSpPr>
        <p:grpSp>
          <p:nvGrpSpPr>
            <p:cNvPr name="Group 8" id="8"/>
            <p:cNvGrpSpPr/>
            <p:nvPr/>
          </p:nvGrpSpPr>
          <p:grpSpPr>
            <a:xfrm rot="0">
              <a:off x="86" y="0"/>
              <a:ext cx="1285142" cy="223837"/>
              <a:chOff x="0" y="0"/>
              <a:chExt cx="253855" cy="44215"/>
            </a:xfrm>
          </p:grpSpPr>
          <p:sp>
            <p:nvSpPr>
              <p:cNvPr name="Freeform 9" id="9"/>
              <p:cNvSpPr/>
              <p:nvPr/>
            </p:nvSpPr>
            <p:spPr>
              <a:xfrm flipH="false" flipV="false" rot="0">
                <a:off x="0" y="0"/>
                <a:ext cx="253855" cy="44215"/>
              </a:xfrm>
              <a:custGeom>
                <a:avLst/>
                <a:gdLst/>
                <a:ahLst/>
                <a:cxnLst/>
                <a:rect r="r" b="b" t="t" l="l"/>
                <a:pathLst>
                  <a:path h="44215" w="253855">
                    <a:moveTo>
                      <a:pt x="0" y="0"/>
                    </a:moveTo>
                    <a:lnTo>
                      <a:pt x="253855" y="0"/>
                    </a:lnTo>
                    <a:lnTo>
                      <a:pt x="253855" y="44215"/>
                    </a:lnTo>
                    <a:lnTo>
                      <a:pt x="0" y="44215"/>
                    </a:lnTo>
                    <a:close/>
                  </a:path>
                </a:pathLst>
              </a:custGeom>
              <a:solidFill>
                <a:srgbClr val="F8F7F6"/>
              </a:solidFill>
            </p:spPr>
          </p:sp>
          <p:sp>
            <p:nvSpPr>
              <p:cNvPr name="TextBox 10" id="10"/>
              <p:cNvSpPr txBox="true"/>
              <p:nvPr/>
            </p:nvSpPr>
            <p:spPr>
              <a:xfrm>
                <a:off x="0" y="-38100"/>
                <a:ext cx="253855" cy="82315"/>
              </a:xfrm>
              <a:prstGeom prst="rect">
                <a:avLst/>
              </a:prstGeom>
            </p:spPr>
            <p:txBody>
              <a:bodyPr anchor="ctr" rtlCol="false" tIns="50800" lIns="50800" bIns="50800" rIns="50800"/>
              <a:lstStyle/>
              <a:p>
                <a:pPr algn="ctr" marL="0" indent="0" lvl="0">
                  <a:lnSpc>
                    <a:spcPts val="3359"/>
                  </a:lnSpc>
                </a:pPr>
              </a:p>
            </p:txBody>
          </p:sp>
        </p:grpSp>
        <p:sp>
          <p:nvSpPr>
            <p:cNvPr name="AutoShape 11" id="11"/>
            <p:cNvSpPr/>
            <p:nvPr/>
          </p:nvSpPr>
          <p:spPr>
            <a:xfrm>
              <a:off x="86" y="198437"/>
              <a:ext cx="7519150" cy="25400"/>
            </a:xfrm>
            <a:prstGeom prst="line">
              <a:avLst/>
            </a:prstGeom>
            <a:ln cap="flat" w="50800">
              <a:solidFill>
                <a:srgbClr val="F8F7F6"/>
              </a:solidFill>
              <a:prstDash val="solid"/>
              <a:headEnd type="none" len="sm" w="sm"/>
              <a:tailEnd type="none" len="sm" w="sm"/>
            </a:ln>
          </p:spPr>
        </p:sp>
      </p:grpSp>
      <p:sp>
        <p:nvSpPr>
          <p:cNvPr name="TextBox 12" id="12"/>
          <p:cNvSpPr txBox="true"/>
          <p:nvPr/>
        </p:nvSpPr>
        <p:spPr>
          <a:xfrm rot="0">
            <a:off x="9781014" y="2642545"/>
            <a:ext cx="7478286" cy="898331"/>
          </a:xfrm>
          <a:prstGeom prst="rect">
            <a:avLst/>
          </a:prstGeom>
        </p:spPr>
        <p:txBody>
          <a:bodyPr anchor="t" rtlCol="false" tIns="0" lIns="0" bIns="0" rIns="0">
            <a:spAutoFit/>
          </a:bodyPr>
          <a:lstStyle/>
          <a:p>
            <a:pPr algn="l" marL="0" indent="0" lvl="0">
              <a:lnSpc>
                <a:spcPts val="2460"/>
              </a:lnSpc>
            </a:pPr>
            <a:r>
              <a:rPr lang="en-US" sz="1757">
                <a:solidFill>
                  <a:srgbClr val="F8F7F6"/>
                </a:solidFill>
                <a:latin typeface="Proxima Nova Light"/>
                <a:ea typeface="Proxima Nova Light"/>
                <a:cs typeface="Proxima Nova Light"/>
                <a:sym typeface="Proxima Nova Light"/>
              </a:rPr>
              <a:t>Phân tích phần dư (Residual Analysis) giúp kiểm tra mức độ phù hợp của mô hình Linear Regression. Phần dư phân bố gần chuẩn, không có xu hướng hệ thống rõ ràng, xác nhận mô hình hoạt động tốt trên tập dữ liệu này.</a:t>
            </a:r>
          </a:p>
        </p:txBody>
      </p:sp>
      <p:sp>
        <p:nvSpPr>
          <p:cNvPr name="TextBox 13" id="13"/>
          <p:cNvSpPr txBox="true"/>
          <p:nvPr/>
        </p:nvSpPr>
        <p:spPr>
          <a:xfrm rot="0">
            <a:off x="9781014" y="5785485"/>
            <a:ext cx="7478286" cy="1056312"/>
          </a:xfrm>
          <a:prstGeom prst="rect">
            <a:avLst/>
          </a:prstGeom>
        </p:spPr>
        <p:txBody>
          <a:bodyPr anchor="t" rtlCol="false" tIns="0" lIns="0" bIns="0" rIns="0">
            <a:spAutoFit/>
          </a:bodyPr>
          <a:lstStyle/>
          <a:p>
            <a:pPr algn="l" marL="0" indent="0" lvl="0">
              <a:lnSpc>
                <a:spcPts val="2153"/>
              </a:lnSpc>
            </a:pPr>
            <a:r>
              <a:rPr lang="en-US" sz="1537">
                <a:solidFill>
                  <a:srgbClr val="F8F7F6"/>
                </a:solidFill>
                <a:latin typeface="Proxima Nova Light"/>
                <a:ea typeface="Proxima Nova Light"/>
                <a:cs typeface="Proxima Nova Light"/>
                <a:sym typeface="Proxima Nova Light"/>
              </a:rPr>
              <a:t>• Chỉ áp dụng tốt khi quan hệ gần tuyến tính</a:t>
            </a:r>
          </a:p>
          <a:p>
            <a:pPr algn="l" marL="0" indent="0" lvl="0">
              <a:lnSpc>
                <a:spcPts val="2153"/>
              </a:lnSpc>
            </a:pPr>
            <a:r>
              <a:rPr lang="en-US" sz="1537">
                <a:solidFill>
                  <a:srgbClr val="F8F7F6"/>
                </a:solidFill>
                <a:latin typeface="Proxima Nova Light"/>
                <a:ea typeface="Proxima Nova Light"/>
                <a:cs typeface="Proxima Nova Light"/>
                <a:sym typeface="Proxima Nova Light"/>
              </a:rPr>
              <a:t>• Nhạy cảm với outlier nếu dữ liệu thực tế phức tạp hơn</a:t>
            </a:r>
          </a:p>
          <a:p>
            <a:pPr algn="l" marL="0" indent="0" lvl="0">
              <a:lnSpc>
                <a:spcPts val="2153"/>
              </a:lnSpc>
            </a:pPr>
            <a:r>
              <a:rPr lang="en-US" sz="1537">
                <a:solidFill>
                  <a:srgbClr val="F8F7F6"/>
                </a:solidFill>
                <a:latin typeface="Proxima Nova Light"/>
                <a:ea typeface="Proxima Nova Light"/>
                <a:cs typeface="Proxima Nova Light"/>
                <a:sym typeface="Proxima Nova Light"/>
              </a:rPr>
              <a:t>• Chưa thử nghiệm cross-validation đầy đủ</a:t>
            </a:r>
          </a:p>
          <a:p>
            <a:pPr algn="l" marL="0" indent="0" lvl="0">
              <a:lnSpc>
                <a:spcPts val="2153"/>
              </a:lnSpc>
            </a:pPr>
            <a:r>
              <a:rPr lang="en-US" sz="1537">
                <a:solidFill>
                  <a:srgbClr val="F8F7F6"/>
                </a:solidFill>
                <a:latin typeface="Proxima Nova Light"/>
                <a:ea typeface="Proxima Nova Light"/>
                <a:cs typeface="Proxima Nova Light"/>
                <a:sym typeface="Proxima Nova Light"/>
              </a:rPr>
              <a:t>• Dataset giới hạn ở 6 đặc trưng, chưa phản ánh hết yếu tố thực tế</a:t>
            </a:r>
          </a:p>
        </p:txBody>
      </p:sp>
      <p:sp>
        <p:nvSpPr>
          <p:cNvPr name="TextBox 14" id="14"/>
          <p:cNvSpPr txBox="true"/>
          <p:nvPr/>
        </p:nvSpPr>
        <p:spPr>
          <a:xfrm rot="0">
            <a:off x="9781014" y="7797165"/>
            <a:ext cx="7478286" cy="1056312"/>
          </a:xfrm>
          <a:prstGeom prst="rect">
            <a:avLst/>
          </a:prstGeom>
        </p:spPr>
        <p:txBody>
          <a:bodyPr anchor="t" rtlCol="false" tIns="0" lIns="0" bIns="0" rIns="0">
            <a:spAutoFit/>
          </a:bodyPr>
          <a:lstStyle/>
          <a:p>
            <a:pPr algn="l" marL="0" indent="0" lvl="0">
              <a:lnSpc>
                <a:spcPts val="2153"/>
              </a:lnSpc>
            </a:pPr>
            <a:r>
              <a:rPr lang="en-US" sz="1537">
                <a:solidFill>
                  <a:srgbClr val="F8F7F6"/>
                </a:solidFill>
                <a:latin typeface="Proxima Nova Light"/>
                <a:ea typeface="Proxima Nova Light"/>
                <a:cs typeface="Proxima Nova Light"/>
                <a:sym typeface="Proxima Nova Light"/>
              </a:rPr>
              <a:t>• Thử nghiệm thêm Ridge/Lasso Regression để kiểm soát regularization</a:t>
            </a:r>
          </a:p>
          <a:p>
            <a:pPr algn="l" marL="0" indent="0" lvl="0">
              <a:lnSpc>
                <a:spcPts val="2153"/>
              </a:lnSpc>
            </a:pPr>
            <a:r>
              <a:rPr lang="en-US" sz="1537">
                <a:solidFill>
                  <a:srgbClr val="F8F7F6"/>
                </a:solidFill>
                <a:latin typeface="Proxima Nova Light"/>
                <a:ea typeface="Proxima Nova Light"/>
                <a:cs typeface="Proxima Nova Light"/>
                <a:sym typeface="Proxima Nova Light"/>
              </a:rPr>
              <a:t>• Bổ sung thêm đặc trưng: điều kiện gia đình, chất lượng giáo viên</a:t>
            </a:r>
          </a:p>
          <a:p>
            <a:pPr algn="l" marL="0" indent="0" lvl="0">
              <a:lnSpc>
                <a:spcPts val="2153"/>
              </a:lnSpc>
            </a:pPr>
            <a:r>
              <a:rPr lang="en-US" sz="1537">
                <a:solidFill>
                  <a:srgbClr val="F8F7F6"/>
                </a:solidFill>
                <a:latin typeface="Proxima Nova Light"/>
                <a:ea typeface="Proxima Nova Light"/>
                <a:cs typeface="Proxima Nova Light"/>
                <a:sym typeface="Proxima Nova Light"/>
              </a:rPr>
              <a:t>• Áp dụng k-fold cross-validation để đánh giá tổng quát hóa chặt chẽ hơn</a:t>
            </a:r>
          </a:p>
          <a:p>
            <a:pPr algn="l" marL="0" indent="0" lvl="0">
              <a:lnSpc>
                <a:spcPts val="2153"/>
              </a:lnSpc>
            </a:pPr>
            <a:r>
              <a:rPr lang="en-US" sz="1537">
                <a:solidFill>
                  <a:srgbClr val="F8F7F6"/>
                </a:solidFill>
                <a:latin typeface="Proxima Nova Light"/>
                <a:ea typeface="Proxima Nova Light"/>
                <a:cs typeface="Proxima Nova Light"/>
                <a:sym typeface="Proxima Nova Light"/>
              </a:rPr>
              <a:t>• Tích hợp thêm mô hình Gradient Boosting để so sánh</a:t>
            </a:r>
          </a:p>
        </p:txBody>
      </p:sp>
      <p:sp>
        <p:nvSpPr>
          <p:cNvPr name="TextBox 15" id="15"/>
          <p:cNvSpPr txBox="true"/>
          <p:nvPr/>
        </p:nvSpPr>
        <p:spPr>
          <a:xfrm rot="0">
            <a:off x="9781014" y="5384770"/>
            <a:ext cx="6468121"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Giới Hạn Của Mô Hình</a:t>
            </a:r>
          </a:p>
        </p:txBody>
      </p:sp>
      <p:sp>
        <p:nvSpPr>
          <p:cNvPr name="TextBox 16" id="16"/>
          <p:cNvSpPr txBox="true"/>
          <p:nvPr/>
        </p:nvSpPr>
        <p:spPr>
          <a:xfrm rot="0">
            <a:off x="9781014" y="7396450"/>
            <a:ext cx="6280309" cy="314325"/>
          </a:xfrm>
          <a:prstGeom prst="rect">
            <a:avLst/>
          </a:prstGeom>
        </p:spPr>
        <p:txBody>
          <a:bodyPr anchor="t" rtlCol="false" tIns="0" lIns="0" bIns="0" rIns="0">
            <a:spAutoFit/>
          </a:bodyPr>
          <a:lstStyle/>
          <a:p>
            <a:pPr algn="l" marL="0" indent="0" lvl="0">
              <a:lnSpc>
                <a:spcPts val="2518"/>
              </a:lnSpc>
            </a:pPr>
            <a:r>
              <a:rPr lang="en-US" b="true" sz="2098" i="true">
                <a:solidFill>
                  <a:srgbClr val="F8F7F6"/>
                </a:solidFill>
                <a:latin typeface="Proxima Nova Bold Italics"/>
                <a:ea typeface="Proxima Nova Bold Italics"/>
                <a:cs typeface="Proxima Nova Bold Italics"/>
                <a:sym typeface="Proxima Nova Bold Italics"/>
              </a:rPr>
              <a:t>Hướng Cải Tiến Trong Tương Lai</a:t>
            </a:r>
          </a:p>
        </p:txBody>
      </p:sp>
      <p:grpSp>
        <p:nvGrpSpPr>
          <p:cNvPr name="Group 17" id="17"/>
          <p:cNvGrpSpPr/>
          <p:nvPr/>
        </p:nvGrpSpPr>
        <p:grpSpPr>
          <a:xfrm rot="0">
            <a:off x="1028700" y="4893517"/>
            <a:ext cx="7593184" cy="2502933"/>
            <a:chOff x="0" y="0"/>
            <a:chExt cx="1176383" cy="387770"/>
          </a:xfrm>
        </p:grpSpPr>
        <p:sp>
          <p:nvSpPr>
            <p:cNvPr name="Freeform 18" id="18"/>
            <p:cNvSpPr/>
            <p:nvPr/>
          </p:nvSpPr>
          <p:spPr>
            <a:xfrm flipH="false" flipV="false" rot="0">
              <a:off x="0" y="0"/>
              <a:ext cx="1176383" cy="387770"/>
            </a:xfrm>
            <a:custGeom>
              <a:avLst/>
              <a:gdLst/>
              <a:ahLst/>
              <a:cxnLst/>
              <a:rect r="r" b="b" t="t" l="l"/>
              <a:pathLst>
                <a:path h="387770" w="1176383">
                  <a:moveTo>
                    <a:pt x="0" y="0"/>
                  </a:moveTo>
                  <a:lnTo>
                    <a:pt x="1176383" y="0"/>
                  </a:lnTo>
                  <a:lnTo>
                    <a:pt x="1176383" y="387770"/>
                  </a:lnTo>
                  <a:lnTo>
                    <a:pt x="0" y="387770"/>
                  </a:lnTo>
                  <a:close/>
                </a:path>
              </a:pathLst>
            </a:custGeom>
            <a:blipFill>
              <a:blip r:embed="rId3"/>
              <a:stretch>
                <a:fillRect l="0" t="-56" r="0" b="-56"/>
              </a:stretch>
            </a:blipFill>
          </p:spPr>
        </p:sp>
      </p:grpSp>
      <p:sp>
        <p:nvSpPr>
          <p:cNvPr name="TextBox 19" id="19"/>
          <p:cNvSpPr txBox="true"/>
          <p:nvPr/>
        </p:nvSpPr>
        <p:spPr>
          <a:xfrm rot="0">
            <a:off x="1028700" y="7797165"/>
            <a:ext cx="7593184" cy="593531"/>
          </a:xfrm>
          <a:prstGeom prst="rect">
            <a:avLst/>
          </a:prstGeom>
        </p:spPr>
        <p:txBody>
          <a:bodyPr anchor="t" rtlCol="false" tIns="0" lIns="0" bIns="0" rIns="0">
            <a:spAutoFit/>
          </a:bodyPr>
          <a:lstStyle/>
          <a:p>
            <a:pPr algn="l" marL="0" indent="0" lvl="0">
              <a:lnSpc>
                <a:spcPts val="2460"/>
              </a:lnSpc>
            </a:pPr>
            <a:r>
              <a:rPr lang="en-US" sz="1757">
                <a:solidFill>
                  <a:srgbClr val="FFFFFF"/>
                </a:solidFill>
                <a:latin typeface="Proxima Nova Light"/>
                <a:ea typeface="Proxima Nova Light"/>
                <a:cs typeface="Proxima Nova Light"/>
                <a:sym typeface="Proxima Nova Light"/>
              </a:rPr>
              <a:t>Trang dự phòng – Bổ sung phân tích kỹ thuật cho phần hỏi đáp và thảo luận thêm sau buổi thuyết trình chính.</a:t>
            </a:r>
          </a:p>
        </p:txBody>
      </p:sp>
      <p:sp>
        <p:nvSpPr>
          <p:cNvPr name="Freeform 20" id="20"/>
          <p:cNvSpPr/>
          <p:nvPr/>
        </p:nvSpPr>
        <p:spPr>
          <a:xfrm flipH="false" flipV="false" rot="2500775">
            <a:off x="-2441164" y="3766577"/>
            <a:ext cx="4001668" cy="4756812"/>
          </a:xfrm>
          <a:custGeom>
            <a:avLst/>
            <a:gdLst/>
            <a:ahLst/>
            <a:cxnLst/>
            <a:rect r="r" b="b" t="t" l="l"/>
            <a:pathLst>
              <a:path h="4756812" w="4001668">
                <a:moveTo>
                  <a:pt x="0" y="0"/>
                </a:moveTo>
                <a:lnTo>
                  <a:pt x="4001668" y="0"/>
                </a:lnTo>
                <a:lnTo>
                  <a:pt x="4001668" y="4756812"/>
                </a:lnTo>
                <a:lnTo>
                  <a:pt x="0" y="4756812"/>
                </a:lnTo>
                <a:lnTo>
                  <a:pt x="0" y="0"/>
                </a:lnTo>
                <a:close/>
              </a:path>
            </a:pathLst>
          </a:custGeom>
          <a:blipFill>
            <a:blip r:embed="rId2"/>
            <a:stretch>
              <a:fillRect l="0" t="0" r="0" b="0"/>
            </a:stretch>
          </a:blipFill>
        </p:spPr>
      </p:sp>
      <p:sp>
        <p:nvSpPr>
          <p:cNvPr name="Freeform 21" id="21"/>
          <p:cNvSpPr/>
          <p:nvPr/>
        </p:nvSpPr>
        <p:spPr>
          <a:xfrm flipH="false" flipV="false" rot="0">
            <a:off x="16898043" y="9496425"/>
            <a:ext cx="1236666" cy="654995"/>
          </a:xfrm>
          <a:custGeom>
            <a:avLst/>
            <a:gdLst/>
            <a:ahLst/>
            <a:cxnLst/>
            <a:rect r="r" b="b" t="t" l="l"/>
            <a:pathLst>
              <a:path h="654995" w="1236666">
                <a:moveTo>
                  <a:pt x="0" y="0"/>
                </a:moveTo>
                <a:lnTo>
                  <a:pt x="1236666" y="0"/>
                </a:lnTo>
                <a:lnTo>
                  <a:pt x="1236666" y="654995"/>
                </a:lnTo>
                <a:lnTo>
                  <a:pt x="0" y="654995"/>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
        <p:nvSpPr>
          <p:cNvPr name="Freeform 22" id="22"/>
          <p:cNvSpPr/>
          <p:nvPr/>
        </p:nvSpPr>
        <p:spPr>
          <a:xfrm flipH="false" flipV="false" rot="0">
            <a:off x="6809163"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4">
              <a:extLst>
                <a:ext uri="{96DAC541-7B7A-43D3-8B79-37D633B846F1}">
                  <asvg:svgBlip xmlns:asvg="http://schemas.microsoft.com/office/drawing/2016/SVG/main" r:embed="rId5"/>
                </a:ext>
              </a:extLst>
            </a:blip>
            <a:stretch>
              <a:fillRect l="0" t="0" r="-116058" b="-123249"/>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28700" y="811530"/>
            <a:ext cx="3579030" cy="396283"/>
          </a:xfrm>
          <a:prstGeom prst="rect">
            <a:avLst/>
          </a:prstGeom>
        </p:spPr>
        <p:txBody>
          <a:bodyPr anchor="t" rtlCol="false" tIns="0" lIns="0" bIns="0" rIns="0">
            <a:spAutoFit/>
          </a:bodyPr>
          <a:lstStyle/>
          <a:p>
            <a:pPr algn="l" marL="0" indent="0" lvl="0">
              <a:lnSpc>
                <a:spcPts val="3357"/>
              </a:lnSpc>
            </a:pPr>
            <a:r>
              <a:rPr lang="en-US" sz="2398">
                <a:solidFill>
                  <a:srgbClr val="141414"/>
                </a:solidFill>
                <a:latin typeface="Proxima Nova"/>
                <a:ea typeface="Proxima Nova"/>
                <a:cs typeface="Proxima Nova"/>
                <a:sym typeface="Proxima Nova"/>
              </a:rPr>
              <a:t>Machine Learning Cơ Bản</a:t>
            </a:r>
          </a:p>
        </p:txBody>
      </p:sp>
      <p:sp>
        <p:nvSpPr>
          <p:cNvPr name="TextBox 4" id="4"/>
          <p:cNvSpPr txBox="true"/>
          <p:nvPr/>
        </p:nvSpPr>
        <p:spPr>
          <a:xfrm rot="0">
            <a:off x="14863346" y="811530"/>
            <a:ext cx="2395954" cy="396283"/>
          </a:xfrm>
          <a:prstGeom prst="rect">
            <a:avLst/>
          </a:prstGeom>
        </p:spPr>
        <p:txBody>
          <a:bodyPr anchor="t" rtlCol="false" tIns="0" lIns="0" bIns="0" rIns="0">
            <a:spAutoFit/>
          </a:bodyPr>
          <a:lstStyle/>
          <a:p>
            <a:pPr algn="r" marL="0" indent="0" lvl="0">
              <a:lnSpc>
                <a:spcPts val="3357"/>
              </a:lnSpc>
            </a:pPr>
            <a:r>
              <a:rPr lang="en-US" sz="2398">
                <a:solidFill>
                  <a:srgbClr val="141414"/>
                </a:solidFill>
                <a:latin typeface="Proxima Nova"/>
                <a:ea typeface="Proxima Nova"/>
                <a:cs typeface="Proxima Nova"/>
                <a:sym typeface="Proxima Nova"/>
              </a:rPr>
              <a:t>02/10/2026</a:t>
            </a:r>
          </a:p>
        </p:txBody>
      </p:sp>
      <p:sp>
        <p:nvSpPr>
          <p:cNvPr name="TextBox 5" id="5"/>
          <p:cNvSpPr txBox="true"/>
          <p:nvPr/>
        </p:nvSpPr>
        <p:spPr>
          <a:xfrm rot="0">
            <a:off x="1028700" y="2109671"/>
            <a:ext cx="5564307" cy="525882"/>
          </a:xfrm>
          <a:prstGeom prst="rect">
            <a:avLst/>
          </a:prstGeom>
        </p:spPr>
        <p:txBody>
          <a:bodyPr anchor="t" rtlCol="false" tIns="0" lIns="0" bIns="0" rIns="0">
            <a:spAutoFit/>
          </a:bodyPr>
          <a:lstStyle/>
          <a:p>
            <a:pPr algn="l" marL="0" indent="0" lvl="0">
              <a:lnSpc>
                <a:spcPts val="4214"/>
              </a:lnSpc>
            </a:pPr>
            <a:r>
              <a:rPr lang="en-US" sz="3241">
                <a:solidFill>
                  <a:srgbClr val="141414"/>
                </a:solidFill>
                <a:latin typeface="Pattanakarn SemiExpanded Light"/>
                <a:ea typeface="Pattanakarn SemiExpanded Light"/>
                <a:cs typeface="Pattanakarn SemiExpanded Light"/>
                <a:sym typeface="Pattanakarn SemiExpanded Light"/>
              </a:rPr>
              <a:t>DỰ PHÒNG</a:t>
            </a:r>
          </a:p>
        </p:txBody>
      </p:sp>
      <p:sp>
        <p:nvSpPr>
          <p:cNvPr name="TextBox 6" id="6"/>
          <p:cNvSpPr txBox="true"/>
          <p:nvPr/>
        </p:nvSpPr>
        <p:spPr>
          <a:xfrm rot="0">
            <a:off x="1028700" y="2868716"/>
            <a:ext cx="7347740" cy="1583784"/>
          </a:xfrm>
          <a:prstGeom prst="rect">
            <a:avLst/>
          </a:prstGeom>
        </p:spPr>
        <p:txBody>
          <a:bodyPr anchor="t" rtlCol="false" tIns="0" lIns="0" bIns="0" rIns="0">
            <a:spAutoFit/>
          </a:bodyPr>
          <a:lstStyle/>
          <a:p>
            <a:pPr algn="l" marL="0" indent="0" lvl="0">
              <a:lnSpc>
                <a:spcPts val="4214"/>
              </a:lnSpc>
            </a:pPr>
            <a:r>
              <a:rPr lang="en-US" b="true" sz="3241">
                <a:solidFill>
                  <a:srgbClr val="141414"/>
                </a:solidFill>
                <a:latin typeface="Pattanakarn SemiExpanded Medium"/>
                <a:ea typeface="Pattanakarn SemiExpanded Medium"/>
                <a:cs typeface="Pattanakarn SemiExpanded Medium"/>
                <a:sym typeface="Pattanakarn SemiExpanded Medium"/>
              </a:rPr>
              <a:t>THỬ NGHIỆM HYPERPARAMETER &amp; KẾT QUẢ BỔ SUNG</a:t>
            </a:r>
          </a:p>
        </p:txBody>
      </p:sp>
      <p:sp>
        <p:nvSpPr>
          <p:cNvPr name="Freeform 7" id="7"/>
          <p:cNvSpPr/>
          <p:nvPr/>
        </p:nvSpPr>
        <p:spPr>
          <a:xfrm flipH="false" flipV="false" rot="0">
            <a:off x="9440480" y="2245306"/>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9440480" y="4202672"/>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9440480" y="6159772"/>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440480" y="8116872"/>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0482903" y="2287549"/>
            <a:ext cx="6776397" cy="1099223"/>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Điều chỉnh tham số mô hình Decision Tree và Random Forest (max_depth, n_estimators) để tối ưu hiệu suất. So sánh kết quả trước và sau khi tuning.</a:t>
            </a:r>
          </a:p>
        </p:txBody>
      </p:sp>
      <p:sp>
        <p:nvSpPr>
          <p:cNvPr name="TextBox 12" id="12"/>
          <p:cNvSpPr txBox="true"/>
          <p:nvPr/>
        </p:nvSpPr>
        <p:spPr>
          <a:xfrm rot="0">
            <a:off x="10482903" y="1896359"/>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Thử Nghiệm Hyperparameter</a:t>
            </a:r>
          </a:p>
        </p:txBody>
      </p:sp>
      <p:sp>
        <p:nvSpPr>
          <p:cNvPr name="TextBox 13" id="13"/>
          <p:cNvSpPr txBox="true"/>
          <p:nvPr/>
        </p:nvSpPr>
        <p:spPr>
          <a:xfrm rot="0">
            <a:off x="10482903" y="4244914"/>
            <a:ext cx="6776397" cy="1099223"/>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Phân tích phần dư (residuals) của Linear Regression: kiểm tra phân phối sai số, phát hiện pattern bất thường, đánh giá giả định tuyến tính.</a:t>
            </a:r>
          </a:p>
        </p:txBody>
      </p:sp>
      <p:sp>
        <p:nvSpPr>
          <p:cNvPr name="TextBox 14" id="14"/>
          <p:cNvSpPr txBox="true"/>
          <p:nvPr/>
        </p:nvSpPr>
        <p:spPr>
          <a:xfrm rot="0">
            <a:off x="10482903" y="3853724"/>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Biểu Đồ Residual Plot</a:t>
            </a:r>
          </a:p>
        </p:txBody>
      </p:sp>
      <p:sp>
        <p:nvSpPr>
          <p:cNvPr name="TextBox 15" id="15"/>
          <p:cNvSpPr txBox="true"/>
          <p:nvPr/>
        </p:nvSpPr>
        <p:spPr>
          <a:xfrm rot="0">
            <a:off x="10482903" y="6202015"/>
            <a:ext cx="6776397" cy="1099223"/>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Biểu đồ scatter plot so sánh giá trị dự đoán và giá trị thực tế của Performance Index trên tập test. Đường lý tưởng y = x làm tham chiếu.</a:t>
            </a:r>
          </a:p>
        </p:txBody>
      </p:sp>
      <p:sp>
        <p:nvSpPr>
          <p:cNvPr name="TextBox 16" id="16"/>
          <p:cNvSpPr txBox="true"/>
          <p:nvPr/>
        </p:nvSpPr>
        <p:spPr>
          <a:xfrm rot="0">
            <a:off x="10482903" y="5810824"/>
            <a:ext cx="490156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Dự Đoán vs Thực Tế</a:t>
            </a:r>
          </a:p>
        </p:txBody>
      </p:sp>
      <p:sp>
        <p:nvSpPr>
          <p:cNvPr name="TextBox 17" id="17"/>
          <p:cNvSpPr txBox="true"/>
          <p:nvPr/>
        </p:nvSpPr>
        <p:spPr>
          <a:xfrm rot="0">
            <a:off x="10482903" y="8159115"/>
            <a:ext cx="6776397" cy="1099223"/>
          </a:xfrm>
          <a:prstGeom prst="rect">
            <a:avLst/>
          </a:prstGeom>
        </p:spPr>
        <p:txBody>
          <a:bodyPr anchor="t" rtlCol="false" tIns="0" lIns="0" bIns="0" rIns="0">
            <a:spAutoFit/>
          </a:bodyPr>
          <a:lstStyle/>
          <a:p>
            <a:pPr algn="l" marL="0" indent="0" lvl="0">
              <a:lnSpc>
                <a:spcPts val="2937"/>
              </a:lnSpc>
            </a:pPr>
            <a:r>
              <a:rPr lang="en-US" sz="2098">
                <a:solidFill>
                  <a:srgbClr val="141414"/>
                </a:solidFill>
                <a:latin typeface="Proxima Nova Light"/>
                <a:ea typeface="Proxima Nova Light"/>
                <a:cs typeface="Proxima Nova Light"/>
                <a:sym typeface="Proxima Nova Light"/>
              </a:rPr>
              <a:t>Mở rộng dataset, thử nghiệm thêm mô hình (XGBoost, SVR), tích hợp tính năng giải thích mô hình (SHAP), cải thiện giao diện web và trải nghiệm người dùng.</a:t>
            </a:r>
          </a:p>
        </p:txBody>
      </p:sp>
      <p:sp>
        <p:nvSpPr>
          <p:cNvPr name="TextBox 18" id="18"/>
          <p:cNvSpPr txBox="true"/>
          <p:nvPr/>
        </p:nvSpPr>
        <p:spPr>
          <a:xfrm rot="0">
            <a:off x="10482903" y="7767925"/>
            <a:ext cx="5389241" cy="314325"/>
          </a:xfrm>
          <a:prstGeom prst="rect">
            <a:avLst/>
          </a:prstGeom>
        </p:spPr>
        <p:txBody>
          <a:bodyPr anchor="t" rtlCol="false" tIns="0" lIns="0" bIns="0" rIns="0">
            <a:spAutoFit/>
          </a:bodyPr>
          <a:lstStyle/>
          <a:p>
            <a:pPr algn="l" marL="0" indent="0" lvl="0">
              <a:lnSpc>
                <a:spcPts val="2518"/>
              </a:lnSpc>
            </a:pPr>
            <a:r>
              <a:rPr lang="en-US" b="true" sz="2098" i="true">
                <a:solidFill>
                  <a:srgbClr val="141414"/>
                </a:solidFill>
                <a:latin typeface="Proxima Nova Bold Italics"/>
                <a:ea typeface="Proxima Nova Bold Italics"/>
                <a:cs typeface="Proxima Nova Bold Italics"/>
                <a:sym typeface="Proxima Nova Bold Italics"/>
              </a:rPr>
              <a:t>Hướng Phát Triển Tiếp Theo</a:t>
            </a:r>
          </a:p>
        </p:txBody>
      </p:sp>
      <p:grpSp>
        <p:nvGrpSpPr>
          <p:cNvPr name="Group 19" id="19"/>
          <p:cNvGrpSpPr/>
          <p:nvPr/>
        </p:nvGrpSpPr>
        <p:grpSpPr>
          <a:xfrm rot="0">
            <a:off x="1028700" y="6598205"/>
            <a:ext cx="7347740" cy="2660095"/>
            <a:chOff x="0" y="0"/>
            <a:chExt cx="1138357" cy="412118"/>
          </a:xfrm>
        </p:grpSpPr>
        <p:sp>
          <p:nvSpPr>
            <p:cNvPr name="Freeform 20" id="20"/>
            <p:cNvSpPr/>
            <p:nvPr/>
          </p:nvSpPr>
          <p:spPr>
            <a:xfrm flipH="false" flipV="false" rot="0">
              <a:off x="0" y="0"/>
              <a:ext cx="1138357" cy="412118"/>
            </a:xfrm>
            <a:custGeom>
              <a:avLst/>
              <a:gdLst/>
              <a:ahLst/>
              <a:cxnLst/>
              <a:rect r="r" b="b" t="t" l="l"/>
              <a:pathLst>
                <a:path h="412118" w="1138357">
                  <a:moveTo>
                    <a:pt x="0" y="0"/>
                  </a:moveTo>
                  <a:lnTo>
                    <a:pt x="1138357" y="0"/>
                  </a:lnTo>
                  <a:lnTo>
                    <a:pt x="1138357" y="412118"/>
                  </a:lnTo>
                  <a:lnTo>
                    <a:pt x="0" y="412118"/>
                  </a:lnTo>
                  <a:close/>
                </a:path>
              </a:pathLst>
            </a:custGeom>
            <a:blipFill>
              <a:blip r:embed="rId5"/>
              <a:stretch>
                <a:fillRect l="0" t="-237" r="0" b="-237"/>
              </a:stretch>
            </a:blipFill>
          </p:spPr>
        </p:sp>
      </p:grpSp>
      <p:sp>
        <p:nvSpPr>
          <p:cNvPr name="TextBox 21" id="21"/>
          <p:cNvSpPr txBox="true"/>
          <p:nvPr/>
        </p:nvSpPr>
        <p:spPr>
          <a:xfrm rot="0">
            <a:off x="1028700" y="4775457"/>
            <a:ext cx="7347740" cy="1234483"/>
          </a:xfrm>
          <a:prstGeom prst="rect">
            <a:avLst/>
          </a:prstGeom>
        </p:spPr>
        <p:txBody>
          <a:bodyPr anchor="t" rtlCol="false" tIns="0" lIns="0" bIns="0" rIns="0">
            <a:spAutoFit/>
          </a:bodyPr>
          <a:lstStyle/>
          <a:p>
            <a:pPr algn="l" marL="0" indent="0" lvl="0">
              <a:lnSpc>
                <a:spcPts val="3357"/>
              </a:lnSpc>
            </a:pPr>
            <a:r>
              <a:rPr lang="en-US" sz="2398">
                <a:solidFill>
                  <a:srgbClr val="141414"/>
                </a:solidFill>
                <a:latin typeface="Proxima Nova Light"/>
                <a:ea typeface="Proxima Nova Light"/>
                <a:cs typeface="Proxima Nova Light"/>
                <a:sym typeface="Proxima Nova Light"/>
              </a:rPr>
              <a:t>Các phân tích bổ sung, biểu đồ minh họa kết quả thực tế và thử nghiệm hyperparameter có thể được trình bày tại đây nếu cần thiết trong buổi bảo vệ.</a:t>
            </a:r>
          </a:p>
        </p:txBody>
      </p:sp>
      <p:grpSp>
        <p:nvGrpSpPr>
          <p:cNvPr name="Group 22" id="22"/>
          <p:cNvGrpSpPr/>
          <p:nvPr/>
        </p:nvGrpSpPr>
        <p:grpSpPr>
          <a:xfrm rot="0">
            <a:off x="1028700" y="6430326"/>
            <a:ext cx="7338422" cy="167878"/>
            <a:chOff x="0" y="0"/>
            <a:chExt cx="9784563" cy="223837"/>
          </a:xfrm>
        </p:grpSpPr>
        <p:grpSp>
          <p:nvGrpSpPr>
            <p:cNvPr name="Group 23" id="23"/>
            <p:cNvGrpSpPr/>
            <p:nvPr/>
          </p:nvGrpSpPr>
          <p:grpSpPr>
            <a:xfrm rot="0">
              <a:off x="0" y="0"/>
              <a:ext cx="1674460" cy="223837"/>
              <a:chOff x="0" y="0"/>
              <a:chExt cx="330758" cy="44215"/>
            </a:xfrm>
          </p:grpSpPr>
          <p:sp>
            <p:nvSpPr>
              <p:cNvPr name="Freeform 24" id="24"/>
              <p:cNvSpPr/>
              <p:nvPr/>
            </p:nvSpPr>
            <p:spPr>
              <a:xfrm flipH="false" flipV="false" rot="0">
                <a:off x="0" y="0"/>
                <a:ext cx="330757" cy="44215"/>
              </a:xfrm>
              <a:custGeom>
                <a:avLst/>
                <a:gdLst/>
                <a:ahLst/>
                <a:cxnLst/>
                <a:rect r="r" b="b" t="t" l="l"/>
                <a:pathLst>
                  <a:path h="44215" w="330757">
                    <a:moveTo>
                      <a:pt x="0" y="0"/>
                    </a:moveTo>
                    <a:lnTo>
                      <a:pt x="330757" y="0"/>
                    </a:lnTo>
                    <a:lnTo>
                      <a:pt x="330757" y="44215"/>
                    </a:lnTo>
                    <a:lnTo>
                      <a:pt x="0" y="44215"/>
                    </a:lnTo>
                    <a:close/>
                  </a:path>
                </a:pathLst>
              </a:custGeom>
              <a:solidFill>
                <a:srgbClr val="141414"/>
              </a:solidFill>
            </p:spPr>
          </p:sp>
          <p:sp>
            <p:nvSpPr>
              <p:cNvPr name="TextBox 25" id="25"/>
              <p:cNvSpPr txBox="true"/>
              <p:nvPr/>
            </p:nvSpPr>
            <p:spPr>
              <a:xfrm>
                <a:off x="0" y="-38100"/>
                <a:ext cx="330758" cy="82315"/>
              </a:xfrm>
              <a:prstGeom prst="rect">
                <a:avLst/>
              </a:prstGeom>
            </p:spPr>
            <p:txBody>
              <a:bodyPr anchor="ctr" rtlCol="false" tIns="50800" lIns="50800" bIns="50800" rIns="50800"/>
              <a:lstStyle/>
              <a:p>
                <a:pPr algn="ctr" marL="0" indent="0" lvl="0">
                  <a:lnSpc>
                    <a:spcPts val="3359"/>
                  </a:lnSpc>
                </a:pPr>
              </a:p>
            </p:txBody>
          </p:sp>
        </p:grpSp>
        <p:sp>
          <p:nvSpPr>
            <p:cNvPr name="AutoShape 26" id="26"/>
            <p:cNvSpPr/>
            <p:nvPr/>
          </p:nvSpPr>
          <p:spPr>
            <a:xfrm>
              <a:off x="0" y="198437"/>
              <a:ext cx="9784563" cy="0"/>
            </a:xfrm>
            <a:prstGeom prst="line">
              <a:avLst/>
            </a:prstGeom>
            <a:ln cap="flat" w="50800">
              <a:solidFill>
                <a:srgbClr val="141414"/>
              </a:solidFill>
              <a:prstDash val="solid"/>
              <a:headEnd type="none" len="sm" w="sm"/>
              <a:tailEnd type="none" len="sm" w="sm"/>
            </a:ln>
          </p:spPr>
        </p:sp>
      </p:grpSp>
      <p:sp>
        <p:nvSpPr>
          <p:cNvPr name="Freeform 27" id="27"/>
          <p:cNvSpPr/>
          <p:nvPr/>
        </p:nvSpPr>
        <p:spPr>
          <a:xfrm flipH="true" flipV="false" rot="1316559">
            <a:off x="11381645" y="-2507339"/>
            <a:ext cx="8510634" cy="7797868"/>
          </a:xfrm>
          <a:custGeom>
            <a:avLst/>
            <a:gdLst/>
            <a:ahLst/>
            <a:cxnLst/>
            <a:rect r="r" b="b" t="t" l="l"/>
            <a:pathLst>
              <a:path h="7797868" w="8510634">
                <a:moveTo>
                  <a:pt x="8510634" y="0"/>
                </a:moveTo>
                <a:lnTo>
                  <a:pt x="0" y="0"/>
                </a:lnTo>
                <a:lnTo>
                  <a:pt x="0" y="7797869"/>
                </a:lnTo>
                <a:lnTo>
                  <a:pt x="8510634" y="7797869"/>
                </a:lnTo>
                <a:lnTo>
                  <a:pt x="8510634" y="0"/>
                </a:lnTo>
                <a:close/>
              </a:path>
            </a:pathLst>
          </a:custGeom>
          <a:blipFill>
            <a:blip r:embed="rId6">
              <a:alphaModFix amt="15000"/>
            </a:blip>
            <a:stretch>
              <a:fillRect l="0" t="0" r="0" b="0"/>
            </a:stretch>
          </a:blipFill>
        </p:spPr>
      </p:sp>
      <p:sp>
        <p:nvSpPr>
          <p:cNvPr name="Freeform 28" id="28"/>
          <p:cNvSpPr/>
          <p:nvPr/>
        </p:nvSpPr>
        <p:spPr>
          <a:xfrm flipH="false" flipV="false" rot="4699178">
            <a:off x="-4327278" y="7828267"/>
            <a:ext cx="8510634" cy="7797868"/>
          </a:xfrm>
          <a:custGeom>
            <a:avLst/>
            <a:gdLst/>
            <a:ahLst/>
            <a:cxnLst/>
            <a:rect r="r" b="b" t="t" l="l"/>
            <a:pathLst>
              <a:path h="7797868" w="8510634">
                <a:moveTo>
                  <a:pt x="0" y="0"/>
                </a:moveTo>
                <a:lnTo>
                  <a:pt x="8510633" y="0"/>
                </a:lnTo>
                <a:lnTo>
                  <a:pt x="8510633" y="7797869"/>
                </a:lnTo>
                <a:lnTo>
                  <a:pt x="0" y="7797869"/>
                </a:lnTo>
                <a:lnTo>
                  <a:pt x="0" y="0"/>
                </a:lnTo>
                <a:close/>
              </a:path>
            </a:pathLst>
          </a:custGeom>
          <a:blipFill>
            <a:blip r:embed="rId6"/>
            <a:stretch>
              <a:fillRect l="0" t="0" r="0" b="0"/>
            </a:stretch>
          </a:blipFill>
        </p:spPr>
      </p:sp>
      <p:sp>
        <p:nvSpPr>
          <p:cNvPr name="Freeform 29" id="29"/>
          <p:cNvSpPr/>
          <p:nvPr/>
        </p:nvSpPr>
        <p:spPr>
          <a:xfrm flipH="false" flipV="false" rot="0">
            <a:off x="16932531" y="9479917"/>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7">
              <a:extLst>
                <a:ext uri="{96DAC541-7B7A-43D3-8B79-37D633B846F1}">
                  <asvg:svgBlip xmlns:asvg="http://schemas.microsoft.com/office/drawing/2016/SVG/main" r:embed="rId8"/>
                </a:ext>
              </a:extLst>
            </a:blip>
            <a:stretch>
              <a:fillRect l="0" t="0" r="-116058" b="-123249"/>
            </a:stretch>
          </a:blipFill>
        </p:spPr>
      </p:sp>
      <p:sp>
        <p:nvSpPr>
          <p:cNvPr name="Freeform 30" id="30"/>
          <p:cNvSpPr/>
          <p:nvPr/>
        </p:nvSpPr>
        <p:spPr>
          <a:xfrm flipH="false" flipV="false" rot="0">
            <a:off x="6928219" y="701202"/>
            <a:ext cx="1236666" cy="654995"/>
          </a:xfrm>
          <a:custGeom>
            <a:avLst/>
            <a:gdLst/>
            <a:ahLst/>
            <a:cxnLst/>
            <a:rect r="r" b="b" t="t" l="l"/>
            <a:pathLst>
              <a:path h="654995" w="1236666">
                <a:moveTo>
                  <a:pt x="0" y="0"/>
                </a:moveTo>
                <a:lnTo>
                  <a:pt x="1236666" y="0"/>
                </a:lnTo>
                <a:lnTo>
                  <a:pt x="1236666" y="654996"/>
                </a:lnTo>
                <a:lnTo>
                  <a:pt x="0" y="654996"/>
                </a:lnTo>
                <a:lnTo>
                  <a:pt x="0" y="0"/>
                </a:lnTo>
                <a:close/>
              </a:path>
            </a:pathLst>
          </a:custGeom>
          <a:blipFill>
            <a:blip r:embed="rId7">
              <a:extLst>
                <a:ext uri="{96DAC541-7B7A-43D3-8B79-37D633B846F1}">
                  <asvg:svgBlip xmlns:asvg="http://schemas.microsoft.com/office/drawing/2016/SVG/main" r:embed="rId8"/>
                </a:ext>
              </a:extLst>
            </a:blip>
            <a:stretch>
              <a:fillRect l="0" t="0" r="-116058" b="-123249"/>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DAHW328gkxE</dc:identifier>
  <dcterms:modified xsi:type="dcterms:W3CDTF">2011-08-01T06:04:30Z</dcterms:modified>
  <cp:revision>1</cp:revision>
  <dc:title>Dự đoán điểm thi</dc:title>
</cp:coreProperties>
</file>